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5" r:id="rId46"/>
    <p:sldId id="278" r:id="rId24"/>
    <p:sldId id="294" r:id="rId45"/>
    <p:sldId id="279" r:id="rId25"/>
    <p:sldId id="280" r:id="rId26"/>
    <p:sldId id="281" r:id="rId27"/>
    <p:sldId id="282" r:id="rId28"/>
    <p:sldId id="283" r:id="rId29"/>
    <p:sldId id="296" r:id="rId47"/>
    <p:sldId id="284" r:id="rId30"/>
    <p:sldId id="285" r:id="rId31"/>
    <p:sldId id="297" r:id="rId48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Screenshots are real GarageST app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operational challenges in manual workshop operations; no statistics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platform, six roles, all connected around the same vehicle and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Counts: 6 roles (owner, manager, service advisor, technician, driver, customer) as personas; 32 notification events; 12 journey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as implemented in the job-card workflow and trip/booking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Job Card is the central operational record; all activity links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capabilities confirmed in the customer portal screens, booking, journey and notification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Inspection checklist templates, findings and evidence media exist in the product (inspection master, findings, media modules).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approves or rejects; repair starts only after the manager confirms (Customer approval vs manager confirmation).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Card state and Repair Task state are separate machines. Screenshot: technician assignments (real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QC pass moves the job on; QC fail returns it for rework (tasks reset).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online payment gateway is implemented: payment is recorded in GarageST.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Pickup request, driver assignment, trip lifecycle and handover. Screenshots: pickup location selection and driver dashboard (real app).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Live Trip Map with route, distance and ETA. Driver location streams over STOMP/WebSocket; REST fallback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verification code is generated for the customer and verified by the driver; it is not a login OTP.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Ready for delivery -&gt; delivery request/trip -&gt; verified handover -&gt; delivered -&gt;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feature. 32 events in the matrix; categories derived from the implemented event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Recipients per the implemented resolver; Accountant/Cashier/Inventory manager receive no automatic notifications.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drawing using actual notification wording. Physically validated on Android by the product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list; the real screen shows title, message, relative time, unread dot, mark read, mark all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notifications only today; SMS/WhatsApp are not part of the current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Direct-to-R2 upload, evidence + thumbnail, GPS/time stamping; customers can view job 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screenshots: customer home, manager dashboard, driver dashboard, technician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benefits supported by implemented capabilities; no ROI figures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 / service advisor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technician job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screenshot: driver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benefits; service history = the customer’s job card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Garage-scoped users and notification isolation are implemented; owners can view more than one garage. Enterprise branch management is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High-level, client-safe summary of implemented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technologies confirmed in the current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Simplified architecture. Flutter app, REST API, live trip over WebSocket, PostgreSQL, supporting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terms: IMPLEMENTED, PHYSICALLY VALIDATED (notifications on Android), NOT IMPLEMENTED /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dates. Candidates only; basis: iOS parked, payment gateway deferred in code, messaging channel stub, preferences not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Factual product characteristics only; no superlatives or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supported by the product: garage registration/join, roles, inspection templates, customers/vehicles, customer app registration, notifications enabled by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KPIs, not achieved results. No customer results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No contact details were supplied, so none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GarageST  ·  TVASTRI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274320"/>
            <a:ext cx="64008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</p:spPr>
      </p:sp>
      <p:pic>
        <p:nvPicPr>
          <p:cNvPr id="3" name="Image 0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GarageST  ·  TVASTRI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5-10.png"/><Relationship Id="rId3" Type="http://schemas.openxmlformats.org/officeDocument/2006/relationships/image" Target="../media/image-5-9.png"/><Relationship Id="rId4" Type="http://schemas.openxmlformats.org/officeDocument/2006/relationships/image" Target="../media/image-19-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2-3.png"/><Relationship Id="rId3" Type="http://schemas.openxmlformats.org/officeDocument/2006/relationships/image" Target="../media/image-5-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30-3.png"/><Relationship Id="rId3" Type="http://schemas.openxmlformats.org/officeDocument/2006/relationships/image" Target="../media/image-7-7.png"/><Relationship Id="rId4" Type="http://schemas.openxmlformats.org/officeDocument/2006/relationships/image" Target="../media/image-30-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19-3.png"/><Relationship Id="rId3" Type="http://schemas.openxmlformats.org/officeDocument/2006/relationships/image" Target="../media/image-5-11.png"/><Relationship Id="rId4" Type="http://schemas.openxmlformats.org/officeDocument/2006/relationships/image" Target="../media/image-22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:/garagest_flutter/assets/branding/GarageST_Brand_Assets_v2/dark_mode/GarageST_Full_Logo_Dark_Mode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023360" cy="13560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2860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GarageST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Smart Garage Management Platform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86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Digitizing the complete vehicle service journey.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TVASTRI</a:t>
            </a:r>
            <a:endParaRPr lang="en-US" sz="1400" dirty="0"/>
          </a:p>
        </p:txBody>
      </p:sp>
      <p:pic>
        <p:nvPicPr>
          <p:cNvPr id="7" name="Screenshot 02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2504360" cy="4206240"/>
          </a:xfrm>
          <a:prstGeom prst="rect">
            <a:avLst/>
          </a:prstGeom>
        </p:spPr>
      </p:pic>
      <p:pic>
        <p:nvPicPr>
          <p:cNvPr id="8" name="Screenshot 03" descr="GarageST app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097280"/>
            <a:ext cx="2504360" cy="4206240"/>
          </a:xfrm>
          <a:prstGeom prst="rect">
            <a:avLst/>
          </a:prstGeom>
        </p:spPr>
      </p:pic>
      <p:pic>
        <p:nvPicPr>
          <p:cNvPr id="9" name="Screenshot 04" descr="GarageST app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011680"/>
            <a:ext cx="2504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garage today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STARTING POINT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Running a workshop on paper, calls and memory makes the same problems repeat.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548640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on FaClipboardList" descr="FaClipboard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91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Manual job tracking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55848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 FaCommentDots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491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Scattered customer communication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63056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6391656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on FaFileAlt" descr="FaF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4917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91656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Paper and checklist dependency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8970264" y="210312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9198864" y="23317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 FaHourglassHalf" descr="FaHourglassHal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49174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198864" y="3108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Delayed approvals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548640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con FaQuestionCircle" descr="FaQuestion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4119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7724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Unclear repair status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3355848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3584448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8" name="Icon FaPhoneSlash" descr="FaPhone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4119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58444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Communication gaps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6163056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6391656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Icon FaTruck" descr="FaTru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4119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391656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Pickup and delivery coordination</a:t>
            </a:r>
            <a:endParaRPr lang="en-US" sz="1500" dirty="0"/>
          </a:p>
        </p:txBody>
      </p:sp>
      <p:sp>
        <p:nvSpPr>
          <p:cNvPr id="34" name="Card"/>
          <p:cNvSpPr/>
          <p:nvPr/>
        </p:nvSpPr>
        <p:spPr>
          <a:xfrm>
            <a:off x="8970264" y="4023360"/>
            <a:ext cx="265176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Circle"/>
          <p:cNvSpPr/>
          <p:nvPr/>
        </p:nvSpPr>
        <p:spPr>
          <a:xfrm>
            <a:off x="9198864" y="42519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6" name="Icon FaEyeSlash" descr="FaEyeSlas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4119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Limited service visibility</a:t>
            </a:r>
            <a:endParaRPr lang="en-US" sz="1500" dirty="0"/>
          </a:p>
        </p:txBody>
      </p:sp>
      <p:sp>
        <p:nvSpPr>
          <p:cNvPr id="38" name="Text 27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Tracking operational progress across people, vehicles and approvals becomes difficult.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GarageST vision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ONE CONNECTED PLATFORM</a:t>
            </a:r>
            <a:endParaRPr lang="en-US" sz="1100" dirty="0"/>
          </a:p>
        </p:txBody>
      </p:sp>
      <p:sp>
        <p:nvSpPr>
          <p:cNvPr id="5" name="Center"/>
          <p:cNvSpPr/>
          <p:nvPr/>
        </p:nvSpPr>
        <p:spPr>
          <a:xfrm>
            <a:off x="4480560" y="2194560"/>
            <a:ext cx="3200400" cy="3200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21945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vehicle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One job card</a:t>
            </a:r>
            <a:endParaRPr lang="en-US" sz="2400" dirty="0"/>
          </a:p>
        </p:txBody>
      </p:sp>
      <p:sp>
        <p:nvSpPr>
          <p:cNvPr id="7" name="IconCircle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Owner</a:t>
            </a:r>
            <a:endParaRPr lang="en-US" sz="1800" dirty="0"/>
          </a:p>
        </p:txBody>
      </p:sp>
      <p:sp>
        <p:nvSpPr>
          <p:cNvPr id="10" name="IconCircle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s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Manager</a:t>
            </a:r>
            <a:endParaRPr lang="en-US" sz="1800" dirty="0"/>
          </a:p>
        </p:txBody>
      </p:sp>
      <p:sp>
        <p:nvSpPr>
          <p:cNvPr id="13" name="IconCircle"/>
          <p:cNvSpPr/>
          <p:nvPr/>
        </p:nvSpPr>
        <p:spPr>
          <a:xfrm>
            <a:off x="91440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2064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783080" y="4937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Service Advisor</a:t>
            </a:r>
            <a:endParaRPr lang="en-US" sz="1800" dirty="0"/>
          </a:p>
        </p:txBody>
      </p:sp>
      <p:sp>
        <p:nvSpPr>
          <p:cNvPr id="16" name="IconCircle"/>
          <p:cNvSpPr/>
          <p:nvPr/>
        </p:nvSpPr>
        <p:spPr>
          <a:xfrm>
            <a:off x="914400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Wrench" descr="Fa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2880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126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Technician</a:t>
            </a:r>
            <a:endParaRPr lang="en-US" sz="1800" dirty="0"/>
          </a:p>
        </p:txBody>
      </p:sp>
      <p:sp>
        <p:nvSpPr>
          <p:cNvPr id="19" name="IconCircle"/>
          <p:cNvSpPr/>
          <p:nvPr/>
        </p:nvSpPr>
        <p:spPr>
          <a:xfrm>
            <a:off x="9509760" y="32918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47472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37844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Driver</a:t>
            </a:r>
            <a:endParaRPr lang="en-US" sz="1800" dirty="0"/>
          </a:p>
        </p:txBody>
      </p:sp>
      <p:sp>
        <p:nvSpPr>
          <p:cNvPr id="22" name="IconCircle"/>
          <p:cNvSpPr/>
          <p:nvPr/>
        </p:nvSpPr>
        <p:spPr>
          <a:xfrm>
            <a:off x="9144000" y="4937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User" descr="Fa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120640"/>
            <a:ext cx="365760" cy="36576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012680" y="4937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GarageST?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 ONE SENTENCE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 digital operating platform for modern automotive workshops and service centers — from the first booking to the delivered vehicle.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918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Customers get visibility and digital approvals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workshop gets control of every job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Technicians get structured tasks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Drivers get connected pickup and delivery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Owners get one view across the business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949440" y="14630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15544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12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1554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journey steps from booking to closure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949440" y="30632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31546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9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8732520" y="31546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roles, each with a workspace that fits the job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949440" y="466344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475488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32</a:t>
            </a:r>
            <a:endParaRPr lang="en-US" sz="60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47548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workflow events that can notify the right person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service journey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COMPLETE LIFECYCLE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105156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CalendarCheck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18313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Booking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224942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242316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292608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Truck" descr="Fa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218313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1460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46888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Pickup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412394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429768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480060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 FaDoorOpen" descr="FaDoo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218313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38912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34340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599846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617220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667512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on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570" y="21831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6364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21792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Inspection</a:t>
            </a:r>
            <a:endParaRPr lang="en-US" sz="1500" dirty="0"/>
          </a:p>
        </p:txBody>
      </p:sp>
      <p:sp>
        <p:nvSpPr>
          <p:cNvPr id="28" name="Arrow"/>
          <p:cNvSpPr/>
          <p:nvPr/>
        </p:nvSpPr>
        <p:spPr>
          <a:xfrm>
            <a:off x="787298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Card"/>
          <p:cNvSpPr/>
          <p:nvPr/>
        </p:nvSpPr>
        <p:spPr>
          <a:xfrm>
            <a:off x="804672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1" name="Icon FaFileInvoice" descr="FaFileInvoi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090" y="218313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381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Estimate</a:t>
            </a:r>
            <a:endParaRPr lang="en-US" sz="1500" dirty="0"/>
          </a:p>
        </p:txBody>
      </p:sp>
      <p:sp>
        <p:nvSpPr>
          <p:cNvPr id="34" name="Arrow"/>
          <p:cNvSpPr/>
          <p:nvPr/>
        </p:nvSpPr>
        <p:spPr>
          <a:xfrm>
            <a:off x="9747504" y="260604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Card"/>
          <p:cNvSpPr/>
          <p:nvPr/>
        </p:nvSpPr>
        <p:spPr>
          <a:xfrm>
            <a:off x="9921240" y="182880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10424160" y="20116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 FaThumbsUp" descr="FaThumbs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5610" y="2183130"/>
            <a:ext cx="342900" cy="3429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0126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9966960" y="28346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approval</a:t>
            </a:r>
            <a:endParaRPr lang="en-US" sz="1500" dirty="0"/>
          </a:p>
        </p:txBody>
      </p:sp>
      <p:sp>
        <p:nvSpPr>
          <p:cNvPr id="40" name="Card"/>
          <p:cNvSpPr/>
          <p:nvPr/>
        </p:nvSpPr>
        <p:spPr>
          <a:xfrm>
            <a:off x="54864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105156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 FaTools" descr="FaTool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010" y="4286250"/>
            <a:ext cx="342900" cy="34290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4008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7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59436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Repair</a:t>
            </a:r>
            <a:endParaRPr lang="en-US" sz="1500" dirty="0"/>
          </a:p>
        </p:txBody>
      </p:sp>
      <p:sp>
        <p:nvSpPr>
          <p:cNvPr id="45" name="Arrow"/>
          <p:cNvSpPr/>
          <p:nvPr/>
        </p:nvSpPr>
        <p:spPr>
          <a:xfrm>
            <a:off x="224942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6" name="Card"/>
          <p:cNvSpPr/>
          <p:nvPr/>
        </p:nvSpPr>
        <p:spPr>
          <a:xfrm>
            <a:off x="242316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IconCircle"/>
          <p:cNvSpPr/>
          <p:nvPr/>
        </p:nvSpPr>
        <p:spPr>
          <a:xfrm>
            <a:off x="292608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8" name="Icon FaClipboardCheck" descr="FaClipboar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7530" y="4286250"/>
            <a:ext cx="342900" cy="3429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251460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8</a:t>
            </a:r>
            <a:endParaRPr lang="en-US" sz="1100" dirty="0"/>
          </a:p>
        </p:txBody>
      </p:sp>
      <p:sp>
        <p:nvSpPr>
          <p:cNvPr id="50" name="Text 39"/>
          <p:cNvSpPr txBox="1"/>
          <p:nvPr/>
        </p:nvSpPr>
        <p:spPr>
          <a:xfrm>
            <a:off x="246888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 check</a:t>
            </a:r>
            <a:endParaRPr lang="en-US" sz="1500" dirty="0"/>
          </a:p>
        </p:txBody>
      </p:sp>
      <p:sp>
        <p:nvSpPr>
          <p:cNvPr id="51" name="Arrow"/>
          <p:cNvSpPr/>
          <p:nvPr/>
        </p:nvSpPr>
        <p:spPr>
          <a:xfrm>
            <a:off x="412394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2" name="Card"/>
          <p:cNvSpPr/>
          <p:nvPr/>
        </p:nvSpPr>
        <p:spPr>
          <a:xfrm>
            <a:off x="429768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3" name="IconCircle"/>
          <p:cNvSpPr/>
          <p:nvPr/>
        </p:nvSpPr>
        <p:spPr>
          <a:xfrm>
            <a:off x="480060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4" name="Icon FaFileInvoiceDollar" descr="FaFileInvoiceDoll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4286250"/>
            <a:ext cx="342900" cy="342900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438912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9</a:t>
            </a:r>
            <a:endParaRPr lang="en-US" sz="1100" dirty="0"/>
          </a:p>
        </p:txBody>
      </p:sp>
      <p:sp>
        <p:nvSpPr>
          <p:cNvPr id="56" name="Text 44"/>
          <p:cNvSpPr txBox="1"/>
          <p:nvPr/>
        </p:nvSpPr>
        <p:spPr>
          <a:xfrm>
            <a:off x="434340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Invoice</a:t>
            </a:r>
            <a:endParaRPr lang="en-US" sz="1500" dirty="0"/>
          </a:p>
        </p:txBody>
      </p:sp>
      <p:sp>
        <p:nvSpPr>
          <p:cNvPr id="57" name="Arrow"/>
          <p:cNvSpPr/>
          <p:nvPr/>
        </p:nvSpPr>
        <p:spPr>
          <a:xfrm>
            <a:off x="599846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8" name="Card"/>
          <p:cNvSpPr/>
          <p:nvPr/>
        </p:nvSpPr>
        <p:spPr>
          <a:xfrm>
            <a:off x="617220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9" name="IconCircle"/>
          <p:cNvSpPr/>
          <p:nvPr/>
        </p:nvSpPr>
        <p:spPr>
          <a:xfrm>
            <a:off x="667512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0" name="Icon FaMoneyCheckAlt" descr="FaMoneyCheckAl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6570" y="4286250"/>
            <a:ext cx="342900" cy="342900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626364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10</a:t>
            </a:r>
            <a:endParaRPr lang="en-US" sz="1100" dirty="0"/>
          </a:p>
        </p:txBody>
      </p:sp>
      <p:sp>
        <p:nvSpPr>
          <p:cNvPr id="62" name="Text 49"/>
          <p:cNvSpPr txBox="1"/>
          <p:nvPr/>
        </p:nvSpPr>
        <p:spPr>
          <a:xfrm>
            <a:off x="621792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</a:t>
            </a:r>
            <a:endParaRPr lang="en-US" sz="1500" dirty="0"/>
          </a:p>
        </p:txBody>
      </p:sp>
      <p:sp>
        <p:nvSpPr>
          <p:cNvPr id="63" name="Arrow"/>
          <p:cNvSpPr/>
          <p:nvPr/>
        </p:nvSpPr>
        <p:spPr>
          <a:xfrm>
            <a:off x="787298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4" name="Card"/>
          <p:cNvSpPr/>
          <p:nvPr/>
        </p:nvSpPr>
        <p:spPr>
          <a:xfrm>
            <a:off x="804672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5" name="IconCircle"/>
          <p:cNvSpPr/>
          <p:nvPr/>
        </p:nvSpPr>
        <p:spPr>
          <a:xfrm>
            <a:off x="854964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6" name="Icon FaKey" descr="FaKe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1090" y="4286250"/>
            <a:ext cx="342900" cy="342900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813816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11</a:t>
            </a:r>
            <a:endParaRPr lang="en-US" sz="1100" dirty="0"/>
          </a:p>
        </p:txBody>
      </p:sp>
      <p:sp>
        <p:nvSpPr>
          <p:cNvPr id="68" name="Text 54"/>
          <p:cNvSpPr txBox="1"/>
          <p:nvPr/>
        </p:nvSpPr>
        <p:spPr>
          <a:xfrm>
            <a:off x="809244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Delivery</a:t>
            </a:r>
            <a:endParaRPr lang="en-US" sz="1500" dirty="0"/>
          </a:p>
        </p:txBody>
      </p:sp>
      <p:sp>
        <p:nvSpPr>
          <p:cNvPr id="69" name="Arrow"/>
          <p:cNvSpPr/>
          <p:nvPr/>
        </p:nvSpPr>
        <p:spPr>
          <a:xfrm>
            <a:off x="9747504" y="4709160"/>
            <a:ext cx="164592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Card"/>
          <p:cNvSpPr/>
          <p:nvPr/>
        </p:nvSpPr>
        <p:spPr>
          <a:xfrm>
            <a:off x="9921240" y="3931920"/>
            <a:ext cx="1691640" cy="1737360"/>
          </a:xfrm>
          <a:prstGeom prst="roundRect">
            <a:avLst>
              <a:gd name="adj" fmla="val 64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1" name="IconCircle"/>
          <p:cNvSpPr/>
          <p:nvPr/>
        </p:nvSpPr>
        <p:spPr>
          <a:xfrm>
            <a:off x="10424160" y="411480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2" name="Icon FaFlagCheckered" descr="FaFlagCheckered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5610" y="4286250"/>
            <a:ext cx="342900" cy="342900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1001268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12</a:t>
            </a:r>
            <a:endParaRPr lang="en-US" sz="1100" dirty="0"/>
          </a:p>
        </p:txBody>
      </p:sp>
      <p:sp>
        <p:nvSpPr>
          <p:cNvPr id="74" name="Text 59"/>
          <p:cNvSpPr txBox="1"/>
          <p:nvPr/>
        </p:nvSpPr>
        <p:spPr>
          <a:xfrm>
            <a:off x="9966960" y="4937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Job closure</a:t>
            </a:r>
            <a:endParaRPr lang="en-US" sz="1500" dirty="0"/>
          </a:p>
        </p:txBody>
      </p:sp>
      <p:sp>
        <p:nvSpPr>
          <p:cNvPr id="75" name="Text 60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Pickup applies when the customer asks for it; every step is tracked against the same job.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vehicle. One digital journey.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JOB CARD</a:t>
            </a:r>
            <a:endParaRPr lang="en-US" sz="1100" dirty="0"/>
          </a:p>
        </p:txBody>
      </p:sp>
      <p:sp>
        <p:nvSpPr>
          <p:cNvPr id="5" name="JobCard"/>
          <p:cNvSpPr/>
          <p:nvPr/>
        </p:nvSpPr>
        <p:spPr>
          <a:xfrm>
            <a:off x="4480560" y="2743200"/>
            <a:ext cx="3200400" cy="1463040"/>
          </a:xfrm>
          <a:prstGeom prst="roundRect">
            <a:avLst>
              <a:gd name="adj" fmla="val 937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2743200"/>
            <a:ext cx="32004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JOB CARD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single record for the vehicle’s visit</a:t>
            </a:r>
            <a:endParaRPr lang="en-US" sz="2600" dirty="0"/>
          </a:p>
        </p:txBody>
      </p:sp>
      <p:sp>
        <p:nvSpPr>
          <p:cNvPr id="7" name="Card"/>
          <p:cNvSpPr/>
          <p:nvPr/>
        </p:nvSpPr>
        <p:spPr>
          <a:xfrm>
            <a:off x="548640" y="15544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Circl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on FaSearch" descr="Fa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Inspection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4480560" y="14173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4709160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FileInvoice" descr="FaFileInvo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8059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4173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Estimate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412480" y="15544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641080" y="17830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on FaTools" descr="FaToo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9431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46404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Repair tasks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548640" y="283464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IconCircle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on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2232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Quality check</a:t>
            </a:r>
            <a:endParaRPr lang="en-US" sz="1700" dirty="0"/>
          </a:p>
        </p:txBody>
      </p:sp>
      <p:sp>
        <p:nvSpPr>
          <p:cNvPr id="23" name="Card"/>
          <p:cNvSpPr/>
          <p:nvPr/>
        </p:nvSpPr>
        <p:spPr>
          <a:xfrm>
            <a:off x="8412480" y="283464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8641080" y="306324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on FaFileInvoiceDollar" descr="FaFileInvoiceDol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322326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46404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 &amp; payment</a:t>
            </a:r>
            <a:endParaRPr lang="en-US" sz="1700" dirty="0"/>
          </a:p>
        </p:txBody>
      </p:sp>
      <p:sp>
        <p:nvSpPr>
          <p:cNvPr id="27" name="Card"/>
          <p:cNvSpPr/>
          <p:nvPr/>
        </p:nvSpPr>
        <p:spPr>
          <a:xfrm>
            <a:off x="548640" y="42976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IconCircle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9" name="Icon FaCamera" descr="FaCame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686300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60020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Photos &amp; videos</a:t>
            </a:r>
            <a:endParaRPr lang="en-US" sz="1700" dirty="0"/>
          </a:p>
        </p:txBody>
      </p:sp>
      <p:sp>
        <p:nvSpPr>
          <p:cNvPr id="31" name="Card"/>
          <p:cNvSpPr/>
          <p:nvPr/>
        </p:nvSpPr>
        <p:spPr>
          <a:xfrm>
            <a:off x="4480560" y="47548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IconCircle"/>
          <p:cNvSpPr/>
          <p:nvPr/>
        </p:nvSpPr>
        <p:spPr>
          <a:xfrm>
            <a:off x="4709160" y="498348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3" name="Icon FaRoute" descr="FaRou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180" y="5143500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532120" y="47548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Pickup &amp; delivery trips</a:t>
            </a:r>
            <a:endParaRPr lang="en-US" sz="1700" dirty="0"/>
          </a:p>
        </p:txBody>
      </p:sp>
      <p:sp>
        <p:nvSpPr>
          <p:cNvPr id="35" name="Card"/>
          <p:cNvSpPr/>
          <p:nvPr/>
        </p:nvSpPr>
        <p:spPr>
          <a:xfrm>
            <a:off x="8412480" y="42976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8641080" y="45262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4686300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4640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customer experience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FOR THE VEHICLE OWNER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9536" y="1490472"/>
            <a:ext cx="2831016" cy="4754880"/>
          </a:xfrm>
          <a:prstGeom prst="roundRect">
            <a:avLst>
              <a:gd name="adj" fmla="val 64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2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831016" cy="4754880"/>
          </a:xfrm>
          <a:prstGeom prst="rect">
            <a:avLst/>
          </a:prstGeom>
        </p:spPr>
      </p:pic>
      <p:sp>
        <p:nvSpPr>
          <p:cNvPr id="7" name="IconCircle"/>
          <p:cNvSpPr/>
          <p:nvPr/>
        </p:nvSpPr>
        <p:spPr>
          <a:xfrm>
            <a:off x="3657600" y="14173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CalendarCheck" descr="FaCalenda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188" y="1549908"/>
            <a:ext cx="265176" cy="2651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8912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Book a service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4389120" y="17007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optionally with vehicle pickup</a:t>
            </a:r>
            <a:endParaRPr lang="en-US" sz="1300" dirty="0"/>
          </a:p>
        </p:txBody>
      </p:sp>
      <p:sp>
        <p:nvSpPr>
          <p:cNvPr id="11" name="IconCircle"/>
          <p:cNvSpPr/>
          <p:nvPr/>
        </p:nvSpPr>
        <p:spPr>
          <a:xfrm>
            <a:off x="3657600" y="21214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Car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253996"/>
            <a:ext cx="265176" cy="2651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8912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vehicles &amp; job cards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4389120" y="2404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service visibility in one place</a:t>
            </a:r>
            <a:endParaRPr lang="en-US" sz="1300" dirty="0"/>
          </a:p>
        </p:txBody>
      </p:sp>
      <p:sp>
        <p:nvSpPr>
          <p:cNvPr id="15" name="IconCircle"/>
          <p:cNvSpPr/>
          <p:nvPr/>
        </p:nvSpPr>
        <p:spPr>
          <a:xfrm>
            <a:off x="3657600" y="282549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Search" descr="Fa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2958084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389120" y="2807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Repair progress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438912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follow the work on your vehicle as it happens</a:t>
            </a:r>
            <a:endParaRPr lang="en-US" sz="1300" dirty="0"/>
          </a:p>
        </p:txBody>
      </p:sp>
      <p:sp>
        <p:nvSpPr>
          <p:cNvPr id="19" name="IconCircle"/>
          <p:cNvSpPr/>
          <p:nvPr/>
        </p:nvSpPr>
        <p:spPr>
          <a:xfrm>
            <a:off x="3657600" y="352958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ThumbsUp" descr="FaThumbs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188" y="3662172"/>
            <a:ext cx="265176" cy="26517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389120" y="35112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 &amp; approve estimates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4389120" y="3813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approve or reject digitally</a:t>
            </a:r>
            <a:endParaRPr lang="en-US" sz="1300" dirty="0"/>
          </a:p>
        </p:txBody>
      </p:sp>
      <p:sp>
        <p:nvSpPr>
          <p:cNvPr id="23" name="IconCircle"/>
          <p:cNvSpPr/>
          <p:nvPr/>
        </p:nvSpPr>
        <p:spPr>
          <a:xfrm>
            <a:off x="3657600" y="423367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FileInvoiceDollar" descr="FaFileInvoiceDoll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0188" y="4366260"/>
            <a:ext cx="265176" cy="26517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389120" y="42153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Invoices &amp; payment status</a:t>
            </a:r>
            <a:endParaRPr lang="en-US" sz="1700" dirty="0"/>
          </a:p>
        </p:txBody>
      </p:sp>
      <p:sp>
        <p:nvSpPr>
          <p:cNvPr id="26" name="Text 17"/>
          <p:cNvSpPr txBox="1"/>
          <p:nvPr/>
        </p:nvSpPr>
        <p:spPr>
          <a:xfrm>
            <a:off x="4389120" y="4517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accept the invoice, track payment</a:t>
            </a:r>
            <a:endParaRPr lang="en-US" sz="1300" dirty="0"/>
          </a:p>
        </p:txBody>
      </p:sp>
      <p:sp>
        <p:nvSpPr>
          <p:cNvPr id="27" name="IconCircle"/>
          <p:cNvSpPr/>
          <p:nvPr/>
        </p:nvSpPr>
        <p:spPr>
          <a:xfrm>
            <a:off x="3657600" y="49377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MapMarkedAlt" descr="FaMapMarked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188" y="5070348"/>
            <a:ext cx="265176" cy="26517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89120" y="4919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vehicle journey</a:t>
            </a:r>
            <a:endParaRPr lang="en-US" sz="1700" dirty="0"/>
          </a:p>
        </p:txBody>
      </p:sp>
      <p:sp>
        <p:nvSpPr>
          <p:cNvPr id="30" name="Text 20"/>
          <p:cNvSpPr txBox="1"/>
          <p:nvPr/>
        </p:nvSpPr>
        <p:spPr>
          <a:xfrm>
            <a:off x="4389120" y="522122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follow pickup or delivery on a map</a:t>
            </a:r>
            <a:endParaRPr lang="en-US" sz="1300" dirty="0"/>
          </a:p>
        </p:txBody>
      </p:sp>
      <p:sp>
        <p:nvSpPr>
          <p:cNvPr id="31" name="IconCircle"/>
          <p:cNvSpPr/>
          <p:nvPr/>
        </p:nvSpPr>
        <p:spPr>
          <a:xfrm>
            <a:off x="3657600" y="5641848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0188" y="5774436"/>
            <a:ext cx="265176" cy="26517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389120" y="5623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3"/>
          <p:cNvSpPr txBox="1"/>
          <p:nvPr/>
        </p:nvSpPr>
        <p:spPr>
          <a:xfrm>
            <a:off x="4389120" y="59253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important updates reach the phone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inspection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DIGITAL INSPECTION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checked in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264664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420112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0112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Inspection checklist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136136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4291584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1584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Findings recorded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6007608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6163056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63056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Photos / videos attached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79080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8034528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4528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Inspection completed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9750552" y="197510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6"/>
          <p:cNvSpPr/>
          <p:nvPr/>
        </p:nvSpPr>
        <p:spPr>
          <a:xfrm>
            <a:off x="9906000" y="1600200"/>
            <a:ext cx="1706880" cy="9144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06000" y="1600200"/>
            <a:ext cx="1706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Estimate prepared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54864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82296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ListAlt" descr="FaList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8328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2296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Structured checklist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296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Inspection templates guide the technician through each area.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29768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Circle"/>
          <p:cNvSpPr/>
          <p:nvPr/>
        </p:nvSpPr>
        <p:spPr>
          <a:xfrm>
            <a:off x="457200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 FaExclamationTriangle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383280"/>
            <a:ext cx="365760" cy="36576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5720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Findings per complaint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457200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customer complaint is inspected and recorded.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8046720" y="2926080"/>
            <a:ext cx="35661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IconCircle"/>
          <p:cNvSpPr/>
          <p:nvPr/>
        </p:nvSpPr>
        <p:spPr>
          <a:xfrm>
            <a:off x="8321040" y="32004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on FaCamera" descr="Fa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383280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32104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 that travels with the job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83210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Photos and videos are stored against the job card, with time and location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Digital estimate &amp; approval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TRANSPARENCY BEFORE WORK STARTS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Garage prepares estimate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263895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794406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94406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reviews items</a:t>
            </a:r>
            <a:endParaRPr lang="en-US" sz="1500" dirty="0"/>
          </a:p>
        </p:txBody>
      </p:sp>
      <p:sp>
        <p:nvSpPr>
          <p:cNvPr id="10" name="Arrow"/>
          <p:cNvSpPr/>
          <p:nvPr/>
        </p:nvSpPr>
        <p:spPr>
          <a:xfrm>
            <a:off x="4884725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5040173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40173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Approve or reject</a:t>
            </a:r>
            <a:endParaRPr lang="en-US" sz="1500" dirty="0"/>
          </a:p>
        </p:txBody>
      </p:sp>
      <p:sp>
        <p:nvSpPr>
          <p:cNvPr id="13" name="Arrow"/>
          <p:cNvSpPr/>
          <p:nvPr/>
        </p:nvSpPr>
        <p:spPr>
          <a:xfrm>
            <a:off x="7130491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7285939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85939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 confirms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937625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9531706" y="1645920"/>
            <a:ext cx="2081174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31706" y="1645920"/>
            <a:ext cx="2081174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Repair begins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320040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 the customer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886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Itemised estimate on the phone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Notified when the estimate is ready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Decide digitally — no chasing calls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6217920" y="320040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 the workshop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886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and the owner are notified of the decision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manager confirmation gate before repair starts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Approval and repair stay clearly separate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Repair management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STRUCTURED WORK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4049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7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371600"/>
            <a:ext cx="2722131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Job card</a:t>
            </a:r>
            <a:endParaRPr lang="en-US" sz="1600" dirty="0"/>
          </a:p>
        </p:txBody>
      </p:sp>
      <p:sp>
        <p:nvSpPr>
          <p:cNvPr id="8" name="Step 1"/>
          <p:cNvSpPr/>
          <p:nvPr/>
        </p:nvSpPr>
        <p:spPr>
          <a:xfrm>
            <a:off x="548640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pending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2977896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3133344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33344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in progress</a:t>
            </a:r>
            <a:endParaRPr lang="en-US" sz="1300" dirty="0"/>
          </a:p>
        </p:txBody>
      </p:sp>
      <p:sp>
        <p:nvSpPr>
          <p:cNvPr id="13" name="Arrow"/>
          <p:cNvSpPr/>
          <p:nvPr/>
        </p:nvSpPr>
        <p:spPr>
          <a:xfrm>
            <a:off x="5562600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5718048" y="1783080"/>
            <a:ext cx="2420112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718048" y="1783080"/>
            <a:ext cx="2420112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Repair completed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Repair tasks (per technician)</a:t>
            </a:r>
            <a:endParaRPr lang="en-US" sz="1600" dirty="0"/>
          </a:p>
        </p:txBody>
      </p:sp>
      <p:sp>
        <p:nvSpPr>
          <p:cNvPr id="17" name="Step 1"/>
          <p:cNvSpPr/>
          <p:nvPr/>
        </p:nvSpPr>
        <p:spPr>
          <a:xfrm>
            <a:off x="548640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Assigned</a:t>
            </a:r>
            <a:endParaRPr lang="en-US" sz="1300" dirty="0"/>
          </a:p>
        </p:txBody>
      </p:sp>
      <p:sp>
        <p:nvSpPr>
          <p:cNvPr id="19" name="Arrow"/>
          <p:cNvSpPr/>
          <p:nvPr/>
        </p:nvSpPr>
        <p:spPr>
          <a:xfrm>
            <a:off x="2331720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2"/>
          <p:cNvSpPr/>
          <p:nvPr/>
        </p:nvSpPr>
        <p:spPr>
          <a:xfrm>
            <a:off x="2487168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487168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Accepted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4270248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tep 3"/>
          <p:cNvSpPr/>
          <p:nvPr/>
        </p:nvSpPr>
        <p:spPr>
          <a:xfrm>
            <a:off x="4425696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25696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6208776" y="3438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Step 4"/>
          <p:cNvSpPr/>
          <p:nvPr/>
        </p:nvSpPr>
        <p:spPr>
          <a:xfrm>
            <a:off x="6364224" y="3154680"/>
            <a:ext cx="1773936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64224" y="3154680"/>
            <a:ext cx="177393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Completed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2062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Tasks are assigned to technicians, who accept, start and complete them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job moves to “repair completed” only when every task is complete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see progress without asking around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control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AN EXTRA CHECKPOINT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Repair completed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3200400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3355848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55848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Quality check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6007608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6163056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63056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Pass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8814816" y="22951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8970264" y="1828800"/>
            <a:ext cx="2642616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70264" y="1828800"/>
            <a:ext cx="2642616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Invoice</a:t>
            </a:r>
            <a:endParaRPr lang="en-US" sz="1800" dirty="0"/>
          </a:p>
        </p:txBody>
      </p:sp>
      <p:sp>
        <p:nvSpPr>
          <p:cNvPr id="16" name="Fail"/>
          <p:cNvSpPr/>
          <p:nvPr/>
        </p:nvSpPr>
        <p:spPr>
          <a:xfrm>
            <a:off x="4937760" y="37490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1C1C"/>
                </a:solidFill>
              </a:rPr>
              <a:t>Fail</a:t>
            </a:r>
            <a:endParaRPr lang="en-US" sz="2000" dirty="0"/>
          </a:p>
        </p:txBody>
      </p:sp>
      <p:sp>
        <p:nvSpPr>
          <p:cNvPr id="18" name="FailLink"/>
          <p:cNvSpPr/>
          <p:nvPr/>
        </p:nvSpPr>
        <p:spPr>
          <a:xfrm>
            <a:off x="6035040" y="2926080"/>
            <a:ext cx="0" cy="82296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7315200" y="37490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Rework: the job returns to repair and the owner, managers and affected technicians are notified.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Quality is verified before the customer is invoiced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Pass or fail is recorded against the job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Managers are told when a check starts, passes or fails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Billing &amp; invoice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BILLING WORKFLOW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Invoice generated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3200400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3355848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55848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views &amp; accepts</a:t>
            </a:r>
            <a:endParaRPr lang="en-US" sz="1600" dirty="0"/>
          </a:p>
        </p:txBody>
      </p:sp>
      <p:sp>
        <p:nvSpPr>
          <p:cNvPr id="10" name="Arrow"/>
          <p:cNvSpPr/>
          <p:nvPr/>
        </p:nvSpPr>
        <p:spPr>
          <a:xfrm>
            <a:off x="6007608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6163056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63056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 recorded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8814816" y="206654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8970264" y="1645920"/>
            <a:ext cx="2642616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70264" y="1645920"/>
            <a:ext cx="2642616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ready for delivery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54864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FileInvoiceDollar" descr="FaFileInvoiceDol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34061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2296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Invoice from the approved estimate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Items match what the customer approved.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429768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457200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Eye" descr="Fa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34061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57200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Customer visibility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Invoices and payment status are visible in the customer app.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8046720" y="30175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832104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Bell" descr="Fa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34061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2104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Notified at each step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32104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Invoice ready · invoice accepted · payment received.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Payments are recorded inside GarageST, in full or in part, with a payment history. An online payment gateway, refunds and receipt PDFs are not part of the current product (see roadmap).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Vehicle pickup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COLLECTION FROM THE CUSTOMER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6757416" y="1490472"/>
            <a:ext cx="2667688" cy="4480560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5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2667688" cy="4480560"/>
          </a:xfrm>
          <a:prstGeom prst="rect">
            <a:avLst/>
          </a:prstGeom>
        </p:spPr>
      </p:pic>
      <p:sp>
        <p:nvSpPr>
          <p:cNvPr id="7" name="ShadowPlate"/>
          <p:cNvSpPr/>
          <p:nvPr/>
        </p:nvSpPr>
        <p:spPr>
          <a:xfrm>
            <a:off x="9363456" y="1490472"/>
            <a:ext cx="2667688" cy="4480560"/>
          </a:xfrm>
          <a:prstGeom prst="roundRect">
            <a:avLst>
              <a:gd name="adj" fmla="val 68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shot 06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417320"/>
            <a:ext cx="2667688" cy="4480560"/>
          </a:xfrm>
          <a:prstGeom prst="rect">
            <a:avLst/>
          </a:prstGeom>
        </p:spPr>
      </p:pic>
      <p:sp>
        <p:nvSpPr>
          <p:cNvPr id="9" name="Step 1"/>
          <p:cNvSpPr/>
          <p:nvPr/>
        </p:nvSpPr>
        <p:spPr>
          <a:xfrm>
            <a:off x="548640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48640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Pickup request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1680667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1799539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799539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Garage confirms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2931566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3050438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050438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Driver assigned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4182466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tep 4"/>
          <p:cNvSpPr/>
          <p:nvPr/>
        </p:nvSpPr>
        <p:spPr>
          <a:xfrm>
            <a:off x="4301338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301338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Trip in progress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5433365" y="1815084"/>
            <a:ext cx="109728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tep 5"/>
          <p:cNvSpPr/>
          <p:nvPr/>
        </p:nvSpPr>
        <p:spPr>
          <a:xfrm>
            <a:off x="5552237" y="1554480"/>
            <a:ext cx="1122883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552237" y="1554480"/>
            <a:ext cx="1122883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Handover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26517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chooses the pickup point on a map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garage confirms and assigns a driver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driver accepts and starts the trip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and workshop are notified at each stage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Live vehicle tracking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KNOW WHERE THE VEHICLE IS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859536" y="1444752"/>
            <a:ext cx="2885459" cy="484632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4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885459" cy="48463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4114800" y="155448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Circle"/>
          <p:cNvSpPr/>
          <p:nvPr/>
        </p:nvSpPr>
        <p:spPr>
          <a:xfrm>
            <a:off x="4343400" y="171907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FaMapMarkedAlt" descr="FaMapMarke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879092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166360" y="166420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driver location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166360" y="2057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vehicle moves on the map as the driver drives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114800" y="265176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IconCircle"/>
          <p:cNvSpPr/>
          <p:nvPr/>
        </p:nvSpPr>
        <p:spPr>
          <a:xfrm>
            <a:off x="4343400" y="281635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Route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97637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66360" y="27614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Route, distance and ETA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5166360" y="31546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shown to the customer on the trip screen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4114800" y="374904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4343400" y="391363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aUserCheck" descr="Fa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20" y="4073652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66360" y="385876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visibility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166360" y="42519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customer follows their own vehicle’s trip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114800" y="4846320"/>
            <a:ext cx="749808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4343400" y="50109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420" y="5170932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166360" y="49560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Workshop visibility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516636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managers and owners see active trips on a fleet map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4114800" y="60350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Available during active pickup and delivery trips.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Digital handover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VERIFIED VEHICLE HANDOVER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MapPin" descr="Fa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 arrives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customer is notified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3218688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3364992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3639312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FaCamera" descr="Fa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0574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39312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 photos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639312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condition captured at handover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6035040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Card"/>
          <p:cNvSpPr/>
          <p:nvPr/>
        </p:nvSpPr>
        <p:spPr>
          <a:xfrm>
            <a:off x="6181344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6455664" y="1874520"/>
            <a:ext cx="731520" cy="7315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con FaKey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0574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55664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 shows a code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455664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generated in the customer’s app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8851392" y="3017520"/>
            <a:ext cx="137160" cy="18288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Card"/>
          <p:cNvSpPr/>
          <p:nvPr/>
        </p:nvSpPr>
        <p:spPr>
          <a:xfrm>
            <a:off x="8997696" y="1645920"/>
            <a:ext cx="2651760" cy="2926080"/>
          </a:xfrm>
          <a:prstGeom prst="roundRect">
            <a:avLst>
              <a:gd name="adj" fmla="val 41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IconCircle"/>
          <p:cNvSpPr/>
          <p:nvPr/>
        </p:nvSpPr>
        <p:spPr>
          <a:xfrm>
            <a:off x="9272016" y="1874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 FaCheckDouble" descr="FaCheckDou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05740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72016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 verifies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272016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handover confirmed in the system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handover verification code confirms that the vehicle really changed hands — for both pickup and delivery. It is a vehicle-handover check, not a login code.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Delivery management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BACK TO THE CUSTOMER</a:t>
            </a:r>
            <a:endParaRPr lang="en-US" sz="1100" dirty="0"/>
          </a:p>
        </p:txBody>
      </p:sp>
      <p:sp>
        <p:nvSpPr>
          <p:cNvPr id="5" name="Step 1"/>
          <p:cNvSpPr/>
          <p:nvPr/>
        </p:nvSpPr>
        <p:spPr>
          <a:xfrm>
            <a:off x="548640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Ready for delivery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264664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 2"/>
          <p:cNvSpPr/>
          <p:nvPr/>
        </p:nvSpPr>
        <p:spPr>
          <a:xfrm>
            <a:off x="2420112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20112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Delivery requested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136136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 3"/>
          <p:cNvSpPr/>
          <p:nvPr/>
        </p:nvSpPr>
        <p:spPr>
          <a:xfrm>
            <a:off x="4291584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1584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Driver trip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6007608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tep 4"/>
          <p:cNvSpPr/>
          <p:nvPr/>
        </p:nvSpPr>
        <p:spPr>
          <a:xfrm>
            <a:off x="6163056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63056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Handover verified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7879080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tep 5"/>
          <p:cNvSpPr/>
          <p:nvPr/>
        </p:nvSpPr>
        <p:spPr>
          <a:xfrm>
            <a:off x="8034528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4528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Vehicle delivered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9750552" y="2112264"/>
            <a:ext cx="146304" cy="164592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tep 6"/>
          <p:cNvSpPr/>
          <p:nvPr/>
        </p:nvSpPr>
        <p:spPr>
          <a:xfrm>
            <a:off x="9906000" y="1645920"/>
            <a:ext cx="17068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906000" y="1645920"/>
            <a:ext cx="17068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Job closed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2004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Once payment is recorded the vehicle is marked ready for delivery and the customer is notified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Delivery uses the same driver, live-trip and handover tools as pickup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Completing the verified delivery trip records the delivery and marks the job delivered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job is then closed by the workshop</a:t>
            </a:r>
            <a:endParaRPr lang="en-US" sz="1600" dirty="0"/>
          </a:p>
        </p:txBody>
      </p:sp>
      <p:pic>
        <p:nvPicPr>
          <p:cNvPr id="23" name="Vehicle" descr="Top-down vehi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3017520"/>
            <a:ext cx="1280160" cy="24740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Real-time notifications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NEW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GarageST proactively notifies users about important workflow events — on the phone’s notification tray, even when the app is not in the foreground.</a:t>
            </a:r>
            <a:endParaRPr lang="en-US" sz="2200" dirty="0"/>
          </a:p>
        </p:txBody>
      </p:sp>
      <p:sp>
        <p:nvSpPr>
          <p:cNvPr id="6" name="Card"/>
          <p:cNvSpPr/>
          <p:nvPr/>
        </p:nvSpPr>
        <p:spPr>
          <a:xfrm>
            <a:off x="548640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CalendarCheck" descr="FaCalenda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Bookings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requested · confirmed · rejected · cancelled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3538728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FaTruck" descr="FaTru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7889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24528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Pickup &amp; trips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38728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driver assigned · started · arrived · handover</a:t>
            </a:r>
            <a:endParaRPr lang="en-US" sz="1250" dirty="0"/>
          </a:p>
        </p:txBody>
      </p:sp>
      <p:sp>
        <p:nvSpPr>
          <p:cNvPr id="16" name="Card"/>
          <p:cNvSpPr/>
          <p:nvPr/>
        </p:nvSpPr>
        <p:spPr>
          <a:xfrm>
            <a:off x="6163056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6345936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788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31736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Inspection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45936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started · completed</a:t>
            </a:r>
            <a:endParaRPr lang="en-US" sz="1250" dirty="0"/>
          </a:p>
        </p:txBody>
      </p:sp>
      <p:sp>
        <p:nvSpPr>
          <p:cNvPr id="21" name="Card"/>
          <p:cNvSpPr/>
          <p:nvPr/>
        </p:nvSpPr>
        <p:spPr>
          <a:xfrm>
            <a:off x="8970264" y="24688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9153144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FileInvoice" descr="FaFileInvo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7889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838944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Estimates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9153144" y="3337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ready · approved · rejected</a:t>
            </a:r>
            <a:endParaRPr lang="en-US" sz="1250" dirty="0"/>
          </a:p>
        </p:txBody>
      </p:sp>
      <p:sp>
        <p:nvSpPr>
          <p:cNvPr id="26" name="Card"/>
          <p:cNvSpPr/>
          <p:nvPr/>
        </p:nvSpPr>
        <p:spPr>
          <a:xfrm>
            <a:off x="548640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Tools" descr="FaToo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1772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17320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Repair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3152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task assigned · started · completed</a:t>
            </a:r>
            <a:endParaRPr lang="en-US" sz="1250" dirty="0"/>
          </a:p>
        </p:txBody>
      </p:sp>
      <p:sp>
        <p:nvSpPr>
          <p:cNvPr id="31" name="Card"/>
          <p:cNvSpPr/>
          <p:nvPr/>
        </p:nvSpPr>
        <p:spPr>
          <a:xfrm>
            <a:off x="3355848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IconCircle"/>
          <p:cNvSpPr/>
          <p:nvPr/>
        </p:nvSpPr>
        <p:spPr>
          <a:xfrm>
            <a:off x="3538728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 FaClipboardCheck" descr="Fa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461772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224528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Quality check</a:t>
            </a:r>
            <a:endParaRPr lang="en-US" sz="1600" dirty="0"/>
          </a:p>
        </p:txBody>
      </p:sp>
      <p:sp>
        <p:nvSpPr>
          <p:cNvPr id="35" name="Text 26"/>
          <p:cNvSpPr txBox="1"/>
          <p:nvPr/>
        </p:nvSpPr>
        <p:spPr>
          <a:xfrm>
            <a:off x="3538728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started · passed · failed</a:t>
            </a:r>
            <a:endParaRPr lang="en-US" sz="1250" dirty="0"/>
          </a:p>
        </p:txBody>
      </p:sp>
      <p:sp>
        <p:nvSpPr>
          <p:cNvPr id="36" name="Card"/>
          <p:cNvSpPr/>
          <p:nvPr/>
        </p:nvSpPr>
        <p:spPr>
          <a:xfrm>
            <a:off x="6163056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IconCircle"/>
          <p:cNvSpPr/>
          <p:nvPr/>
        </p:nvSpPr>
        <p:spPr>
          <a:xfrm>
            <a:off x="6345936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FileInvoiceDollar" descr="FaFileInvoiceDolla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617720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31736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Invoice &amp; payment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6345936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generated · accepted · payment received</a:t>
            </a:r>
            <a:endParaRPr lang="en-US" sz="1250" dirty="0"/>
          </a:p>
        </p:txBody>
      </p:sp>
      <p:sp>
        <p:nvSpPr>
          <p:cNvPr id="41" name="Card"/>
          <p:cNvSpPr/>
          <p:nvPr/>
        </p:nvSpPr>
        <p:spPr>
          <a:xfrm>
            <a:off x="8970264" y="42976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IconCircle"/>
          <p:cNvSpPr/>
          <p:nvPr/>
        </p:nvSpPr>
        <p:spPr>
          <a:xfrm>
            <a:off x="9153144" y="4480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con FaKey" descr="FaKe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4617720"/>
            <a:ext cx="274320" cy="27432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838944" y="44805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Delivery &amp; closure</a:t>
            </a:r>
            <a:endParaRPr lang="en-US" sz="1600" dirty="0"/>
          </a:p>
        </p:txBody>
      </p:sp>
      <p:sp>
        <p:nvSpPr>
          <p:cNvPr id="45" name="Text 34"/>
          <p:cNvSpPr txBox="1"/>
          <p:nvPr/>
        </p:nvSpPr>
        <p:spPr>
          <a:xfrm>
            <a:off x="9153144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ready · delivered · job closed</a:t>
            </a:r>
            <a:endParaRPr lang="en-US" sz="1250" dirty="0"/>
          </a:p>
        </p:txBody>
      </p:sp>
      <p:sp>
        <p:nvSpPr>
          <p:cNvPr id="46" name="Text 35"/>
          <p:cNvSpPr txBox="1"/>
          <p:nvPr/>
        </p:nvSpPr>
        <p:spPr>
          <a:xfrm>
            <a:off x="54864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Delivered through Firebase Cloud Messaging to the user’s Android phone.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Notifications by persona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RIGHT MESSAGE TO THE RIGHT PERSON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User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Customer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service updates · estimate ready · invoice · payment · vehicle ready · delivery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29768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UserTie" descr="FaUserT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51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924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Owner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important business events: new booking, estimate decisions, repair done, quality-check failure, invoice, payment, delivery, closure</a:t>
            </a:r>
            <a:endParaRPr lang="en-US" sz="1350" dirty="0"/>
          </a:p>
        </p:txBody>
      </p:sp>
      <p:sp>
        <p:nvSpPr>
          <p:cNvPr id="15" name="Card"/>
          <p:cNvSpPr/>
          <p:nvPr/>
        </p:nvSpPr>
        <p:spPr>
          <a:xfrm>
            <a:off x="804672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3210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Users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5166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98280" y="1691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Manager / Service Advisor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2468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operational updates across bookings, trips, inspection, estimates, repair tasks, QC, invoicing</a:t>
            </a:r>
            <a:endParaRPr lang="en-US" sz="1350" dirty="0"/>
          </a:p>
        </p:txBody>
      </p:sp>
      <p:sp>
        <p:nvSpPr>
          <p:cNvPr id="20" name="Card"/>
          <p:cNvSpPr/>
          <p:nvPr/>
        </p:nvSpPr>
        <p:spPr>
          <a:xfrm>
            <a:off x="54864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Wrench" descr="Fa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0020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Technician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new repair task assigned · quality-check rework</a:t>
            </a:r>
            <a:endParaRPr lang="en-US" sz="1350" dirty="0"/>
          </a:p>
        </p:txBody>
      </p:sp>
      <p:sp>
        <p:nvSpPr>
          <p:cNvPr id="25" name="Card"/>
          <p:cNvSpPr/>
          <p:nvPr/>
        </p:nvSpPr>
        <p:spPr>
          <a:xfrm>
            <a:off x="429768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27482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4924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Driver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pickup assigned · customer handover ready</a:t>
            </a:r>
            <a:endParaRPr lang="en-US" sz="1350" dirty="0"/>
          </a:p>
        </p:txBody>
      </p:sp>
      <p:sp>
        <p:nvSpPr>
          <p:cNvPr id="30" name="Card"/>
          <p:cNvSpPr/>
          <p:nvPr/>
        </p:nvSpPr>
        <p:spPr>
          <a:xfrm>
            <a:off x="8046720" y="3886200"/>
            <a:ext cx="3566160" cy="2240280"/>
          </a:xfrm>
          <a:prstGeom prst="roundRect">
            <a:avLst>
              <a:gd name="adj" fmla="val 4898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32104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Relevant, not noisy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526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person receives only the events relevant to their role and their own garage. You never hear about your own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notification experience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ILLUSTRATIVE</a:t>
            </a:r>
            <a:endParaRPr lang="en-US" sz="1100" dirty="0"/>
          </a:p>
        </p:txBody>
      </p:sp>
      <p:sp>
        <p:nvSpPr>
          <p:cNvPr id="5" name="NotificationCard"/>
          <p:cNvSpPr/>
          <p:nvPr/>
        </p:nvSpPr>
        <p:spPr>
          <a:xfrm>
            <a:off x="548640" y="1737360"/>
            <a:ext cx="35661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AppMark" descr="D:/garagest_flutter/assets/branding/GarageST_Brand_Assets_v2/mark/GarageST_Mark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GarageST · now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2194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vehicle is ready for delivery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325880" y="2542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vehicle is ready (JC-…).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297680" y="2240280"/>
            <a:ext cx="64008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29768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tap</a:t>
            </a:r>
            <a:endParaRPr lang="en-US" sz="1300" dirty="0"/>
          </a:p>
        </p:txBody>
      </p:sp>
      <p:sp>
        <p:nvSpPr>
          <p:cNvPr id="12" name="Screen"/>
          <p:cNvSpPr/>
          <p:nvPr/>
        </p:nvSpPr>
        <p:spPr>
          <a:xfrm>
            <a:off x="5120640" y="1737360"/>
            <a:ext cx="2926080" cy="13716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303520" y="178308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GarageST opens on the right screen for your role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Circle"/>
          <p:cNvSpPr/>
          <p:nvPr/>
        </p:nvSpPr>
        <p:spPr>
          <a:xfrm>
            <a:off x="68580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FaVolumeUp" descr="Fa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" y="38290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Sound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315468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Circle"/>
          <p:cNvSpPr/>
          <p:nvPr/>
        </p:nvSpPr>
        <p:spPr>
          <a:xfrm>
            <a:off x="329184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MobileAlt" descr="FaMob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570" y="38290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3192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Vibration per device mode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760720" y="352044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Circle"/>
          <p:cNvSpPr/>
          <p:nvPr/>
        </p:nvSpPr>
        <p:spPr>
          <a:xfrm>
            <a:off x="589788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Bell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610" y="382905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3796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System tray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54864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Circle"/>
          <p:cNvSpPr/>
          <p:nvPr/>
        </p:nvSpPr>
        <p:spPr>
          <a:xfrm>
            <a:off x="68580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LayerGroup" descr="FaLayerGrou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" y="483489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2588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Foreground &amp; background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315468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29184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List" descr="FaLis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70" y="4834890"/>
            <a:ext cx="251460" cy="25146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93192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History &amp; unread badge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5760720" y="4526280"/>
            <a:ext cx="246888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Circle"/>
          <p:cNvSpPr/>
          <p:nvPr/>
        </p:nvSpPr>
        <p:spPr>
          <a:xfrm>
            <a:off x="589788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 FaExternalLinkAlt" descr="FaExternalLink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610" y="4834890"/>
            <a:ext cx="251460" cy="25146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537960" y="4526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Deep-link navigation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8503920" y="1737360"/>
            <a:ext cx="3108960" cy="3749040"/>
          </a:xfrm>
          <a:prstGeom prst="roundRect">
            <a:avLst>
              <a:gd name="adj" fmla="val 3529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732520" y="1874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Validated on a real Android device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8732520" y="256032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Notification appears with sound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Vibrate / silent follows the phone’s mode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Shown in the system tray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Tap opens GarageST and the right screen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History and unread badge work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Vehicle ready &amp; payment received observed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5669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Illustration drawn for this presentation; wording is the real notification text.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54864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Sound and vibration remain under the user’s Android notification settings.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Notification history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IN-APP NOTIFICATION CENTER</a:t>
            </a:r>
            <a:endParaRPr lang="en-US" sz="1100" dirty="0"/>
          </a:p>
        </p:txBody>
      </p:sp>
      <p:sp>
        <p:nvSpPr>
          <p:cNvPr id="5" name="HistoryPanel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Notifications</a:t>
            </a:r>
            <a:endParaRPr lang="en-US" sz="1800" dirty="0"/>
          </a:p>
        </p:txBody>
      </p:sp>
      <p:sp>
        <p:nvSpPr>
          <p:cNvPr id="7" name="Dot"/>
          <p:cNvSpPr/>
          <p:nvPr/>
        </p:nvSpPr>
        <p:spPr>
          <a:xfrm>
            <a:off x="868680" y="2359152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887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 received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Payment has been received (JC-…).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788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2 minutes ago</a:t>
            </a:r>
            <a:endParaRPr lang="en-US" sz="1100" dirty="0"/>
          </a:p>
        </p:txBody>
      </p:sp>
      <p:sp>
        <p:nvSpPr>
          <p:cNvPr id="11" name="Dot"/>
          <p:cNvSpPr/>
          <p:nvPr/>
        </p:nvSpPr>
        <p:spPr>
          <a:xfrm>
            <a:off x="868680" y="3346704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3182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Your vehicle is ready for delivery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930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vehicle is ready (JC-…).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7764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10 minutes ago</a:t>
            </a:r>
            <a:endParaRPr lang="en-US" sz="1100" dirty="0"/>
          </a:p>
        </p:txBody>
      </p:sp>
      <p:sp>
        <p:nvSpPr>
          <p:cNvPr id="15" name="Dot"/>
          <p:cNvSpPr/>
          <p:nvPr/>
        </p:nvSpPr>
        <p:spPr>
          <a:xfrm>
            <a:off x="868680" y="433425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88720" y="4169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invoice is ready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Your invoice is ready for review (JC-…).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7640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hour ago</a:t>
            </a:r>
            <a:endParaRPr lang="en-US" sz="1100" dirty="0"/>
          </a:p>
        </p:txBody>
      </p:sp>
      <p:sp>
        <p:nvSpPr>
          <p:cNvPr id="19" name="Dot"/>
          <p:cNvSpPr/>
          <p:nvPr/>
        </p:nvSpPr>
        <p:spPr>
          <a:xfrm>
            <a:off x="868680" y="5321808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88720" y="5157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Repair completed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54681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Repair of your vehicle is complete (JC-…).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57515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yesterday</a:t>
            </a:r>
            <a:endParaRPr lang="en-US" sz="1100" dirty="0"/>
          </a:p>
        </p:txBody>
      </p:sp>
      <p:sp>
        <p:nvSpPr>
          <p:cNvPr id="23" name="IconCircle"/>
          <p:cNvSpPr/>
          <p:nvPr/>
        </p:nvSpPr>
        <p:spPr>
          <a:xfrm>
            <a:off x="6858000" y="15544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 FaCircle" descr="Fa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6590" y="1703070"/>
            <a:ext cx="297180" cy="2971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68096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Unread indicator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7680960" y="1901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new items stand out; the bell shows the unread count</a:t>
            </a:r>
            <a:endParaRPr lang="en-US" sz="1300" dirty="0"/>
          </a:p>
        </p:txBody>
      </p:sp>
      <p:sp>
        <p:nvSpPr>
          <p:cNvPr id="27" name="IconCircle"/>
          <p:cNvSpPr/>
          <p:nvPr/>
        </p:nvSpPr>
        <p:spPr>
          <a:xfrm>
            <a:off x="6858000" y="2743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 FaCheck" descr="Fa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2891790"/>
            <a:ext cx="297180" cy="2971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68096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 as read</a:t>
            </a:r>
            <a:endParaRPr lang="en-US" sz="1700" dirty="0"/>
          </a:p>
        </p:txBody>
      </p:sp>
      <p:sp>
        <p:nvSpPr>
          <p:cNvPr id="30" name="Text 25"/>
          <p:cNvSpPr txBox="1"/>
          <p:nvPr/>
        </p:nvSpPr>
        <p:spPr>
          <a:xfrm>
            <a:off x="7680960" y="30906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tap an item to open it and mark it read</a:t>
            </a:r>
            <a:endParaRPr lang="en-US" sz="1300" dirty="0"/>
          </a:p>
        </p:txBody>
      </p:sp>
      <p:sp>
        <p:nvSpPr>
          <p:cNvPr id="31" name="IconCircle"/>
          <p:cNvSpPr/>
          <p:nvPr/>
        </p:nvSpPr>
        <p:spPr>
          <a:xfrm>
            <a:off x="6858000" y="3931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heckDouble" descr="FaCheckDou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4080510"/>
            <a:ext cx="297180" cy="2971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680960" y="3913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 all read</a:t>
            </a:r>
            <a:endParaRPr lang="en-US" sz="1700" dirty="0"/>
          </a:p>
        </p:txBody>
      </p:sp>
      <p:sp>
        <p:nvSpPr>
          <p:cNvPr id="34" name="Text 28"/>
          <p:cNvSpPr txBox="1"/>
          <p:nvPr/>
        </p:nvSpPr>
        <p:spPr>
          <a:xfrm>
            <a:off x="7680960" y="42793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clear the list in one tap</a:t>
            </a:r>
            <a:endParaRPr lang="en-US" sz="1300" dirty="0"/>
          </a:p>
        </p:txBody>
      </p:sp>
      <p:sp>
        <p:nvSpPr>
          <p:cNvPr id="35" name="IconCircle"/>
          <p:cNvSpPr/>
          <p:nvPr/>
        </p:nvSpPr>
        <p:spPr>
          <a:xfrm>
            <a:off x="6858000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 FaHistory" descr="FaHis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5269230"/>
            <a:ext cx="297180" cy="2971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680960" y="5102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Always available</a:t>
            </a:r>
            <a:endParaRPr lang="en-US" sz="1700" dirty="0"/>
          </a:p>
        </p:txBody>
      </p:sp>
      <p:sp>
        <p:nvSpPr>
          <p:cNvPr id="38" name="Text 31"/>
          <p:cNvSpPr txBox="1"/>
          <p:nvPr/>
        </p:nvSpPr>
        <p:spPr>
          <a:xfrm>
            <a:off x="7680960" y="5468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history stays in GarageST even if a push was missed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685800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Illustration — drawn for this presentation using real notification wording.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Communication without chasing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BUSINESS BENEFIT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Without 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Calling the customer to approve an estimate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Asking the technician if the job is done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Telling the customer the vehicle is ready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4"/>
                </a:solidFill>
              </a:rPr>
              <a:t>Checking whether payment came in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400800" y="15544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With GarageST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3774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estimate-ready notification reaches the customer’s phone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Managers are told when repair or QC changes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customer hears “vehicle ready” as soon as it is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Owners see payments as they happen</a:t>
            </a:r>
            <a:endParaRPr lang="en-US" sz="1600" dirty="0"/>
          </a:p>
        </p:txBody>
      </p:sp>
      <p:sp>
        <p:nvSpPr>
          <p:cNvPr id="11" name="Arrow"/>
          <p:cNvSpPr/>
          <p:nvPr/>
        </p:nvSpPr>
        <p:spPr>
          <a:xfrm>
            <a:off x="5806440" y="3383280"/>
            <a:ext cx="5486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Important workflow events can proactively reach the right user instead of depending entirely on manual calls and messages. Today this is in-app push; other channels are not part of the current product.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Media &amp; service evidence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PROOF OF THE WORK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Camera" descr="Fa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Photos &amp; videos from the job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Inspection, before/during/after-service and trip evidence.</a:t>
            </a:r>
            <a:endParaRPr lang="en-US" sz="1250" dirty="0"/>
          </a:p>
        </p:txBody>
      </p:sp>
      <p:sp>
        <p:nvSpPr>
          <p:cNvPr id="10" name="Card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457200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MapMarkerAlt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95453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and location details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Evidence carries capture time and location information.</a:t>
            </a:r>
            <a:endParaRPr lang="en-US" sz="1250" dirty="0"/>
          </a:p>
        </p:txBody>
      </p:sp>
      <p:sp>
        <p:nvSpPr>
          <p:cNvPr id="15" name="Card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832104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CloudUploadAlt" descr="FaCloudUploa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95453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Reliable uploads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30358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Media uploads in the background and retries if the network drops.</a:t>
            </a:r>
            <a:endParaRPr lang="en-US" sz="1250" dirty="0"/>
          </a:p>
        </p:txBody>
      </p:sp>
      <p:sp>
        <p:nvSpPr>
          <p:cNvPr id="20" name="Card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 FaLock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28625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Private storage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Media is kept in a private bucket and opened through short-lived secure links.</a:t>
            </a:r>
            <a:endParaRPr lang="en-US" sz="1250" dirty="0"/>
          </a:p>
        </p:txBody>
      </p:sp>
      <p:sp>
        <p:nvSpPr>
          <p:cNvPr id="25" name="Card"/>
          <p:cNvSpPr/>
          <p:nvPr/>
        </p:nvSpPr>
        <p:spPr>
          <a:xfrm>
            <a:off x="429768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UserCheck" descr="FaUse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286250"/>
            <a:ext cx="342900" cy="342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can view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Customers can see the media published for their own job.</a:t>
            </a:r>
            <a:endParaRPr lang="en-US" sz="1250" dirty="0"/>
          </a:p>
        </p:txBody>
      </p:sp>
      <p:sp>
        <p:nvSpPr>
          <p:cNvPr id="30" name="Card"/>
          <p:cNvSpPr/>
          <p:nvPr/>
        </p:nvSpPr>
        <p:spPr>
          <a:xfrm>
            <a:off x="804672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8321040" y="4114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LayerGroup" descr="FaLayerGro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286250"/>
            <a:ext cx="342900" cy="3429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32104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trip evidence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2104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Pickup and delivery handover photos are kept with the trip.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workspace for every role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ROLE-BASED EXPERIENCE</a:t>
            </a:r>
            <a:endParaRPr lang="en-US" sz="1100" dirty="0"/>
          </a:p>
        </p:txBody>
      </p:sp>
      <p:sp>
        <p:nvSpPr>
          <p:cNvPr id="5" name="ShadowPlate"/>
          <p:cNvSpPr/>
          <p:nvPr/>
        </p:nvSpPr>
        <p:spPr>
          <a:xfrm>
            <a:off x="72237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shot 02" descr="GarageST app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232147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Customer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bookings, vehicles, progress</a:t>
            </a:r>
            <a:endParaRPr lang="en-US" sz="1250" dirty="0"/>
          </a:p>
        </p:txBody>
      </p:sp>
      <p:sp>
        <p:nvSpPr>
          <p:cNvPr id="9" name="ShadowPlate"/>
          <p:cNvSpPr/>
          <p:nvPr/>
        </p:nvSpPr>
        <p:spPr>
          <a:xfrm>
            <a:off x="355701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Screenshot 03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2232147" cy="3749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2900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Manager / Owner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jobs, estimates, fleet</a:t>
            </a:r>
            <a:endParaRPr lang="en-US" sz="1250" dirty="0"/>
          </a:p>
        </p:txBody>
      </p:sp>
      <p:sp>
        <p:nvSpPr>
          <p:cNvPr id="13" name="ShadowPlate"/>
          <p:cNvSpPr/>
          <p:nvPr/>
        </p:nvSpPr>
        <p:spPr>
          <a:xfrm>
            <a:off x="639165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Screenshot 06" descr="GarageST app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232147" cy="3749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636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Driver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26364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assigned trips</a:t>
            </a:r>
            <a:endParaRPr lang="en-US" sz="1250" dirty="0"/>
          </a:p>
        </p:txBody>
      </p:sp>
      <p:sp>
        <p:nvSpPr>
          <p:cNvPr id="17" name="ShadowPlate"/>
          <p:cNvSpPr/>
          <p:nvPr/>
        </p:nvSpPr>
        <p:spPr>
          <a:xfrm>
            <a:off x="9226296" y="1490472"/>
            <a:ext cx="2232147" cy="3749040"/>
          </a:xfrm>
          <a:prstGeom prst="roundRect">
            <a:avLst>
              <a:gd name="adj" fmla="val 81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Screenshot 07" descr="GarageST app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417320"/>
            <a:ext cx="2232147" cy="3749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09828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Technician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9098280" y="5669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assigned repair work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the garage owner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OWNER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Centralized visibility of every job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status and workflow tracking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coordination across roles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transparency builds trust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and payment visibility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movement visibility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1828800" y="558698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103120" y="558698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 for important business events</a:t>
            </a:r>
            <a:endParaRPr lang="en-US" sz="1600" dirty="0"/>
          </a:p>
        </p:txBody>
      </p:sp>
      <p:sp>
        <p:nvSpPr>
          <p:cNvPr id="21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Screenshot 03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managers &amp; service advisors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s" descr="Fa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progress at a glance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approvals and estimate status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Repair progress and technician workload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Quality-check results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and delivery coordination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978408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9326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when something needs attention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technicians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TECHNICIAN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Wrench" descr="FaWre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See the repair tasks assigned to you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 status: accept, start, complete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Job and vehicle context in one place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workflow progression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Quality-check feedback when rework is needed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when a task is assigned</a:t>
            </a:r>
            <a:endParaRPr lang="en-US" sz="1600" dirty="0"/>
          </a:p>
        </p:txBody>
      </p:sp>
      <p:sp>
        <p:nvSpPr>
          <p:cNvPr id="19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creenshot 08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drivers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DRIVER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Truck" descr="FaTr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Assigned pickup and delivery trips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Navigation to the customer or garage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trip with route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 photos and verified handover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Pickup and delivery in one workflow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Notified of new assignments</a:t>
            </a:r>
            <a:endParaRPr lang="en-US" sz="1600" dirty="0"/>
          </a:p>
        </p:txBody>
      </p:sp>
      <p:sp>
        <p:nvSpPr>
          <p:cNvPr id="19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Screenshot 06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customers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CUSTOMER</a:t>
            </a:r>
            <a:endParaRPr lang="en-US" sz="1100" dirty="0"/>
          </a:p>
        </p:txBody>
      </p:sp>
      <p:sp>
        <p:nvSpPr>
          <p:cNvPr id="5" name="IconCircle"/>
          <p:cNvSpPr/>
          <p:nvPr/>
        </p:nvSpPr>
        <p:spPr>
          <a:xfrm>
            <a:off x="548640" y="15087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FaUser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457200" cy="45720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1828800" y="141732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03120" y="14173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visibility of your vehicle’s service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1828800" y="211226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211226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Digital estimate review and approval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1828800" y="2807208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103120" y="2807208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 progress without calling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1828800" y="3502152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02152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Invoice and payment status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1828800" y="4197096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03120" y="4197096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Follow your vehicle’s pickup or delivery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1828800" y="4892040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103120" y="48920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 at the important moments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1828800" y="5586984"/>
            <a:ext cx="630936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103120" y="5586984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job-card history in the app</a:t>
            </a:r>
            <a:endParaRPr lang="en-US" sz="1600" dirty="0"/>
          </a:p>
        </p:txBody>
      </p:sp>
      <p:sp>
        <p:nvSpPr>
          <p:cNvPr id="21" name="ShadowPlate"/>
          <p:cNvSpPr/>
          <p:nvPr/>
        </p:nvSpPr>
        <p:spPr>
          <a:xfrm>
            <a:off x="8814816" y="1444752"/>
            <a:ext cx="2722131" cy="4572000"/>
          </a:xfrm>
          <a:prstGeom prst="roundRect">
            <a:avLst>
              <a:gd name="adj" fmla="val 6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2" name="Screenshot 02" descr="GarageST app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371600"/>
            <a:ext cx="27221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Multi-garage operations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GARAGE-LEVEL ISOLATION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374904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Garage 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staff and roles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jobs and trips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notifications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0" y="1554480"/>
            <a:ext cx="3749040" cy="27432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Garage B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staff and roles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jobs and trips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Its own notifications</a:t>
            </a:r>
            <a:endParaRPr lang="en-US" sz="1400" dirty="0"/>
          </a:p>
        </p:txBody>
      </p:sp>
      <p:sp>
        <p:nvSpPr>
          <p:cNvPr id="11" name="Isolation"/>
          <p:cNvSpPr/>
          <p:nvPr/>
        </p:nvSpPr>
        <p:spPr>
          <a:xfrm>
            <a:off x="4389120" y="1554480"/>
            <a:ext cx="0" cy="2743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</a:ln>
        </p:spPr>
      </p:sp>
      <p:sp>
        <p:nvSpPr>
          <p:cNvPr id="12" name="Spacer"/>
          <p:cNvSpPr/>
          <p:nvPr/>
        </p:nvSpPr>
        <p:spPr>
          <a:xfrm>
            <a:off x="4480560" y="1554480"/>
            <a:ext cx="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8595360" y="1554480"/>
            <a:ext cx="3017520" cy="2743200"/>
          </a:xfrm>
          <a:prstGeom prst="roundRect">
            <a:avLst>
              <a:gd name="adj" fmla="val 4000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886968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aUserTie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9659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692640" y="1783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Owner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869680" y="27432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owner can view the garages they belong to.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Staff see only their own garage’s work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notification for Garage A never reaches Garage B staff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Customers see only their own vehicles and jobs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Advanced branch / franchise management features are not part of the current product.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Security &amp; data control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TRUST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Icon FaKey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Authenticated access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user signs in; sessions use secure tokens.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355848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con FaUserShield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193167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Role-based permissions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People see and do what their role allows — enforced by the platform, not just the screen.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63056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391656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on FaBuilding" descr="Fa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93167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91656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Garage-level isolation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Customers, vehicles, staff, estimates, deliveries and payments stay within the garage.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8970264" y="155448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9198864" y="17830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Icon FaUserLock" descr="FaUser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54" y="1931670"/>
            <a:ext cx="297180" cy="2971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98864" y="2514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Customer ownership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2926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 only reach their own vehicles and jobs, even across several garages.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548640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Icon FaLock" descr="Fa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263390"/>
            <a:ext cx="297180" cy="2971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7240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Secure communication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app talks to the platform over secured APIs.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3355848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584448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2" name="Icon FaImages" descr="FaImag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038" y="4263390"/>
            <a:ext cx="297180" cy="29718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584448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Controlled media access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3584448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Photos and videos are private and opened with short-lived links.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6163056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6391656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7" name="Icon FaBell" descr="FaBe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0246" y="4263390"/>
            <a:ext cx="297180" cy="29718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391656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Notification ownership</a:t>
            </a:r>
            <a:endParaRPr lang="en-US" sz="1500" dirty="0"/>
          </a:p>
        </p:txBody>
      </p:sp>
      <p:sp>
        <p:nvSpPr>
          <p:cNvPr id="39" name="Text 29"/>
          <p:cNvSpPr txBox="1"/>
          <p:nvPr/>
        </p:nvSpPr>
        <p:spPr>
          <a:xfrm>
            <a:off x="6391656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You can only read and manage your own notifications.</a:t>
            </a:r>
            <a:endParaRPr lang="en-US" sz="1200" dirty="0"/>
          </a:p>
        </p:txBody>
      </p:sp>
      <p:sp>
        <p:nvSpPr>
          <p:cNvPr id="40" name="Card"/>
          <p:cNvSpPr/>
          <p:nvPr/>
        </p:nvSpPr>
        <p:spPr>
          <a:xfrm>
            <a:off x="8970264" y="3886200"/>
            <a:ext cx="26517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9198864" y="411480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2" name="Icon FaShieldAlt" descr="FaShiel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7454" y="4263390"/>
            <a:ext cx="297180" cy="29718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198864" y="4846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secrets in the app</a:t>
            </a:r>
            <a:endParaRPr lang="en-US" sz="1500" dirty="0"/>
          </a:p>
        </p:txBody>
      </p:sp>
      <p:sp>
        <p:nvSpPr>
          <p:cNvPr id="44" name="Text 33"/>
          <p:cNvSpPr txBox="1"/>
          <p:nvPr/>
        </p:nvSpPr>
        <p:spPr>
          <a:xfrm>
            <a:off x="9198864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Service credentials stay on the server.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foundation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BUILT ON PROVEN COMPONENTS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MobileAlt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Flutter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mobile app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55848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IconCircle"/>
          <p:cNvSpPr/>
          <p:nvPr/>
        </p:nvSpPr>
        <p:spPr>
          <a:xfrm>
            <a:off x="3584448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FaServer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20345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84448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Spring Boot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application platform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63056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Circle"/>
          <p:cNvSpPr/>
          <p:nvPr/>
        </p:nvSpPr>
        <p:spPr>
          <a:xfrm>
            <a:off x="6391656" y="1874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20345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91656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system of record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8970264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IconCircle"/>
          <p:cNvSpPr/>
          <p:nvPr/>
        </p:nvSpPr>
        <p:spPr>
          <a:xfrm>
            <a:off x="9198864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 FaBell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20345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98864" y="2651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Firebase Cloud Messaging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push notifications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Cloud" descr="Fa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7724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Cloudflare R2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media storage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3355848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IconCircle"/>
          <p:cNvSpPr/>
          <p:nvPr/>
        </p:nvSpPr>
        <p:spPr>
          <a:xfrm>
            <a:off x="3584448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loudUploadAlt" descr="FaCloudUploa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422910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3584448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hosting</a:t>
            </a:r>
            <a:endParaRPr 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6163056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IconCircle"/>
          <p:cNvSpPr/>
          <p:nvPr/>
        </p:nvSpPr>
        <p:spPr>
          <a:xfrm>
            <a:off x="6391656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con FaStream" descr="FaStream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229100"/>
            <a:ext cx="320040" cy="32004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39165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STOMP / WebSocket</a:t>
            </a:r>
            <a:endParaRPr lang="en-US" sz="1600" dirty="0"/>
          </a:p>
        </p:txBody>
      </p:sp>
      <p:sp>
        <p:nvSpPr>
          <p:cNvPr id="39" name="Text 29"/>
          <p:cNvSpPr txBox="1"/>
          <p:nvPr/>
        </p:nvSpPr>
        <p:spPr>
          <a:xfrm>
            <a:off x="6391656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live trip tracking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8970264" y="3840480"/>
            <a:ext cx="2651760" cy="192024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IconCircle"/>
          <p:cNvSpPr/>
          <p:nvPr/>
        </p:nvSpPr>
        <p:spPr>
          <a:xfrm>
            <a:off x="9198864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 FaMapMarkedAlt" descr="FaMapMarke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4229100"/>
            <a:ext cx="320040" cy="32004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19886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Maps &amp; routing services</a:t>
            </a:r>
            <a:endParaRPr lang="en-US" sz="1600" dirty="0"/>
          </a:p>
        </p:txBody>
      </p:sp>
      <p:sp>
        <p:nvSpPr>
          <p:cNvPr id="44" name="Text 33"/>
          <p:cNvSpPr txBox="1"/>
          <p:nvPr/>
        </p:nvSpPr>
        <p:spPr>
          <a:xfrm>
            <a:off x="9198864" y="5303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maps, routes, geocoding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everything connects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BIG PICTURE</a:t>
            </a:r>
            <a:endParaRPr lang="en-US" sz="1100" dirty="0"/>
          </a:p>
        </p:txBody>
      </p:sp>
      <p:sp>
        <p:nvSpPr>
          <p:cNvPr id="5" name="Customer / Staff"/>
          <p:cNvSpPr/>
          <p:nvPr/>
        </p:nvSpPr>
        <p:spPr>
          <a:xfrm>
            <a:off x="54864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/ Staff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customers · owners · managers · advisors · technicians · drivers</a:t>
            </a:r>
            <a:endParaRPr lang="en-US" sz="1600" dirty="0"/>
          </a:p>
        </p:txBody>
      </p:sp>
      <p:sp>
        <p:nvSpPr>
          <p:cNvPr id="7" name="GarageST mobile app"/>
          <p:cNvSpPr/>
          <p:nvPr/>
        </p:nvSpPr>
        <p:spPr>
          <a:xfrm>
            <a:off x="356616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GarageST mobile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Android</a:t>
            </a:r>
            <a:endParaRPr lang="en-US" sz="1600" dirty="0"/>
          </a:p>
        </p:txBody>
      </p:sp>
      <p:sp>
        <p:nvSpPr>
          <p:cNvPr id="9" name="GarageST backend"/>
          <p:cNvSpPr/>
          <p:nvPr/>
        </p:nvSpPr>
        <p:spPr>
          <a:xfrm>
            <a:off x="658368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GarageST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REST API · live trip</a:t>
            </a:r>
            <a:endParaRPr lang="en-US" sz="1600" dirty="0"/>
          </a:p>
        </p:txBody>
      </p:sp>
      <p:sp>
        <p:nvSpPr>
          <p:cNvPr id="11" name="PostgreSQL"/>
          <p:cNvSpPr/>
          <p:nvPr/>
        </p:nvSpPr>
        <p:spPr>
          <a:xfrm>
            <a:off x="9418320" y="1554480"/>
            <a:ext cx="2194560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41832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business workflow data</a:t>
            </a:r>
            <a:endParaRPr lang="en-US" sz="1600" dirty="0"/>
          </a:p>
        </p:txBody>
      </p:sp>
      <p:sp>
        <p:nvSpPr>
          <p:cNvPr id="13" name="Link"/>
          <p:cNvSpPr/>
          <p:nvPr/>
        </p:nvSpPr>
        <p:spPr>
          <a:xfrm>
            <a:off x="2926080" y="2011680"/>
            <a:ext cx="6400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Link"/>
          <p:cNvSpPr/>
          <p:nvPr/>
        </p:nvSpPr>
        <p:spPr>
          <a:xfrm>
            <a:off x="5943600" y="2011680"/>
            <a:ext cx="6400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Link"/>
          <p:cNvSpPr/>
          <p:nvPr/>
        </p:nvSpPr>
        <p:spPr>
          <a:xfrm>
            <a:off x="8961120" y="201168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Firebase Cloud Messaging"/>
          <p:cNvSpPr/>
          <p:nvPr/>
        </p:nvSpPr>
        <p:spPr>
          <a:xfrm>
            <a:off x="54864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Firebase Cloud Messaging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push notifications</a:t>
            </a:r>
            <a:endParaRPr lang="en-US" sz="1600" dirty="0"/>
          </a:p>
        </p:txBody>
      </p:sp>
      <p:sp>
        <p:nvSpPr>
          <p:cNvPr id="18" name="Cloudflare R2"/>
          <p:cNvSpPr/>
          <p:nvPr/>
        </p:nvSpPr>
        <p:spPr>
          <a:xfrm>
            <a:off x="338328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8328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Cloudflare R2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photos &amp; videos</a:t>
            </a:r>
            <a:endParaRPr lang="en-US" sz="1600" dirty="0"/>
          </a:p>
        </p:txBody>
      </p:sp>
      <p:sp>
        <p:nvSpPr>
          <p:cNvPr id="20" name="Maps &amp; routing"/>
          <p:cNvSpPr/>
          <p:nvPr/>
        </p:nvSpPr>
        <p:spPr>
          <a:xfrm>
            <a:off x="621792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Maps &amp; routing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trip maps and routes</a:t>
            </a:r>
            <a:endParaRPr lang="en-US" sz="1600" dirty="0"/>
          </a:p>
        </p:txBody>
      </p:sp>
      <p:sp>
        <p:nvSpPr>
          <p:cNvPr id="22" name="Render"/>
          <p:cNvSpPr/>
          <p:nvPr/>
        </p:nvSpPr>
        <p:spPr>
          <a:xfrm>
            <a:off x="9052560" y="384048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52560" y="384048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Render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hosting</a:t>
            </a:r>
            <a:endParaRPr lang="en-US" sz="1600" dirty="0"/>
          </a:p>
        </p:txBody>
      </p:sp>
      <p:sp>
        <p:nvSpPr>
          <p:cNvPr id="24" name="Support"/>
          <p:cNvSpPr/>
          <p:nvPr/>
        </p:nvSpPr>
        <p:spPr>
          <a:xfrm flipH="1">
            <a:off x="1828800" y="2468880"/>
            <a:ext cx="594360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5" name="Support"/>
          <p:cNvSpPr/>
          <p:nvPr/>
        </p:nvSpPr>
        <p:spPr>
          <a:xfrm flipH="1">
            <a:off x="4663440" y="2468880"/>
            <a:ext cx="310896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6" name="Support"/>
          <p:cNvSpPr/>
          <p:nvPr/>
        </p:nvSpPr>
        <p:spPr>
          <a:xfrm flipH="1">
            <a:off x="7498080" y="2468880"/>
            <a:ext cx="27432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7" name="Support"/>
          <p:cNvSpPr/>
          <p:nvPr/>
        </p:nvSpPr>
        <p:spPr>
          <a:xfrm>
            <a:off x="7772400" y="2468880"/>
            <a:ext cx="2560320" cy="137160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The backend owns the business rules; PostgreSQL is the source of truth; notifications, media, maps and hosting are supporting services.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Current product status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HONEST STATUS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6766560" cy="4526280"/>
          </a:xfrm>
          <a:prstGeom prst="roundRect">
            <a:avLst>
              <a:gd name="adj" fmla="val 2424"/>
            </a:avLst>
          </a:prstGeom>
          <a:solidFill>
            <a:srgbClr val="DCF5E9"/>
          </a:solidFill>
          <a:ln w="12700">
            <a:solidFill>
              <a:srgbClr val="DCF5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Available today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Booking, job-card workflow and role-based workspaces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Digital inspection, estimate and customer approval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Repair tasks, technician assignment, quality check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Invoicing, payments (full or partial) and branded invoice PDF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Cashier, accountant and inventory-manager workspaces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Customer garages: My Garages, default garage, nearby discovery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Pickup and delivery trips, live tracking, verified handover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Photos and videos as service evidence; final service reports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Push notifications and in-app history (validated on Android)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Garage-level isolation; owners can view their garages</a:t>
            </a:r>
            <a:endParaRPr lang="en-US" sz="1450" dirty="0"/>
          </a:p>
        </p:txBody>
      </p:sp>
      <p:sp>
        <p:nvSpPr>
          <p:cNvPr id="8" name="Card"/>
          <p:cNvSpPr/>
          <p:nvPr/>
        </p:nvSpPr>
        <p:spPr>
          <a:xfrm>
            <a:off x="7589520" y="1508760"/>
            <a:ext cx="4023360" cy="4526280"/>
          </a:xfrm>
          <a:prstGeom prst="roundRect">
            <a:avLst>
              <a:gd name="adj" fmla="val 2727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Not part of today’s product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2402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Online payment gateway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Refunds, voids and receipt PDFs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Supplier and purchase-order management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iOS push notifications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WhatsApp / e-mail verification codes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Notification preferences and quiet hours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Advanced branch / franchise management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120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Listed as roadmap candidates on the next slide — not commitments.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Roadmap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DIRECTIONS — NOT COMMITMENTS</a:t>
            </a:r>
            <a:endParaRPr lang="en-US" sz="1100" dirty="0"/>
          </a:p>
        </p:txBody>
      </p:sp>
      <p:sp>
        <p:nvSpPr>
          <p:cNvPr id="5" name="Phase Now"/>
          <p:cNvSpPr/>
          <p:nvPr/>
        </p:nvSpPr>
        <p:spPr>
          <a:xfrm>
            <a:off x="54864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Now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 the product today</a:t>
            </a:r>
            <a:endParaRPr lang="en-US" sz="2400" dirty="0"/>
          </a:p>
        </p:txBody>
      </p:sp>
      <p:sp>
        <p:nvSpPr>
          <p:cNvPr id="7" name="PhaseCard"/>
          <p:cNvSpPr/>
          <p:nvPr/>
        </p:nvSpPr>
        <p:spPr>
          <a:xfrm>
            <a:off x="54864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Complete service journey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Role-based workspaces incl. finance and inventory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Customer garages and nearby discovery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Live trips and handover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Push notifications on Android</a:t>
            </a:r>
            <a:endParaRPr lang="en-US" sz="1500" dirty="0"/>
          </a:p>
        </p:txBody>
      </p:sp>
      <p:sp>
        <p:nvSpPr>
          <p:cNvPr id="9" name="Phase Next"/>
          <p:cNvSpPr/>
          <p:nvPr/>
        </p:nvSpPr>
        <p:spPr>
          <a:xfrm>
            <a:off x="429768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Next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Candidate next steps</a:t>
            </a:r>
            <a:endParaRPr lang="en-US" sz="2400" dirty="0"/>
          </a:p>
        </p:txBody>
      </p:sp>
      <p:sp>
        <p:nvSpPr>
          <p:cNvPr id="11" name="PhaseCard"/>
          <p:cNvSpPr/>
          <p:nvPr/>
        </p:nvSpPr>
        <p:spPr>
          <a:xfrm>
            <a:off x="429768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iOS push notifications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Online payment gateway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Receipts and refunds</a:t>
            </a:r>
            <a:endParaRPr lang="en-US" sz="1500" dirty="0"/>
          </a:p>
        </p:txBody>
      </p:sp>
      <p:sp>
        <p:nvSpPr>
          <p:cNvPr id="13" name="Phase Future"/>
          <p:cNvSpPr/>
          <p:nvPr/>
        </p:nvSpPr>
        <p:spPr>
          <a:xfrm>
            <a:off x="8046720" y="1554480"/>
            <a:ext cx="356616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Future</a:t>
            </a:r>
            <a:endParaRPr lang="en-US" sz="2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Longer-term options</a:t>
            </a:r>
            <a:endParaRPr lang="en-US" sz="2400" dirty="0"/>
          </a:p>
        </p:txBody>
      </p:sp>
      <p:sp>
        <p:nvSpPr>
          <p:cNvPr id="15" name="PhaseCard"/>
          <p:cNvSpPr/>
          <p:nvPr/>
        </p:nvSpPr>
        <p:spPr>
          <a:xfrm>
            <a:off x="8046720" y="25603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12263D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0" y="278892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Supplier and purchase management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WhatsApp / e-mail channels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Notification preferences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Directions under consideration, each traceable to a known gap in today’s product; no dates or commitments are implied.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GarageST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SETS THE PRODUCT APART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 FaLink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6883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Connected service lifecycle</a:t>
            </a:r>
            <a:endParaRPr lang="en-US" sz="1450" dirty="0"/>
          </a:p>
        </p:txBody>
      </p:sp>
      <p:sp>
        <p:nvSpPr>
          <p:cNvPr id="9" name="Card"/>
          <p:cNvSpPr/>
          <p:nvPr/>
        </p:nvSpPr>
        <p:spPr>
          <a:xfrm>
            <a:off x="3355848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3538728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FaUsers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206883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70248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Role-based workflow</a:t>
            </a:r>
            <a:endParaRPr lang="en-US" sz="1450" dirty="0"/>
          </a:p>
        </p:txBody>
      </p:sp>
      <p:sp>
        <p:nvSpPr>
          <p:cNvPr id="13" name="Card"/>
          <p:cNvSpPr/>
          <p:nvPr/>
        </p:nvSpPr>
        <p:spPr>
          <a:xfrm>
            <a:off x="6163056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345936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526" y="2068830"/>
            <a:ext cx="297180" cy="2971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77456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Digital inspection</a:t>
            </a:r>
            <a:endParaRPr lang="en-US" sz="1450" dirty="0"/>
          </a:p>
        </p:txBody>
      </p:sp>
      <p:sp>
        <p:nvSpPr>
          <p:cNvPr id="17" name="Card"/>
          <p:cNvSpPr/>
          <p:nvPr/>
        </p:nvSpPr>
        <p:spPr>
          <a:xfrm>
            <a:off x="8970264" y="15087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9153144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 FaThumbsUp" descr="FaThumbs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734" y="2068830"/>
            <a:ext cx="297180" cy="2971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884664" y="15087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Approval workflow</a:t>
            </a:r>
            <a:endParaRPr lang="en-US" sz="1450" dirty="0"/>
          </a:p>
        </p:txBody>
      </p:sp>
      <p:sp>
        <p:nvSpPr>
          <p:cNvPr id="21" name="Card"/>
          <p:cNvSpPr/>
          <p:nvPr/>
        </p:nvSpPr>
        <p:spPr>
          <a:xfrm>
            <a:off x="548640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731520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 FaTools" descr="FaToo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669030"/>
            <a:ext cx="297180" cy="2971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463040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Repair task management</a:t>
            </a:r>
            <a:endParaRPr lang="en-US" sz="1450" dirty="0"/>
          </a:p>
        </p:txBody>
      </p:sp>
      <p:sp>
        <p:nvSpPr>
          <p:cNvPr id="25" name="Card"/>
          <p:cNvSpPr/>
          <p:nvPr/>
        </p:nvSpPr>
        <p:spPr>
          <a:xfrm>
            <a:off x="3355848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3538728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FaMapMarkedAlt" descr="FaMapMarked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318" y="3669030"/>
            <a:ext cx="297180" cy="2971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4270248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Live vehicle movement</a:t>
            </a:r>
            <a:endParaRPr lang="en-US" sz="1450" dirty="0"/>
          </a:p>
        </p:txBody>
      </p:sp>
      <p:sp>
        <p:nvSpPr>
          <p:cNvPr id="29" name="Card"/>
          <p:cNvSpPr/>
          <p:nvPr/>
        </p:nvSpPr>
        <p:spPr>
          <a:xfrm>
            <a:off x="6163056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6345936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 FaKey" descr="FaK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4526" y="3669030"/>
            <a:ext cx="297180" cy="29718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077456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Digital handover</a:t>
            </a:r>
            <a:endParaRPr lang="en-US" sz="1450" dirty="0"/>
          </a:p>
        </p:txBody>
      </p:sp>
      <p:sp>
        <p:nvSpPr>
          <p:cNvPr id="33" name="Card"/>
          <p:cNvSpPr/>
          <p:nvPr/>
        </p:nvSpPr>
        <p:spPr>
          <a:xfrm>
            <a:off x="8970264" y="31089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IconCircle"/>
          <p:cNvSpPr/>
          <p:nvPr/>
        </p:nvSpPr>
        <p:spPr>
          <a:xfrm>
            <a:off x="9153144" y="35204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 FaFileInvoiceDollar" descr="FaFileInvoiceDolla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1734" y="3669030"/>
            <a:ext cx="297180" cy="29718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884664" y="31089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Billing visibility</a:t>
            </a:r>
            <a:endParaRPr lang="en-US" sz="1450" dirty="0"/>
          </a:p>
        </p:txBody>
      </p:sp>
      <p:sp>
        <p:nvSpPr>
          <p:cNvPr id="37" name="Card"/>
          <p:cNvSpPr/>
          <p:nvPr/>
        </p:nvSpPr>
        <p:spPr>
          <a:xfrm>
            <a:off x="548640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IconCircle"/>
          <p:cNvSpPr/>
          <p:nvPr/>
        </p:nvSpPr>
        <p:spPr>
          <a:xfrm>
            <a:off x="731520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Icon FaBell" descr="FaBe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10" y="5269230"/>
            <a:ext cx="297180" cy="29718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463040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Proactive push notifications</a:t>
            </a:r>
            <a:endParaRPr lang="en-US" sz="1450" dirty="0"/>
          </a:p>
        </p:txBody>
      </p:sp>
      <p:sp>
        <p:nvSpPr>
          <p:cNvPr id="41" name="Card"/>
          <p:cNvSpPr/>
          <p:nvPr/>
        </p:nvSpPr>
        <p:spPr>
          <a:xfrm>
            <a:off x="3355848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IconCircle"/>
          <p:cNvSpPr/>
          <p:nvPr/>
        </p:nvSpPr>
        <p:spPr>
          <a:xfrm>
            <a:off x="3538728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3" name="Icon FaCamera" descr="FaCamera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7318" y="5269230"/>
            <a:ext cx="297180" cy="29718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4270248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Service evidence</a:t>
            </a:r>
            <a:endParaRPr lang="en-US" sz="1450" dirty="0"/>
          </a:p>
        </p:txBody>
      </p:sp>
      <p:sp>
        <p:nvSpPr>
          <p:cNvPr id="45" name="Card"/>
          <p:cNvSpPr/>
          <p:nvPr/>
        </p:nvSpPr>
        <p:spPr>
          <a:xfrm>
            <a:off x="6163056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IconCircle"/>
          <p:cNvSpPr/>
          <p:nvPr/>
        </p:nvSpPr>
        <p:spPr>
          <a:xfrm>
            <a:off x="6345936" y="5120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Icon FaEye" descr="FaEy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4526" y="5269230"/>
            <a:ext cx="297180" cy="29718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7077456" y="4709160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Customer transparency</a:t>
            </a:r>
            <a:endParaRPr lang="en-US" sz="1450" dirty="0"/>
          </a:p>
        </p:txBody>
      </p:sp>
      <p:sp>
        <p:nvSpPr>
          <p:cNvPr id="49" name="Card"/>
          <p:cNvSpPr/>
          <p:nvPr/>
        </p:nvSpPr>
        <p:spPr>
          <a:xfrm>
            <a:off x="8970264" y="4709160"/>
            <a:ext cx="2651760" cy="1417320"/>
          </a:xfrm>
          <a:prstGeom prst="roundRect">
            <a:avLst>
              <a:gd name="adj" fmla="val 774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9153144" y="4709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One connected platform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Getting a garage onto GarageST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ADOPTION PATH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IconCircle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 FaBuilding" descr="Fa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Garage setup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register the garage; staff join and are approved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348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IconCircle"/>
          <p:cNvSpPr/>
          <p:nvPr/>
        </p:nvSpPr>
        <p:spPr>
          <a:xfrm>
            <a:off x="452628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 FaUserCog" descr="FaUserC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9888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roles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34924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owner, managers, advisors, technicians, drivers, cashiers, accountants, inventory managers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18388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IconCircle"/>
          <p:cNvSpPr/>
          <p:nvPr/>
        </p:nvSpPr>
        <p:spPr>
          <a:xfrm>
            <a:off x="8275320" y="1828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FaProjectDiagram" descr="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988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982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 workflow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21214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guided job-card workflow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IconCircle"/>
          <p:cNvSpPr/>
          <p:nvPr/>
        </p:nvSpPr>
        <p:spPr>
          <a:xfrm>
            <a:off x="77724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FaListAlt" descr="FaList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5433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002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Inspection templates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60020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checklists for technicians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429768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443484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IconCircle"/>
          <p:cNvSpPr/>
          <p:nvPr/>
        </p:nvSpPr>
        <p:spPr>
          <a:xfrm>
            <a:off x="452628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con FaCar" descr="FaC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35433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34924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Customers &amp; vehicles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534924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added by staff or by customers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804672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18388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</p:txBody>
      </p:sp>
      <p:sp>
        <p:nvSpPr>
          <p:cNvPr id="37" name="IconCircle"/>
          <p:cNvSpPr/>
          <p:nvPr/>
        </p:nvSpPr>
        <p:spPr>
          <a:xfrm>
            <a:off x="8275320" y="3383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con FaUsers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354330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09828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Staff operations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9098280" y="36758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jobs, estimates, repairs, invoices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580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7</a:t>
            </a:r>
            <a:endParaRPr lang="en-US" sz="1100" dirty="0"/>
          </a:p>
        </p:txBody>
      </p:sp>
      <p:sp>
        <p:nvSpPr>
          <p:cNvPr id="43" name="IconCircle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Icon FaMobileAlt" descr="FaMobile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097780"/>
            <a:ext cx="320040" cy="32004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60020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experience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160020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customers register in the app</a:t>
            </a:r>
            <a:endParaRPr lang="en-US" sz="1200" dirty="0"/>
          </a:p>
        </p:txBody>
      </p:sp>
      <p:sp>
        <p:nvSpPr>
          <p:cNvPr id="47" name="Card"/>
          <p:cNvSpPr/>
          <p:nvPr/>
        </p:nvSpPr>
        <p:spPr>
          <a:xfrm>
            <a:off x="429768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443484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8</a:t>
            </a:r>
            <a:endParaRPr lang="en-US" sz="1100" dirty="0"/>
          </a:p>
        </p:txBody>
      </p:sp>
      <p:sp>
        <p:nvSpPr>
          <p:cNvPr id="49" name="IconCircle"/>
          <p:cNvSpPr/>
          <p:nvPr/>
        </p:nvSpPr>
        <p:spPr>
          <a:xfrm>
            <a:off x="4526280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0" name="Icon FaBell" descr="FaBe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5097780"/>
            <a:ext cx="320040" cy="32004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534924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52" name="Text 41"/>
          <p:cNvSpPr txBox="1"/>
          <p:nvPr/>
        </p:nvSpPr>
        <p:spPr>
          <a:xfrm>
            <a:off x="534924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enabled for the garage’s environment</a:t>
            </a:r>
            <a:endParaRPr lang="en-US" sz="1200" dirty="0"/>
          </a:p>
        </p:txBody>
      </p:sp>
      <p:sp>
        <p:nvSpPr>
          <p:cNvPr id="53" name="Card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8183880" y="46634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9</a:t>
            </a:r>
            <a:endParaRPr lang="en-US" sz="1100" dirty="0"/>
          </a:p>
        </p:txBody>
      </p:sp>
      <p:sp>
        <p:nvSpPr>
          <p:cNvPr id="55" name="IconCircle"/>
          <p:cNvSpPr/>
          <p:nvPr/>
        </p:nvSpPr>
        <p:spPr>
          <a:xfrm>
            <a:off x="8275320" y="4937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6" name="Icon FaRocket" descr="FaRocke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340" y="5097780"/>
            <a:ext cx="320040" cy="320040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9098280" y="4800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Go-live</a:t>
            </a:r>
            <a:endParaRPr lang="en-US" sz="1600" dirty="0"/>
          </a:p>
        </p:txBody>
      </p:sp>
      <p:sp>
        <p:nvSpPr>
          <p:cNvPr id="58" name="Text 46"/>
          <p:cNvSpPr txBox="1"/>
          <p:nvPr/>
        </p:nvSpPr>
        <p:spPr>
          <a:xfrm>
            <a:off x="9098280" y="52303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start running real jobs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Measuring success</a:t>
            </a:r>
            <a:endParaRPr lang="en-US" sz="3200" dirty="0"/>
          </a:p>
        </p:txBody>
      </p:sp>
      <p:sp>
        <p:nvSpPr>
          <p:cNvPr id="4" name="Kicker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POTENTIAL KPIS — NOT ACHIEVED RESULTS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Circle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 FaStopwatch" descr="FaStop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431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Job turnaround time</a:t>
            </a:r>
            <a:endParaRPr lang="en-US" sz="1550" dirty="0"/>
          </a:p>
        </p:txBody>
      </p:sp>
      <p:sp>
        <p:nvSpPr>
          <p:cNvPr id="9" name="Card"/>
          <p:cNvSpPr/>
          <p:nvPr/>
        </p:nvSpPr>
        <p:spPr>
          <a:xfrm>
            <a:off x="3355848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Circle"/>
          <p:cNvSpPr/>
          <p:nvPr/>
        </p:nvSpPr>
        <p:spPr>
          <a:xfrm>
            <a:off x="3584448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 FaThumbsUp" descr="Fa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468" y="19431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84448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Approval response time</a:t>
            </a:r>
            <a:endParaRPr lang="en-US" sz="1550" dirty="0"/>
          </a:p>
        </p:txBody>
      </p:sp>
      <p:sp>
        <p:nvSpPr>
          <p:cNvPr id="13" name="Card"/>
          <p:cNvSpPr/>
          <p:nvPr/>
        </p:nvSpPr>
        <p:spPr>
          <a:xfrm>
            <a:off x="6163056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Circle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 FaSearch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76" y="19431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91656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Inspection completion</a:t>
            </a:r>
            <a:endParaRPr lang="en-US" sz="1550" dirty="0"/>
          </a:p>
        </p:txBody>
      </p:sp>
      <p:sp>
        <p:nvSpPr>
          <p:cNvPr id="17" name="Card"/>
          <p:cNvSpPr/>
          <p:nvPr/>
        </p:nvSpPr>
        <p:spPr>
          <a:xfrm>
            <a:off x="8970264" y="155448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Circle"/>
          <p:cNvSpPr/>
          <p:nvPr/>
        </p:nvSpPr>
        <p:spPr>
          <a:xfrm>
            <a:off x="9198864" y="1783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con FaTools" descr="Fa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884" y="194310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198864" y="2560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Repair task completion</a:t>
            </a:r>
            <a:endParaRPr lang="en-US" sz="1550" dirty="0"/>
          </a:p>
        </p:txBody>
      </p:sp>
      <p:sp>
        <p:nvSpPr>
          <p:cNvPr id="21" name="Card"/>
          <p:cNvSpPr/>
          <p:nvPr/>
        </p:nvSpPr>
        <p:spPr>
          <a:xfrm>
            <a:off x="548640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Circle"/>
          <p:cNvSpPr/>
          <p:nvPr/>
        </p:nvSpPr>
        <p:spPr>
          <a:xfrm>
            <a:off x="777240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con FaTruck" descr="FaTru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9547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7724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Delivery turnaround</a:t>
            </a:r>
            <a:endParaRPr lang="en-US" sz="1550" dirty="0"/>
          </a:p>
        </p:txBody>
      </p:sp>
      <p:sp>
        <p:nvSpPr>
          <p:cNvPr id="25" name="Card"/>
          <p:cNvSpPr/>
          <p:nvPr/>
        </p:nvSpPr>
        <p:spPr>
          <a:xfrm>
            <a:off x="3355848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IconCircle"/>
          <p:cNvSpPr/>
          <p:nvPr/>
        </p:nvSpPr>
        <p:spPr>
          <a:xfrm>
            <a:off x="3584448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con FaBell" descr="FaBel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4468" y="395478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584448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Notification delivery &amp; read rate</a:t>
            </a:r>
            <a:endParaRPr lang="en-US" sz="1550" dirty="0"/>
          </a:p>
        </p:txBody>
      </p:sp>
      <p:sp>
        <p:nvSpPr>
          <p:cNvPr id="29" name="Card"/>
          <p:cNvSpPr/>
          <p:nvPr/>
        </p:nvSpPr>
        <p:spPr>
          <a:xfrm>
            <a:off x="6163056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Circle"/>
          <p:cNvSpPr/>
          <p:nvPr/>
        </p:nvSpPr>
        <p:spPr>
          <a:xfrm>
            <a:off x="6391656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1" name="Icon FaMobileAlt" descr="FaMobileAl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395478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391656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Customer digital engagement</a:t>
            </a:r>
            <a:endParaRPr lang="en-US" sz="1550" dirty="0"/>
          </a:p>
        </p:txBody>
      </p:sp>
      <p:sp>
        <p:nvSpPr>
          <p:cNvPr id="33" name="Card"/>
          <p:cNvSpPr/>
          <p:nvPr/>
        </p:nvSpPr>
        <p:spPr>
          <a:xfrm>
            <a:off x="8970264" y="356616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Circle"/>
          <p:cNvSpPr/>
          <p:nvPr/>
        </p:nvSpPr>
        <p:spPr>
          <a:xfrm>
            <a:off x="9198864" y="37947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5" name="Icon FaEye" descr="FaEy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884" y="3954780"/>
            <a:ext cx="320040" cy="32004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198864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Operational visibility</a:t>
            </a:r>
            <a:endParaRPr lang="en-US" sz="1550" dirty="0"/>
          </a:p>
        </p:txBody>
      </p:sp>
      <p:sp>
        <p:nvSpPr>
          <p:cNvPr id="37" name="Card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DF1C7"/>
          </a:solidFill>
          <a:ln w="12700">
            <a:solidFill>
              <a:srgbClr val="FDF1C7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These are measures a garage could track with GarageST. They are suggestions, not results achieved by any customer.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:/garagest_flutter/assets/branding/GarageST_Brand_Assets_v2/dark_mode/GarageST_Full_Logo_Dark_Mode_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05840"/>
            <a:ext cx="4480560" cy="151013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vehicle arrival to vehicle delivery —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one connected digital journey.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chemeClr val="bg1"/>
                </a:solidFill>
              </a:rPr>
              <a:t>TVASTRI  ·  GarageST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chemeClr val="tx1"/>
                </a:solidFill>
              </a:rPr>
              <a:t>Finance and inventory workspaces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100" b="1" spc="200">
                <a:solidFill>
                  <a:schemeClr val="accent1"/>
                </a:solidFill>
              </a:rPr>
              <a:t>FOR THE BACK OFFICE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9" name="TextBox 26"/>
          <p:cNvSpPr txBox="1"/>
          <p:nvPr/>
        </p:nvSpPr>
        <p:spPr>
          <a:xfrm>
            <a:off x="1645919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Cashier</a:t>
            </a:r>
          </a:p>
        </p:txBody>
      </p:sp>
      <p:sp>
        <p:nvSpPr>
          <p:cNvPr id="10" name="TextBox 27"/>
          <p:cNvSpPr txBox="1"/>
          <p:nvPr/>
        </p:nvSpPr>
        <p:spPr>
          <a:xfrm>
            <a:off x="822959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Invoices ready for payment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Full or part payments by cash, UPI, card or bank transfer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Protection against double payments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Today's collection and payment history</a:t>
            </a:r>
          </a:p>
        </p:txBody>
      </p:sp>
      <p:sp>
        <p:nvSpPr>
          <p:cNvPr id="11" name="Card"/>
          <p:cNvSpPr/>
          <p:nvPr/>
        </p:nvSpPr>
        <p:spPr>
          <a:xfrm>
            <a:off x="429768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45262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20240"/>
            <a:ext cx="365760" cy="365760"/>
          </a:xfrm>
          <a:prstGeom prst="rect">
            <a:avLst/>
          </a:prstGeom>
        </p:spPr>
      </p:pic>
      <p:sp>
        <p:nvSpPr>
          <p:cNvPr id="14" name="TextBox 29"/>
          <p:cNvSpPr txBox="1"/>
          <p:nvPr/>
        </p:nvSpPr>
        <p:spPr>
          <a:xfrm>
            <a:off x="539496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Accountant</a:t>
            </a:r>
          </a:p>
        </p:txBody>
      </p:sp>
      <p:sp>
        <p:nvSpPr>
          <p:cNvPr id="15" name="TextBox 30"/>
          <p:cNvSpPr txBox="1"/>
          <p:nvPr/>
        </p:nvSpPr>
        <p:spPr>
          <a:xfrm>
            <a:off x="457200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Review payments and transactions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Outstanding amounts at a glance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Payment-method summary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GST and invoice summary by period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View-only: reviews, never collects</a:t>
            </a:r>
          </a:p>
        </p:txBody>
      </p:sp>
      <p:sp>
        <p:nvSpPr>
          <p:cNvPr id="16" name="Card"/>
          <p:cNvSpPr/>
          <p:nvPr/>
        </p:nvSpPr>
        <p:spPr>
          <a:xfrm>
            <a:off x="804672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827532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920240"/>
            <a:ext cx="365760" cy="365760"/>
          </a:xfrm>
          <a:prstGeom prst="rect">
            <a:avLst/>
          </a:prstGeom>
        </p:spPr>
      </p:pic>
      <p:sp>
        <p:nvSpPr>
          <p:cNvPr id="19" name="TextBox 32"/>
          <p:cNvSpPr txBox="1"/>
          <p:nvPr/>
        </p:nvSpPr>
        <p:spPr>
          <a:xfrm>
            <a:off x="914400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Inventory manager</a:t>
            </a:r>
          </a:p>
        </p:txBody>
      </p:sp>
      <p:sp>
        <p:nvSpPr>
          <p:cNvPr id="20" name="TextBox 33"/>
          <p:cNvSpPr txBox="1"/>
          <p:nvPr/>
        </p:nvSpPr>
        <p:spPr>
          <a:xfrm>
            <a:off x="832104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Parts catalogue with stock levels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Stock in, stock out and adjustments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Movement history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Low-stock and out-of-stock lists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Issue parts against a job card</a:t>
            </a:r>
          </a:p>
        </p:txBody>
      </p:sp>
      <p:sp>
        <p:nvSpPr>
          <p:cNvPr id="21" name="TextBox 3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chemeClr val="tx1"/>
                </a:solidFill>
              </a:rPr>
              <a:t>Each role gets its own workspace. What each person can actually do is enforced by the platform.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chemeClr val="tx1"/>
                </a:solidFill>
              </a:rPr>
              <a:t>Service report and branded invoice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100" b="1" spc="200">
                <a:solidFill>
                  <a:schemeClr val="accent1"/>
                </a:solidFill>
              </a:rPr>
              <a:t>DOCUMENTS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5440680" cy="39319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9" name="TextBox 26"/>
          <p:cNvSpPr txBox="1"/>
          <p:nvPr/>
        </p:nvSpPr>
        <p:spPr>
          <a:xfrm>
            <a:off x="1645919" y="17373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Final service report</a:t>
            </a:r>
          </a:p>
        </p:txBody>
      </p:sp>
      <p:sp>
        <p:nvSpPr>
          <p:cNvPr id="10" name="TextBox 27"/>
          <p:cNvSpPr txBox="1"/>
          <p:nvPr/>
        </p:nvSpPr>
        <p:spPr>
          <a:xfrm>
            <a:off x="822959" y="2697480"/>
            <a:ext cx="493776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Created automatically when a job is closed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 customer version and a garage (owner) version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The customer version leaves out internal notes and internal photos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Delivered as a PDF; e-mailed when e-mail is enabled for the garage</a:t>
            </a:r>
          </a:p>
        </p:txBody>
      </p:sp>
      <p:sp>
        <p:nvSpPr>
          <p:cNvPr id="11" name="Card"/>
          <p:cNvSpPr/>
          <p:nvPr/>
        </p:nvSpPr>
        <p:spPr>
          <a:xfrm>
            <a:off x="6172200" y="1508760"/>
            <a:ext cx="5440680" cy="39319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4" name="TextBox 29"/>
          <p:cNvSpPr txBox="1"/>
          <p:nvPr/>
        </p:nvSpPr>
        <p:spPr>
          <a:xfrm>
            <a:off x="7269480" y="1737360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Branded invoice</a:t>
            </a:r>
          </a:p>
        </p:txBody>
      </p:sp>
      <p:sp>
        <p:nvSpPr>
          <p:cNvPr id="15" name="TextBox 30"/>
          <p:cNvSpPr txBox="1"/>
          <p:nvPr/>
        </p:nvSpPr>
        <p:spPr>
          <a:xfrm>
            <a:off x="6446520" y="2697480"/>
            <a:ext cx="493776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Garage name and logo up front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Clear itemised amounts with GST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Payment status shown on the invoice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Page numbers and a tidy one-page layout for normal invoices</a:t>
            </a:r>
          </a:p>
        </p:txBody>
      </p:sp>
      <p:sp>
        <p:nvSpPr>
          <p:cNvPr id="16" name="TextBox 31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chemeClr val="tx1"/>
                </a:solidFill>
              </a:rPr>
              <a:t>Documents are produced from the same records the team works with — nothing is typed twice.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chemeClr val="tx1"/>
                </a:solidFill>
              </a:rPr>
              <a:t>One customer, more than one garage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100" b="1" spc="200">
                <a:solidFill>
                  <a:schemeClr val="accent1"/>
                </a:solidFill>
              </a:rPr>
              <a:t>MY GARAGES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9" name="TextBox 26"/>
          <p:cNvSpPr txBox="1"/>
          <p:nvPr/>
        </p:nvSpPr>
        <p:spPr>
          <a:xfrm>
            <a:off x="1645919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My Garages</a:t>
            </a:r>
          </a:p>
        </p:txBody>
      </p:sp>
      <p:sp>
        <p:nvSpPr>
          <p:cNvPr id="10" name="TextBox 27"/>
          <p:cNvSpPr txBox="1"/>
          <p:nvPr/>
        </p:nvSpPr>
        <p:spPr>
          <a:xfrm>
            <a:off x="822959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The garages that already look after your vehicles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Your favourite is marked as the default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Booking starts from your default garage</a:t>
            </a:r>
          </a:p>
        </p:txBody>
      </p:sp>
      <p:sp>
        <p:nvSpPr>
          <p:cNvPr id="11" name="Card"/>
          <p:cNvSpPr/>
          <p:nvPr/>
        </p:nvSpPr>
        <p:spPr>
          <a:xfrm>
            <a:off x="429768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45262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20240"/>
            <a:ext cx="365760" cy="365760"/>
          </a:xfrm>
          <a:prstGeom prst="rect">
            <a:avLst/>
          </a:prstGeom>
        </p:spPr>
      </p:pic>
      <p:sp>
        <p:nvSpPr>
          <p:cNvPr id="14" name="TextBox 29"/>
          <p:cNvSpPr txBox="1"/>
          <p:nvPr/>
        </p:nvSpPr>
        <p:spPr>
          <a:xfrm>
            <a:off x="539496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Find another garage</a:t>
            </a:r>
          </a:p>
        </p:txBody>
      </p:sp>
      <p:sp>
        <p:nvSpPr>
          <p:cNvPr id="15" name="TextBox 30"/>
          <p:cNvSpPr txBox="1"/>
          <p:nvPr/>
        </p:nvSpPr>
        <p:spPr>
          <a:xfrm>
            <a:off x="457200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Your choice, never pushed on you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Active garages near you, nearest first, with real distances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About 40 km by default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No location? Choose one on the map</a:t>
            </a:r>
          </a:p>
        </p:txBody>
      </p:sp>
      <p:sp>
        <p:nvSpPr>
          <p:cNvPr id="16" name="Card"/>
          <p:cNvSpPr/>
          <p:nvPr/>
        </p:nvSpPr>
        <p:spPr>
          <a:xfrm>
            <a:off x="804672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827532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920240"/>
            <a:ext cx="365760" cy="365760"/>
          </a:xfrm>
          <a:prstGeom prst="rect">
            <a:avLst/>
          </a:prstGeom>
        </p:spPr>
      </p:pic>
      <p:sp>
        <p:nvSpPr>
          <p:cNvPr id="19" name="TextBox 32"/>
          <p:cNvSpPr txBox="1"/>
          <p:nvPr/>
        </p:nvSpPr>
        <p:spPr>
          <a:xfrm>
            <a:off x="914400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You stay in control</a:t>
            </a:r>
          </a:p>
        </p:txBody>
      </p:sp>
      <p:sp>
        <p:nvSpPr>
          <p:cNvPr id="20" name="TextBox 33"/>
          <p:cNvSpPr txBox="1"/>
          <p:nvPr/>
        </p:nvSpPr>
        <p:spPr>
          <a:xfrm>
            <a:off x="832104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Browsing never adds a garage to your list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 garage joins when it registers you, services your vehicle or confirms a booking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Your history stays with you across garages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8640" y="5029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chemeClr val="tx1"/>
                </a:solidFill>
              </a:rPr>
              <a:t>Verified sign-up and secure handover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100" b="1" spc="200">
                <a:solidFill>
                  <a:schemeClr val="accent1"/>
                </a:solidFill>
              </a:rPr>
              <a:t>TRUST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6" name="Card"/>
          <p:cNvSpPr/>
          <p:nvPr/>
        </p:nvSpPr>
        <p:spPr>
          <a:xfrm>
            <a:off x="54864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Circle"/>
          <p:cNvSpPr/>
          <p:nvPr/>
        </p:nvSpPr>
        <p:spPr>
          <a:xfrm>
            <a:off x="7772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20240"/>
            <a:ext cx="365760" cy="365760"/>
          </a:xfrm>
          <a:prstGeom prst="rect">
            <a:avLst/>
          </a:prstGeom>
        </p:spPr>
      </p:pic>
      <p:sp>
        <p:nvSpPr>
          <p:cNvPr id="9" name="TextBox 26"/>
          <p:cNvSpPr txBox="1"/>
          <p:nvPr/>
        </p:nvSpPr>
        <p:spPr>
          <a:xfrm>
            <a:off x="1645919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SMS verification</a:t>
            </a:r>
          </a:p>
        </p:txBody>
      </p:sp>
      <p:sp>
        <p:nvSpPr>
          <p:cNvPr id="10" name="TextBox 27"/>
          <p:cNvSpPr txBox="1"/>
          <p:nvPr/>
        </p:nvSpPr>
        <p:spPr>
          <a:xfrm>
            <a:off x="822959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 one-time code confirms the mobile number at registration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Codes expire quickly and are limited per number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Available when switched on for the deployment</a:t>
            </a:r>
          </a:p>
        </p:txBody>
      </p:sp>
      <p:sp>
        <p:nvSpPr>
          <p:cNvPr id="11" name="Card"/>
          <p:cNvSpPr/>
          <p:nvPr/>
        </p:nvSpPr>
        <p:spPr>
          <a:xfrm>
            <a:off x="429768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Circle"/>
          <p:cNvSpPr/>
          <p:nvPr/>
        </p:nvSpPr>
        <p:spPr>
          <a:xfrm>
            <a:off x="45262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920240"/>
            <a:ext cx="365760" cy="365760"/>
          </a:xfrm>
          <a:prstGeom prst="rect">
            <a:avLst/>
          </a:prstGeom>
        </p:spPr>
      </p:pic>
      <p:sp>
        <p:nvSpPr>
          <p:cNvPr id="14" name="TextBox 29"/>
          <p:cNvSpPr txBox="1"/>
          <p:nvPr/>
        </p:nvSpPr>
        <p:spPr>
          <a:xfrm>
            <a:off x="539496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Handover code</a:t>
            </a:r>
          </a:p>
        </p:txBody>
      </p:sp>
      <p:sp>
        <p:nvSpPr>
          <p:cNvPr id="15" name="TextBox 30"/>
          <p:cNvSpPr txBox="1"/>
          <p:nvPr/>
        </p:nvSpPr>
        <p:spPr>
          <a:xfrm>
            <a:off x="457200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The customer shows a code at pickup and delivery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The driver confirms it before the vehicle moves on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Photos record the vehicle’s condition</a:t>
            </a:r>
          </a:p>
        </p:txBody>
      </p:sp>
      <p:sp>
        <p:nvSpPr>
          <p:cNvPr id="16" name="Card"/>
          <p:cNvSpPr/>
          <p:nvPr/>
        </p:nvSpPr>
        <p:spPr>
          <a:xfrm>
            <a:off x="8046720" y="1508760"/>
            <a:ext cx="3611880" cy="4160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Circle"/>
          <p:cNvSpPr/>
          <p:nvPr/>
        </p:nvSpPr>
        <p:spPr>
          <a:xfrm>
            <a:off x="827532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920240"/>
            <a:ext cx="365760" cy="365760"/>
          </a:xfrm>
          <a:prstGeom prst="rect">
            <a:avLst/>
          </a:prstGeom>
        </p:spPr>
      </p:pic>
      <p:sp>
        <p:nvSpPr>
          <p:cNvPr id="19" name="TextBox 32"/>
          <p:cNvSpPr txBox="1"/>
          <p:nvPr/>
        </p:nvSpPr>
        <p:spPr>
          <a:xfrm>
            <a:off x="9144000" y="173736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chemeClr val="tx1"/>
                </a:solidFill>
              </a:rPr>
              <a:t>Private by design</a:t>
            </a:r>
          </a:p>
        </p:txBody>
      </p:sp>
      <p:sp>
        <p:nvSpPr>
          <p:cNvPr id="20" name="TextBox 33"/>
          <p:cNvSpPr txBox="1"/>
          <p:nvPr/>
        </p:nvSpPr>
        <p:spPr>
          <a:xfrm>
            <a:off x="8321040" y="2697480"/>
            <a:ext cx="3108960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Customers only reach their own vehicles and jobs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Garages only reach their own customers and vehicles</a:t>
            </a:r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sz="1600" b="0">
                <a:solidFill>
                  <a:schemeClr val="tx1"/>
                </a:solidFill>
              </a:rPr>
              <a:t>Owners see the garages they belong 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rageST">
  <a:themeElements>
    <a:clrScheme name="GarageST">
      <a:dk1>
        <a:srgbClr val="051C32"/>
      </a:dk1>
      <a:lt1>
        <a:srgbClr val="FFFFFF"/>
      </a:lt1>
      <a:dk2>
        <a:srgbClr val="0B1220"/>
      </a:dk2>
      <a:lt2>
        <a:srgbClr val="F3F6F9"/>
      </a:lt2>
      <a:accent1>
        <a:srgbClr val="129465"/>
      </a:accent1>
      <a:accent2>
        <a:srgbClr val="1D4ED8"/>
      </a:accent2>
      <a:accent3>
        <a:srgbClr val="B45309"/>
      </a:accent3>
      <a:accent4>
        <a:srgbClr val="475569"/>
      </a:accent4>
      <a:accent5>
        <a:srgbClr val="7FE0B6"/>
      </a:accent5>
      <a:accent6>
        <a:srgbClr val="DBEAFE"/>
      </a:accent6>
      <a:hlink>
        <a:srgbClr val="1D4ED8"/>
      </a:hlink>
      <a:folHlink>
        <a:srgbClr val="475569"/>
      </a:folHlink>
    </a:clrScheme>
    <a:fontScheme name="GarageS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TVASTRI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GarageST — Smart Garage Management Platform</dc:title>
  <dc:subject>PptxGenJS Presentation</dc:subject>
  <dc:creator>TVASTRI</dc:creator>
  <cp:lastModifiedBy>TVASTRI</cp:lastModifiedBy>
  <cp:revision>1</cp:revision>
  <dcterms:created xsi:type="dcterms:W3CDTF">2026-10-02T07:57:34Z</dcterms:created>
  <dcterms:modified xsi:type="dcterms:W3CDTF">2026-10-02T07:57:34Z</dcterms:modified>
</cp:coreProperties>
</file>