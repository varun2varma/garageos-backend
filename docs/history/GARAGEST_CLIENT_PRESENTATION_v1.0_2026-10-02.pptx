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Screenshots are real GarageST app screens.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operational challenges in manual workshop operations; no statistics are claimed.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platform, six roles, all connected around the same vehicle and job.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Counts: 6 roles (owner, manager, service advisor, technician, driver, customer) as personas; 32 notification events; 12 journey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Lifecycle as implemented in the job-card workflow and trip/booking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Job Card is the central operational record; all activity links to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 capabilities confirmed in the customer portal screens, booking, journey and notification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Inspection checklist templates, findings and evidence media exist in the product (inspection master, findings, media modules).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 approves or rejects; repair starts only after the manager confirms (Customer approval vs manager confirmation).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Job Card state and Repair Task state are separate machines. Screenshot: technician assignments (real app).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QC pass moves the job on; QC fail returns it for rework (tasks reset).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online payment gateway is implemented: payment is recorded in GarageST.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Pickup request, driver assignment, trip lifecycle and handover. Screenshots: pickup location selection and driver dashboard (real app).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screenshot: Live Trip Map with route, distance and ETA. Driver location streams over STOMP/WebSocket; REST fallback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Handover verification code is generated for the customer and verified by the driver; it is not a login OTP.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Ready for delivery -&gt; delivery request/trip -&gt; verified handover -&gt; delivered -&gt; closed.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feature. 32 events in the matrix; categories derived from the implemented event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Recipients per the implemented resolver; Accountant/Cashier/Inventory manager receive no automatic notifications.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drawing using actual notification wording. Physically validated on Android by the product owner.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list; the real screen shows title, message, relative time, unread dot, mark read, mark all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notifications only today; SMS/WhatsApp are not part of the current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Direct-to-R2 upload, evidence + thumbnail, GPS/time stamping; customers can view job media.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screenshots: customer home, manager dashboard, driver dashboard, technician assignments.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Operational benefits supported by implemented capabilities; no ROI figures claimed.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Manager / service advisor capabilities.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screenshot: technician job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screenshot: driver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 benefits; service history = the customer’s job card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Garage-scoped users and notification isolation are implemented; owners can view more than one garage. Enterprise branch management is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High-level, client-safe summary of implemented controls.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technologies confirmed in the current implementation.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Simplified architecture. Flutter app, REST API, live trip over WebSocket, PostgreSQL, supporting services.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Status terms: IMPLEMENTED, PHYSICALLY VALIDATED (notifications on Android), NOT IMPLEMENTED /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dates. Candidates only; basis: iOS parked, payment gateway deferred in code, messaging channel stub, preferences not 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Factual product characteristics only; no superlatives or comparisons.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Steps supported by the product: garage registration/join, roles, inspection templates, customers/vehicles, customer app registration, notifications enabled by configuration.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Potential KPIs, not achieved results. No customer results are claimed.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Closing. No contact details were supplied, so none are shown.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/garagest_flutter/assets/branding/GarageST_Brand_Assets_v2/mark/GarageST_Mark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GarageST  ·  TVASTRI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7120" y="274320"/>
            <a:ext cx="64008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</p:spPr>
      </p:sp>
      <p:pic>
        <p:nvPicPr>
          <p:cNvPr id="3" name="Image 0" descr="D:/garagest_flutter/assets/branding/GarageST_Brand_Assets_v2/mark/GarageST_Mark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3657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GarageST  ·  TVASTRI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image" Target="../media/image-30-7.png"/><Relationship Id="rId8" Type="http://schemas.openxmlformats.org/officeDocument/2006/relationships/image" Target="../media/image-30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image" Target="../media/image-31-6.png"/><Relationship Id="rId7" Type="http://schemas.openxmlformats.org/officeDocument/2006/relationships/image" Target="../media/image-31-7.png"/><Relationship Id="rId8" Type="http://schemas.openxmlformats.org/officeDocument/2006/relationships/image" Target="../media/image-31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image" Target="../media/image-35-5.png"/><Relationship Id="rId6" Type="http://schemas.openxmlformats.org/officeDocument/2006/relationships/image" Target="../media/image-35-6.png"/><Relationship Id="rId7" Type="http://schemas.openxmlformats.org/officeDocument/2006/relationships/image" Target="../media/image-35-7.png"/><Relationship Id="rId8" Type="http://schemas.openxmlformats.org/officeDocument/2006/relationships/image" Target="../media/image-35-8.png"/><Relationship Id="rId9" Type="http://schemas.openxmlformats.org/officeDocument/2006/relationships/image" Target="../media/image-35-9.png"/><Relationship Id="rId10" Type="http://schemas.openxmlformats.org/officeDocument/2006/relationships/image" Target="../media/image-35-10.png"/><Relationship Id="rId11" Type="http://schemas.openxmlformats.org/officeDocument/2006/relationships/image" Target="../media/image-35-11.png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image" Target="../media/image-36-5.png"/><Relationship Id="rId6" Type="http://schemas.openxmlformats.org/officeDocument/2006/relationships/image" Target="../media/image-36-6.png"/><Relationship Id="rId7" Type="http://schemas.openxmlformats.org/officeDocument/2006/relationships/image" Target="../media/image-36-7.png"/><Relationship Id="rId8" Type="http://schemas.openxmlformats.org/officeDocument/2006/relationships/image" Target="../media/image-36-8.png"/><Relationship Id="rId9" Type="http://schemas.openxmlformats.org/officeDocument/2006/relationships/image" Target="../media/image-36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image" Target="../media/image-37-5.png"/><Relationship Id="rId6" Type="http://schemas.openxmlformats.org/officeDocument/2006/relationships/image" Target="../media/image-37-6.png"/><Relationship Id="rId7" Type="http://schemas.openxmlformats.org/officeDocument/2006/relationships/image" Target="../media/image-37-7.png"/><Relationship Id="rId8" Type="http://schemas.openxmlformats.org/officeDocument/2006/relationships/image" Target="../media/image-37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D:/garagest_flutter/assets/branding/GarageST_Brand_Assets_v2/dark_mode/GarageST_Full_Logo_Dark_Mode_Saf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4023360" cy="135603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228600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GarageST</a:t>
            </a:r>
            <a:endParaRPr lang="en-US" sz="60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320040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accent5"/>
                </a:solidFill>
              </a:rPr>
              <a:t>Smart Garage Management Platform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886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Digitizing the complete vehicle service journey.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6035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bg1"/>
                </a:solidFill>
              </a:rPr>
              <a:t>TVASTRI</a:t>
            </a:r>
            <a:endParaRPr lang="en-US" sz="1400" dirty="0"/>
          </a:p>
        </p:txBody>
      </p:sp>
      <p:pic>
        <p:nvPicPr>
          <p:cNvPr id="7" name="Screenshot 02" descr="GarageST app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737360"/>
            <a:ext cx="2504360" cy="4206240"/>
          </a:xfrm>
          <a:prstGeom prst="rect">
            <a:avLst/>
          </a:prstGeom>
        </p:spPr>
      </p:pic>
      <p:pic>
        <p:nvPicPr>
          <p:cNvPr id="8" name="Screenshot 03" descr="GarageST app screensho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097280"/>
            <a:ext cx="2504360" cy="4206240"/>
          </a:xfrm>
          <a:prstGeom prst="rect">
            <a:avLst/>
          </a:prstGeom>
        </p:spPr>
      </p:pic>
      <p:pic>
        <p:nvPicPr>
          <p:cNvPr id="9" name="Screenshot 04" descr="GarageST app screensho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0" y="2011680"/>
            <a:ext cx="250436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garage today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THE STARTING POINT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Running a workshop on paper, calls and memory makes the same problems repeat.</a:t>
            </a:r>
            <a:endParaRPr lang="en-US" sz="1800" dirty="0"/>
          </a:p>
        </p:txBody>
      </p:sp>
      <p:sp>
        <p:nvSpPr>
          <p:cNvPr id="6" name="Card"/>
          <p:cNvSpPr/>
          <p:nvPr/>
        </p:nvSpPr>
        <p:spPr>
          <a:xfrm>
            <a:off x="548640" y="2103120"/>
            <a:ext cx="265176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IconCircle"/>
          <p:cNvSpPr/>
          <p:nvPr/>
        </p:nvSpPr>
        <p:spPr>
          <a:xfrm>
            <a:off x="777240" y="233172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8" name="Icon FaClipboardList" descr="FaClipboardLi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491740"/>
            <a:ext cx="320040" cy="320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77240" y="31089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Manual job tracking</a:t>
            </a:r>
            <a:endParaRPr 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3355848" y="2103120"/>
            <a:ext cx="265176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Circle"/>
          <p:cNvSpPr/>
          <p:nvPr/>
        </p:nvSpPr>
        <p:spPr>
          <a:xfrm>
            <a:off x="3584448" y="233172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Icon FaCommentDots" descr="FaCommentDo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4468" y="249174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584448" y="31089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Scattered customer communication</a:t>
            </a:r>
            <a:endParaRPr lang="en-US" sz="1500" dirty="0"/>
          </a:p>
        </p:txBody>
      </p:sp>
      <p:sp>
        <p:nvSpPr>
          <p:cNvPr id="14" name="Card"/>
          <p:cNvSpPr/>
          <p:nvPr/>
        </p:nvSpPr>
        <p:spPr>
          <a:xfrm>
            <a:off x="6163056" y="2103120"/>
            <a:ext cx="265176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Circle"/>
          <p:cNvSpPr/>
          <p:nvPr/>
        </p:nvSpPr>
        <p:spPr>
          <a:xfrm>
            <a:off x="6391656" y="233172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6" name="Icon FaFileAlt" descr="FaFileA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76" y="249174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391656" y="31089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Paper and checklist dependency</a:t>
            </a:r>
            <a:endParaRPr lang="en-US" sz="1500" dirty="0"/>
          </a:p>
        </p:txBody>
      </p:sp>
      <p:sp>
        <p:nvSpPr>
          <p:cNvPr id="18" name="Card"/>
          <p:cNvSpPr/>
          <p:nvPr/>
        </p:nvSpPr>
        <p:spPr>
          <a:xfrm>
            <a:off x="8970264" y="2103120"/>
            <a:ext cx="265176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Circle"/>
          <p:cNvSpPr/>
          <p:nvPr/>
        </p:nvSpPr>
        <p:spPr>
          <a:xfrm>
            <a:off x="9198864" y="233172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0" name="Icon FaHourglassHalf" descr="FaHourglassHalf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8884" y="249174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198864" y="31089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Delayed approvals</a:t>
            </a:r>
            <a:endParaRPr lang="en-US" sz="1500" dirty="0"/>
          </a:p>
        </p:txBody>
      </p:sp>
      <p:sp>
        <p:nvSpPr>
          <p:cNvPr id="22" name="Card"/>
          <p:cNvSpPr/>
          <p:nvPr/>
        </p:nvSpPr>
        <p:spPr>
          <a:xfrm>
            <a:off x="548640" y="4023360"/>
            <a:ext cx="265176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IconCircle"/>
          <p:cNvSpPr/>
          <p:nvPr/>
        </p:nvSpPr>
        <p:spPr>
          <a:xfrm>
            <a:off x="777240" y="425196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4" name="Icon FaQuestionCircle" descr="FaQuestionCirc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" y="44119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777240" y="5029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Unclear repair status</a:t>
            </a:r>
            <a:endParaRPr lang="en-US" sz="1500" dirty="0"/>
          </a:p>
        </p:txBody>
      </p:sp>
      <p:sp>
        <p:nvSpPr>
          <p:cNvPr id="26" name="Card"/>
          <p:cNvSpPr/>
          <p:nvPr/>
        </p:nvSpPr>
        <p:spPr>
          <a:xfrm>
            <a:off x="3355848" y="4023360"/>
            <a:ext cx="265176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IconCircle"/>
          <p:cNvSpPr/>
          <p:nvPr/>
        </p:nvSpPr>
        <p:spPr>
          <a:xfrm>
            <a:off x="3584448" y="425196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8" name="Icon FaPhoneSlash" descr="FaPhoneSlash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4468" y="44119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3584448" y="5029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Communication gaps</a:t>
            </a:r>
            <a:endParaRPr lang="en-US" sz="1500" dirty="0"/>
          </a:p>
        </p:txBody>
      </p:sp>
      <p:sp>
        <p:nvSpPr>
          <p:cNvPr id="30" name="Card"/>
          <p:cNvSpPr/>
          <p:nvPr/>
        </p:nvSpPr>
        <p:spPr>
          <a:xfrm>
            <a:off x="6163056" y="4023360"/>
            <a:ext cx="265176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IconCircle"/>
          <p:cNvSpPr/>
          <p:nvPr/>
        </p:nvSpPr>
        <p:spPr>
          <a:xfrm>
            <a:off x="6391656" y="425196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2" name="Icon FaTruck" descr="FaTru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1676" y="44119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6391656" y="5029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Pickup and delivery coordination</a:t>
            </a:r>
            <a:endParaRPr lang="en-US" sz="1500" dirty="0"/>
          </a:p>
        </p:txBody>
      </p:sp>
      <p:sp>
        <p:nvSpPr>
          <p:cNvPr id="34" name="Card"/>
          <p:cNvSpPr/>
          <p:nvPr/>
        </p:nvSpPr>
        <p:spPr>
          <a:xfrm>
            <a:off x="8970264" y="4023360"/>
            <a:ext cx="265176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IconCircle"/>
          <p:cNvSpPr/>
          <p:nvPr/>
        </p:nvSpPr>
        <p:spPr>
          <a:xfrm>
            <a:off x="9198864" y="425196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6" name="Icon FaEyeSlash" descr="FaEyeSlash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58884" y="441198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9198864" y="5029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Limited service visibility</a:t>
            </a:r>
            <a:endParaRPr lang="en-US" sz="1500" dirty="0"/>
          </a:p>
        </p:txBody>
      </p:sp>
      <p:sp>
        <p:nvSpPr>
          <p:cNvPr id="38" name="Text 27"/>
          <p:cNvSpPr txBox="1"/>
          <p:nvPr/>
        </p:nvSpPr>
        <p:spPr>
          <a:xfrm>
            <a:off x="54864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Tracking operational progress across people, vehicles and approvals becomes difficult.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The GarageST vision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ONE CONNECTED PLATFORM</a:t>
            </a:r>
            <a:endParaRPr lang="en-US" sz="1100" dirty="0"/>
          </a:p>
        </p:txBody>
      </p:sp>
      <p:sp>
        <p:nvSpPr>
          <p:cNvPr id="5" name="Center"/>
          <p:cNvSpPr/>
          <p:nvPr/>
        </p:nvSpPr>
        <p:spPr>
          <a:xfrm>
            <a:off x="4480560" y="2194560"/>
            <a:ext cx="3200400" cy="3200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480560" y="219456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One vehicle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One job card</a:t>
            </a:r>
            <a:endParaRPr lang="en-US" sz="2400" dirty="0"/>
          </a:p>
        </p:txBody>
      </p:sp>
      <p:sp>
        <p:nvSpPr>
          <p:cNvPr id="7" name="IconCircle"/>
          <p:cNvSpPr/>
          <p:nvPr/>
        </p:nvSpPr>
        <p:spPr>
          <a:xfrm>
            <a:off x="914400" y="16459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con FaUserTie" descr="FaUserTi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82880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783080" y="16459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Owner</a:t>
            </a:r>
            <a:endParaRPr lang="en-US" sz="1800" dirty="0"/>
          </a:p>
        </p:txBody>
      </p:sp>
      <p:sp>
        <p:nvSpPr>
          <p:cNvPr id="10" name="IconCircle"/>
          <p:cNvSpPr/>
          <p:nvPr/>
        </p:nvSpPr>
        <p:spPr>
          <a:xfrm>
            <a:off x="548640" y="32918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 FaUsers" descr="FaUs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47472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417320" y="32918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Manager</a:t>
            </a:r>
            <a:endParaRPr lang="en-US" sz="1800" dirty="0"/>
          </a:p>
        </p:txBody>
      </p:sp>
      <p:sp>
        <p:nvSpPr>
          <p:cNvPr id="13" name="IconCircle"/>
          <p:cNvSpPr/>
          <p:nvPr/>
        </p:nvSpPr>
        <p:spPr>
          <a:xfrm>
            <a:off x="914400" y="49377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con FaClipboardCheck" descr="FaClipboard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5120640"/>
            <a:ext cx="365760" cy="36576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783080" y="49377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Service Advisor</a:t>
            </a:r>
            <a:endParaRPr lang="en-US" sz="1800" dirty="0"/>
          </a:p>
        </p:txBody>
      </p:sp>
      <p:sp>
        <p:nvSpPr>
          <p:cNvPr id="16" name="IconCircle"/>
          <p:cNvSpPr/>
          <p:nvPr/>
        </p:nvSpPr>
        <p:spPr>
          <a:xfrm>
            <a:off x="9144000" y="16459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con FaWrench" descr="FaWrenc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1828800"/>
            <a:ext cx="365760" cy="36576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0012680" y="16459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Technician</a:t>
            </a:r>
            <a:endParaRPr lang="en-US" sz="1800" dirty="0"/>
          </a:p>
        </p:txBody>
      </p:sp>
      <p:sp>
        <p:nvSpPr>
          <p:cNvPr id="19" name="IconCircle"/>
          <p:cNvSpPr/>
          <p:nvPr/>
        </p:nvSpPr>
        <p:spPr>
          <a:xfrm>
            <a:off x="9509760" y="32918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con FaTruck" descr="FaTru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0" y="3474720"/>
            <a:ext cx="365760" cy="36576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0378440" y="32918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Driver</a:t>
            </a:r>
            <a:endParaRPr lang="en-US" sz="1800" dirty="0"/>
          </a:p>
        </p:txBody>
      </p:sp>
      <p:sp>
        <p:nvSpPr>
          <p:cNvPr id="22" name="IconCircle"/>
          <p:cNvSpPr/>
          <p:nvPr/>
        </p:nvSpPr>
        <p:spPr>
          <a:xfrm>
            <a:off x="9144000" y="49377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con FaUser" descr="FaUse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0" y="5120640"/>
            <a:ext cx="365760" cy="36576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012680" y="49377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Customer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is GarageST?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IN ONE SENTENCE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63040"/>
            <a:ext cx="5852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A digital operating platform for modern automotive workshops and service centers — from the first booking to the delivered vehicle.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291840"/>
            <a:ext cx="5852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Customers get visibility and digital approvals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workshop gets control of every job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Technicians get structured tasks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Drivers get connected pickup and delivery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Owners get one view across the business</a:t>
            </a:r>
            <a:endParaRPr lang="en-US" sz="1600" dirty="0"/>
          </a:p>
        </p:txBody>
      </p:sp>
      <p:sp>
        <p:nvSpPr>
          <p:cNvPr id="7" name="Card"/>
          <p:cNvSpPr/>
          <p:nvPr/>
        </p:nvSpPr>
        <p:spPr>
          <a:xfrm>
            <a:off x="6949440" y="1463040"/>
            <a:ext cx="46634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178040" y="1554480"/>
            <a:ext cx="1554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12</a:t>
            </a:r>
            <a:endParaRPr lang="en-US" sz="6000" dirty="0"/>
          </a:p>
        </p:txBody>
      </p:sp>
      <p:sp>
        <p:nvSpPr>
          <p:cNvPr id="9" name="Text 6"/>
          <p:cNvSpPr txBox="1"/>
          <p:nvPr/>
        </p:nvSpPr>
        <p:spPr>
          <a:xfrm>
            <a:off x="8732520" y="155448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journey steps from booking to closure</a:t>
            </a:r>
            <a:endParaRPr lang="en-US" sz="1600" dirty="0"/>
          </a:p>
        </p:txBody>
      </p:sp>
      <p:sp>
        <p:nvSpPr>
          <p:cNvPr id="10" name="Card"/>
          <p:cNvSpPr/>
          <p:nvPr/>
        </p:nvSpPr>
        <p:spPr>
          <a:xfrm>
            <a:off x="6949440" y="3063240"/>
            <a:ext cx="4663440" cy="1417320"/>
          </a:xfrm>
          <a:prstGeom prst="roundRect">
            <a:avLst>
              <a:gd name="adj" fmla="val 7742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178040" y="3154680"/>
            <a:ext cx="1554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6</a:t>
            </a:r>
            <a:endParaRPr lang="en-US" sz="6000" dirty="0"/>
          </a:p>
        </p:txBody>
      </p:sp>
      <p:sp>
        <p:nvSpPr>
          <p:cNvPr id="12" name="Text 9"/>
          <p:cNvSpPr txBox="1"/>
          <p:nvPr/>
        </p:nvSpPr>
        <p:spPr>
          <a:xfrm>
            <a:off x="8732520" y="315468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roles working on the same job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6949440" y="4663440"/>
            <a:ext cx="46634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178040" y="4754880"/>
            <a:ext cx="1554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32</a:t>
            </a:r>
            <a:endParaRPr lang="en-US" sz="6000" dirty="0"/>
          </a:p>
        </p:txBody>
      </p:sp>
      <p:sp>
        <p:nvSpPr>
          <p:cNvPr id="15" name="Text 12"/>
          <p:cNvSpPr txBox="1"/>
          <p:nvPr/>
        </p:nvSpPr>
        <p:spPr>
          <a:xfrm>
            <a:off x="8732520" y="475488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workflow events that can notify the right person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End-to-end service journey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THE COMPLETE LIFECYCLE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828800"/>
            <a:ext cx="1691640" cy="17373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IconCircle"/>
          <p:cNvSpPr/>
          <p:nvPr/>
        </p:nvSpPr>
        <p:spPr>
          <a:xfrm>
            <a:off x="1051560" y="2011680"/>
            <a:ext cx="685800" cy="6858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7" name="Icon FaCalendarCheck" descr="FaCalendar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3010" y="2183130"/>
            <a:ext cx="342900" cy="3429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1901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594360" y="28346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Booking</a:t>
            </a:r>
            <a:endParaRPr lang="en-US" sz="1500" dirty="0"/>
          </a:p>
        </p:txBody>
      </p:sp>
      <p:sp>
        <p:nvSpPr>
          <p:cNvPr id="10" name="Arrow"/>
          <p:cNvSpPr/>
          <p:nvPr/>
        </p:nvSpPr>
        <p:spPr>
          <a:xfrm>
            <a:off x="2249424" y="2606040"/>
            <a:ext cx="164592" cy="18288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Card"/>
          <p:cNvSpPr/>
          <p:nvPr/>
        </p:nvSpPr>
        <p:spPr>
          <a:xfrm>
            <a:off x="2423160" y="1828800"/>
            <a:ext cx="1691640" cy="17373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IconCircle"/>
          <p:cNvSpPr/>
          <p:nvPr/>
        </p:nvSpPr>
        <p:spPr>
          <a:xfrm>
            <a:off x="2926080" y="2011680"/>
            <a:ext cx="685800" cy="6858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3" name="Icon FaTruck" descr="FaTr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7530" y="2183130"/>
            <a:ext cx="342900" cy="3429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514600" y="1901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2468880" y="28346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Pickup</a:t>
            </a:r>
            <a:endParaRPr lang="en-US" sz="1500" dirty="0"/>
          </a:p>
        </p:txBody>
      </p:sp>
      <p:sp>
        <p:nvSpPr>
          <p:cNvPr id="16" name="Arrow"/>
          <p:cNvSpPr/>
          <p:nvPr/>
        </p:nvSpPr>
        <p:spPr>
          <a:xfrm>
            <a:off x="4123944" y="2606040"/>
            <a:ext cx="164592" cy="18288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Card"/>
          <p:cNvSpPr/>
          <p:nvPr/>
        </p:nvSpPr>
        <p:spPr>
          <a:xfrm>
            <a:off x="4297680" y="1828800"/>
            <a:ext cx="1691640" cy="17373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IconCircle"/>
          <p:cNvSpPr/>
          <p:nvPr/>
        </p:nvSpPr>
        <p:spPr>
          <a:xfrm>
            <a:off x="4800600" y="2011680"/>
            <a:ext cx="685800" cy="6858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9" name="Icon FaDoorOpen" descr="FaDoorOpe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050" y="2183130"/>
            <a:ext cx="342900" cy="3429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389120" y="1901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4343400" y="28346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Check-in</a:t>
            </a:r>
            <a:endParaRPr lang="en-US" sz="1500" dirty="0"/>
          </a:p>
        </p:txBody>
      </p:sp>
      <p:sp>
        <p:nvSpPr>
          <p:cNvPr id="22" name="Arrow"/>
          <p:cNvSpPr/>
          <p:nvPr/>
        </p:nvSpPr>
        <p:spPr>
          <a:xfrm>
            <a:off x="5998464" y="2606040"/>
            <a:ext cx="164592" cy="18288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Card"/>
          <p:cNvSpPr/>
          <p:nvPr/>
        </p:nvSpPr>
        <p:spPr>
          <a:xfrm>
            <a:off x="6172200" y="1828800"/>
            <a:ext cx="1691640" cy="17373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IconCircle"/>
          <p:cNvSpPr/>
          <p:nvPr/>
        </p:nvSpPr>
        <p:spPr>
          <a:xfrm>
            <a:off x="6675120" y="2011680"/>
            <a:ext cx="685800" cy="6858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5" name="Icon FaSearch" descr="FaSearc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6570" y="2183130"/>
            <a:ext cx="342900" cy="3429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263640" y="1901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4</a:t>
            </a:r>
            <a:endParaRPr lang="en-US" sz="1100" dirty="0"/>
          </a:p>
        </p:txBody>
      </p:sp>
      <p:sp>
        <p:nvSpPr>
          <p:cNvPr id="27" name="Text 20"/>
          <p:cNvSpPr txBox="1"/>
          <p:nvPr/>
        </p:nvSpPr>
        <p:spPr>
          <a:xfrm>
            <a:off x="6217920" y="28346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Inspection</a:t>
            </a:r>
            <a:endParaRPr lang="en-US" sz="1500" dirty="0"/>
          </a:p>
        </p:txBody>
      </p:sp>
      <p:sp>
        <p:nvSpPr>
          <p:cNvPr id="28" name="Arrow"/>
          <p:cNvSpPr/>
          <p:nvPr/>
        </p:nvSpPr>
        <p:spPr>
          <a:xfrm>
            <a:off x="7872984" y="2606040"/>
            <a:ext cx="164592" cy="18288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9" name="Card"/>
          <p:cNvSpPr/>
          <p:nvPr/>
        </p:nvSpPr>
        <p:spPr>
          <a:xfrm>
            <a:off x="8046720" y="1828800"/>
            <a:ext cx="1691640" cy="17373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IconCircle"/>
          <p:cNvSpPr/>
          <p:nvPr/>
        </p:nvSpPr>
        <p:spPr>
          <a:xfrm>
            <a:off x="8549640" y="2011680"/>
            <a:ext cx="685800" cy="6858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31" name="Icon FaFileInvoice" descr="FaFileInvoic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1090" y="2183130"/>
            <a:ext cx="342900" cy="3429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138160" y="1901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5</a:t>
            </a:r>
            <a:endParaRPr lang="en-US" sz="1100" dirty="0"/>
          </a:p>
        </p:txBody>
      </p:sp>
      <p:sp>
        <p:nvSpPr>
          <p:cNvPr id="33" name="Text 25"/>
          <p:cNvSpPr txBox="1"/>
          <p:nvPr/>
        </p:nvSpPr>
        <p:spPr>
          <a:xfrm>
            <a:off x="8092440" y="28346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Estimate</a:t>
            </a:r>
            <a:endParaRPr lang="en-US" sz="1500" dirty="0"/>
          </a:p>
        </p:txBody>
      </p:sp>
      <p:sp>
        <p:nvSpPr>
          <p:cNvPr id="34" name="Arrow"/>
          <p:cNvSpPr/>
          <p:nvPr/>
        </p:nvSpPr>
        <p:spPr>
          <a:xfrm>
            <a:off x="9747504" y="2606040"/>
            <a:ext cx="164592" cy="18288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5" name="Card"/>
          <p:cNvSpPr/>
          <p:nvPr/>
        </p:nvSpPr>
        <p:spPr>
          <a:xfrm>
            <a:off x="9921240" y="1828800"/>
            <a:ext cx="1691640" cy="17373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IconCircle"/>
          <p:cNvSpPr/>
          <p:nvPr/>
        </p:nvSpPr>
        <p:spPr>
          <a:xfrm>
            <a:off x="10424160" y="20116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7" name="Icon FaThumbsUp" descr="FaThumbsUp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95610" y="2183130"/>
            <a:ext cx="342900" cy="342900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10012680" y="1901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6</a:t>
            </a:r>
            <a:endParaRPr lang="en-US" sz="1100" dirty="0"/>
          </a:p>
        </p:txBody>
      </p:sp>
      <p:sp>
        <p:nvSpPr>
          <p:cNvPr id="39" name="Text 30"/>
          <p:cNvSpPr txBox="1"/>
          <p:nvPr/>
        </p:nvSpPr>
        <p:spPr>
          <a:xfrm>
            <a:off x="9966960" y="28346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Customer approval</a:t>
            </a:r>
            <a:endParaRPr lang="en-US" sz="1500" dirty="0"/>
          </a:p>
        </p:txBody>
      </p:sp>
      <p:sp>
        <p:nvSpPr>
          <p:cNvPr id="40" name="Card"/>
          <p:cNvSpPr/>
          <p:nvPr/>
        </p:nvSpPr>
        <p:spPr>
          <a:xfrm>
            <a:off x="548640" y="3931920"/>
            <a:ext cx="1691640" cy="1737360"/>
          </a:xfrm>
          <a:prstGeom prst="roundRect">
            <a:avLst>
              <a:gd name="adj" fmla="val 648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1" name="IconCircle"/>
          <p:cNvSpPr/>
          <p:nvPr/>
        </p:nvSpPr>
        <p:spPr>
          <a:xfrm>
            <a:off x="1051560" y="41148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2" name="Icon FaTools" descr="FaTool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010" y="4286250"/>
            <a:ext cx="342900" cy="342900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640080" y="40050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7</a:t>
            </a:r>
            <a:endParaRPr lang="en-US" sz="1100" dirty="0"/>
          </a:p>
        </p:txBody>
      </p:sp>
      <p:sp>
        <p:nvSpPr>
          <p:cNvPr id="44" name="Text 34"/>
          <p:cNvSpPr txBox="1"/>
          <p:nvPr/>
        </p:nvSpPr>
        <p:spPr>
          <a:xfrm>
            <a:off x="594360" y="49377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Repair</a:t>
            </a:r>
            <a:endParaRPr lang="en-US" sz="1500" dirty="0"/>
          </a:p>
        </p:txBody>
      </p:sp>
      <p:sp>
        <p:nvSpPr>
          <p:cNvPr id="45" name="Arrow"/>
          <p:cNvSpPr/>
          <p:nvPr/>
        </p:nvSpPr>
        <p:spPr>
          <a:xfrm>
            <a:off x="2249424" y="4709160"/>
            <a:ext cx="164592" cy="18288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6" name="Card"/>
          <p:cNvSpPr/>
          <p:nvPr/>
        </p:nvSpPr>
        <p:spPr>
          <a:xfrm>
            <a:off x="2423160" y="3931920"/>
            <a:ext cx="1691640" cy="1737360"/>
          </a:xfrm>
          <a:prstGeom prst="roundRect">
            <a:avLst>
              <a:gd name="adj" fmla="val 648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7" name="IconCircle"/>
          <p:cNvSpPr/>
          <p:nvPr/>
        </p:nvSpPr>
        <p:spPr>
          <a:xfrm>
            <a:off x="2926080" y="4114800"/>
            <a:ext cx="685800" cy="6858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48" name="Icon FaClipboardCheck" descr="FaClipboardCheck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97530" y="4286250"/>
            <a:ext cx="342900" cy="342900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2514600" y="40050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8</a:t>
            </a:r>
            <a:endParaRPr lang="en-US" sz="1100" dirty="0"/>
          </a:p>
        </p:txBody>
      </p:sp>
      <p:sp>
        <p:nvSpPr>
          <p:cNvPr id="50" name="Text 39"/>
          <p:cNvSpPr txBox="1"/>
          <p:nvPr/>
        </p:nvSpPr>
        <p:spPr>
          <a:xfrm>
            <a:off x="2468880" y="49377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Quality check</a:t>
            </a:r>
            <a:endParaRPr lang="en-US" sz="1500" dirty="0"/>
          </a:p>
        </p:txBody>
      </p:sp>
      <p:sp>
        <p:nvSpPr>
          <p:cNvPr id="51" name="Arrow"/>
          <p:cNvSpPr/>
          <p:nvPr/>
        </p:nvSpPr>
        <p:spPr>
          <a:xfrm>
            <a:off x="4123944" y="4709160"/>
            <a:ext cx="164592" cy="18288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2" name="Card"/>
          <p:cNvSpPr/>
          <p:nvPr/>
        </p:nvSpPr>
        <p:spPr>
          <a:xfrm>
            <a:off x="4297680" y="3931920"/>
            <a:ext cx="1691640" cy="1737360"/>
          </a:xfrm>
          <a:prstGeom prst="roundRect">
            <a:avLst>
              <a:gd name="adj" fmla="val 648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3" name="IconCircle"/>
          <p:cNvSpPr/>
          <p:nvPr/>
        </p:nvSpPr>
        <p:spPr>
          <a:xfrm>
            <a:off x="4800600" y="4114800"/>
            <a:ext cx="685800" cy="6858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54" name="Icon FaFileInvoiceDollar" descr="FaFileInvoiceDollar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72050" y="4286250"/>
            <a:ext cx="342900" cy="342900"/>
          </a:xfrm>
          <a:prstGeom prst="rect">
            <a:avLst/>
          </a:prstGeom>
        </p:spPr>
      </p:pic>
      <p:sp>
        <p:nvSpPr>
          <p:cNvPr id="55" name="Text 43"/>
          <p:cNvSpPr txBox="1"/>
          <p:nvPr/>
        </p:nvSpPr>
        <p:spPr>
          <a:xfrm>
            <a:off x="4389120" y="40050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9</a:t>
            </a:r>
            <a:endParaRPr lang="en-US" sz="1100" dirty="0"/>
          </a:p>
        </p:txBody>
      </p:sp>
      <p:sp>
        <p:nvSpPr>
          <p:cNvPr id="56" name="Text 44"/>
          <p:cNvSpPr txBox="1"/>
          <p:nvPr/>
        </p:nvSpPr>
        <p:spPr>
          <a:xfrm>
            <a:off x="4343400" y="49377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Invoice</a:t>
            </a:r>
            <a:endParaRPr lang="en-US" sz="1500" dirty="0"/>
          </a:p>
        </p:txBody>
      </p:sp>
      <p:sp>
        <p:nvSpPr>
          <p:cNvPr id="57" name="Arrow"/>
          <p:cNvSpPr/>
          <p:nvPr/>
        </p:nvSpPr>
        <p:spPr>
          <a:xfrm>
            <a:off x="5998464" y="4709160"/>
            <a:ext cx="164592" cy="18288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8" name="Card"/>
          <p:cNvSpPr/>
          <p:nvPr/>
        </p:nvSpPr>
        <p:spPr>
          <a:xfrm>
            <a:off x="6172200" y="3931920"/>
            <a:ext cx="1691640" cy="1737360"/>
          </a:xfrm>
          <a:prstGeom prst="roundRect">
            <a:avLst>
              <a:gd name="adj" fmla="val 648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9" name="IconCircle"/>
          <p:cNvSpPr/>
          <p:nvPr/>
        </p:nvSpPr>
        <p:spPr>
          <a:xfrm>
            <a:off x="6675120" y="4114800"/>
            <a:ext cx="685800" cy="6858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60" name="Icon FaMoneyCheckAlt" descr="FaMoneyCheckAlt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46570" y="4286250"/>
            <a:ext cx="342900" cy="342900"/>
          </a:xfrm>
          <a:prstGeom prst="rect">
            <a:avLst/>
          </a:prstGeom>
        </p:spPr>
      </p:pic>
      <p:sp>
        <p:nvSpPr>
          <p:cNvPr id="61" name="Text 48"/>
          <p:cNvSpPr txBox="1"/>
          <p:nvPr/>
        </p:nvSpPr>
        <p:spPr>
          <a:xfrm>
            <a:off x="6263640" y="40050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10</a:t>
            </a:r>
            <a:endParaRPr lang="en-US" sz="1100" dirty="0"/>
          </a:p>
        </p:txBody>
      </p:sp>
      <p:sp>
        <p:nvSpPr>
          <p:cNvPr id="62" name="Text 49"/>
          <p:cNvSpPr txBox="1"/>
          <p:nvPr/>
        </p:nvSpPr>
        <p:spPr>
          <a:xfrm>
            <a:off x="6217920" y="49377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Payment</a:t>
            </a:r>
            <a:endParaRPr lang="en-US" sz="1500" dirty="0"/>
          </a:p>
        </p:txBody>
      </p:sp>
      <p:sp>
        <p:nvSpPr>
          <p:cNvPr id="63" name="Arrow"/>
          <p:cNvSpPr/>
          <p:nvPr/>
        </p:nvSpPr>
        <p:spPr>
          <a:xfrm>
            <a:off x="7872984" y="4709160"/>
            <a:ext cx="164592" cy="18288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4" name="Card"/>
          <p:cNvSpPr/>
          <p:nvPr/>
        </p:nvSpPr>
        <p:spPr>
          <a:xfrm>
            <a:off x="8046720" y="3931920"/>
            <a:ext cx="1691640" cy="1737360"/>
          </a:xfrm>
          <a:prstGeom prst="roundRect">
            <a:avLst>
              <a:gd name="adj" fmla="val 648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5" name="IconCircle"/>
          <p:cNvSpPr/>
          <p:nvPr/>
        </p:nvSpPr>
        <p:spPr>
          <a:xfrm>
            <a:off x="8549640" y="4114800"/>
            <a:ext cx="685800" cy="6858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66" name="Icon FaKey" descr="FaKey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21090" y="4286250"/>
            <a:ext cx="342900" cy="342900"/>
          </a:xfrm>
          <a:prstGeom prst="rect">
            <a:avLst/>
          </a:prstGeom>
        </p:spPr>
      </p:pic>
      <p:sp>
        <p:nvSpPr>
          <p:cNvPr id="67" name="Text 53"/>
          <p:cNvSpPr txBox="1"/>
          <p:nvPr/>
        </p:nvSpPr>
        <p:spPr>
          <a:xfrm>
            <a:off x="8138160" y="40050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11</a:t>
            </a:r>
            <a:endParaRPr lang="en-US" sz="1100" dirty="0"/>
          </a:p>
        </p:txBody>
      </p:sp>
      <p:sp>
        <p:nvSpPr>
          <p:cNvPr id="68" name="Text 54"/>
          <p:cNvSpPr txBox="1"/>
          <p:nvPr/>
        </p:nvSpPr>
        <p:spPr>
          <a:xfrm>
            <a:off x="8092440" y="49377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Delivery</a:t>
            </a:r>
            <a:endParaRPr lang="en-US" sz="1500" dirty="0"/>
          </a:p>
        </p:txBody>
      </p:sp>
      <p:sp>
        <p:nvSpPr>
          <p:cNvPr id="69" name="Arrow"/>
          <p:cNvSpPr/>
          <p:nvPr/>
        </p:nvSpPr>
        <p:spPr>
          <a:xfrm>
            <a:off x="9747504" y="4709160"/>
            <a:ext cx="164592" cy="18288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0" name="Card"/>
          <p:cNvSpPr/>
          <p:nvPr/>
        </p:nvSpPr>
        <p:spPr>
          <a:xfrm>
            <a:off x="9921240" y="3931920"/>
            <a:ext cx="1691640" cy="1737360"/>
          </a:xfrm>
          <a:prstGeom prst="roundRect">
            <a:avLst>
              <a:gd name="adj" fmla="val 648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1" name="IconCircle"/>
          <p:cNvSpPr/>
          <p:nvPr/>
        </p:nvSpPr>
        <p:spPr>
          <a:xfrm>
            <a:off x="10424160" y="4114800"/>
            <a:ext cx="685800" cy="6858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72" name="Icon FaFlagCheckered" descr="FaFlagCheckered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95610" y="4286250"/>
            <a:ext cx="342900" cy="342900"/>
          </a:xfrm>
          <a:prstGeom prst="rect">
            <a:avLst/>
          </a:prstGeom>
        </p:spPr>
      </p:pic>
      <p:sp>
        <p:nvSpPr>
          <p:cNvPr id="73" name="Text 58"/>
          <p:cNvSpPr txBox="1"/>
          <p:nvPr/>
        </p:nvSpPr>
        <p:spPr>
          <a:xfrm>
            <a:off x="10012680" y="40050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12</a:t>
            </a:r>
            <a:endParaRPr lang="en-US" sz="1100" dirty="0"/>
          </a:p>
        </p:txBody>
      </p:sp>
      <p:sp>
        <p:nvSpPr>
          <p:cNvPr id="74" name="Text 59"/>
          <p:cNvSpPr txBox="1"/>
          <p:nvPr/>
        </p:nvSpPr>
        <p:spPr>
          <a:xfrm>
            <a:off x="9966960" y="49377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Job closure</a:t>
            </a:r>
            <a:endParaRPr lang="en-US" sz="1500" dirty="0"/>
          </a:p>
        </p:txBody>
      </p:sp>
      <p:sp>
        <p:nvSpPr>
          <p:cNvPr id="75" name="Text 60"/>
          <p:cNvSpPr txBox="1"/>
          <p:nvPr/>
        </p:nvSpPr>
        <p:spPr>
          <a:xfrm>
            <a:off x="548640" y="6035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Pickup applies when the customer asks for it; every step is tracked against the same job.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One vehicle. One digital journey.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THE JOB CARD</a:t>
            </a:r>
            <a:endParaRPr lang="en-US" sz="1100" dirty="0"/>
          </a:p>
        </p:txBody>
      </p:sp>
      <p:sp>
        <p:nvSpPr>
          <p:cNvPr id="5" name="JobCard"/>
          <p:cNvSpPr/>
          <p:nvPr/>
        </p:nvSpPr>
        <p:spPr>
          <a:xfrm>
            <a:off x="4480560" y="2743200"/>
            <a:ext cx="3200400" cy="1463040"/>
          </a:xfrm>
          <a:prstGeom prst="roundRect">
            <a:avLst>
              <a:gd name="adj" fmla="val 937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480560" y="2743200"/>
            <a:ext cx="3200400" cy="14630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JOB CARD</a:t>
            </a:r>
            <a:endParaRPr lang="en-US" sz="2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the single record for the vehicle’s visit</a:t>
            </a:r>
            <a:endParaRPr lang="en-US" sz="2600" dirty="0"/>
          </a:p>
        </p:txBody>
      </p:sp>
      <p:sp>
        <p:nvSpPr>
          <p:cNvPr id="7" name="Card"/>
          <p:cNvSpPr/>
          <p:nvPr/>
        </p:nvSpPr>
        <p:spPr>
          <a:xfrm>
            <a:off x="548640" y="1554480"/>
            <a:ext cx="320040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IconCircle"/>
          <p:cNvSpPr/>
          <p:nvPr/>
        </p:nvSpPr>
        <p:spPr>
          <a:xfrm>
            <a:off x="777240" y="178308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9" name="Icon FaSearch" descr="FaSear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94310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00200" y="15544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Inspection</a:t>
            </a:r>
            <a:endParaRPr lang="en-US" sz="1700" dirty="0"/>
          </a:p>
        </p:txBody>
      </p:sp>
      <p:sp>
        <p:nvSpPr>
          <p:cNvPr id="11" name="Card"/>
          <p:cNvSpPr/>
          <p:nvPr/>
        </p:nvSpPr>
        <p:spPr>
          <a:xfrm>
            <a:off x="4480560" y="1417320"/>
            <a:ext cx="3200400" cy="109728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IconCircle"/>
          <p:cNvSpPr/>
          <p:nvPr/>
        </p:nvSpPr>
        <p:spPr>
          <a:xfrm>
            <a:off x="4709160" y="164592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3" name="Icon FaFileInvoice" descr="FaFileInvoi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9180" y="180594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532120" y="141732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Estimate</a:t>
            </a:r>
            <a:endParaRPr lang="en-US" sz="1700" dirty="0"/>
          </a:p>
        </p:txBody>
      </p:sp>
      <p:sp>
        <p:nvSpPr>
          <p:cNvPr id="15" name="Card"/>
          <p:cNvSpPr/>
          <p:nvPr/>
        </p:nvSpPr>
        <p:spPr>
          <a:xfrm>
            <a:off x="8412480" y="1554480"/>
            <a:ext cx="320040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IconCircle"/>
          <p:cNvSpPr/>
          <p:nvPr/>
        </p:nvSpPr>
        <p:spPr>
          <a:xfrm>
            <a:off x="8641080" y="178308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7" name="Icon FaTools" descr="FaTool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0" y="194310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464040" y="15544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Repair tasks</a:t>
            </a:r>
            <a:endParaRPr lang="en-US" sz="1700" dirty="0"/>
          </a:p>
        </p:txBody>
      </p:sp>
      <p:sp>
        <p:nvSpPr>
          <p:cNvPr id="19" name="Card"/>
          <p:cNvSpPr/>
          <p:nvPr/>
        </p:nvSpPr>
        <p:spPr>
          <a:xfrm>
            <a:off x="548640" y="2834640"/>
            <a:ext cx="3200400" cy="109728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IconCircle"/>
          <p:cNvSpPr/>
          <p:nvPr/>
        </p:nvSpPr>
        <p:spPr>
          <a:xfrm>
            <a:off x="777240" y="306324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1" name="Icon FaClipboardCheck" descr="FaClipboard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3223260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600200" y="28346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Quality check</a:t>
            </a:r>
            <a:endParaRPr lang="en-US" sz="1700" dirty="0"/>
          </a:p>
        </p:txBody>
      </p:sp>
      <p:sp>
        <p:nvSpPr>
          <p:cNvPr id="23" name="Card"/>
          <p:cNvSpPr/>
          <p:nvPr/>
        </p:nvSpPr>
        <p:spPr>
          <a:xfrm>
            <a:off x="8412480" y="2834640"/>
            <a:ext cx="320040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IconCircle"/>
          <p:cNvSpPr/>
          <p:nvPr/>
        </p:nvSpPr>
        <p:spPr>
          <a:xfrm>
            <a:off x="8641080" y="306324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5" name="Icon FaFileInvoiceDollar" descr="FaFileInvoiceDolla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1100" y="3223260"/>
            <a:ext cx="320040" cy="32004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9464040" y="28346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Invoice &amp; payment</a:t>
            </a:r>
            <a:endParaRPr lang="en-US" sz="1700" dirty="0"/>
          </a:p>
        </p:txBody>
      </p:sp>
      <p:sp>
        <p:nvSpPr>
          <p:cNvPr id="27" name="Card"/>
          <p:cNvSpPr/>
          <p:nvPr/>
        </p:nvSpPr>
        <p:spPr>
          <a:xfrm>
            <a:off x="548640" y="4297680"/>
            <a:ext cx="3200400" cy="109728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8" name="IconCircle"/>
          <p:cNvSpPr/>
          <p:nvPr/>
        </p:nvSpPr>
        <p:spPr>
          <a:xfrm>
            <a:off x="777240" y="452628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9" name="Icon FaCamera" descr="FaCamera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260" y="4686300"/>
            <a:ext cx="320040" cy="32004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600200" y="42976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Photos &amp; videos</a:t>
            </a:r>
            <a:endParaRPr lang="en-US" sz="1700" dirty="0"/>
          </a:p>
        </p:txBody>
      </p:sp>
      <p:sp>
        <p:nvSpPr>
          <p:cNvPr id="31" name="Card"/>
          <p:cNvSpPr/>
          <p:nvPr/>
        </p:nvSpPr>
        <p:spPr>
          <a:xfrm>
            <a:off x="4480560" y="4754880"/>
            <a:ext cx="320040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IconCircle"/>
          <p:cNvSpPr/>
          <p:nvPr/>
        </p:nvSpPr>
        <p:spPr>
          <a:xfrm>
            <a:off x="4709160" y="498348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33" name="Icon FaRoute" descr="FaRout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9180" y="5143500"/>
            <a:ext cx="320040" cy="320040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5532120" y="47548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Pickup &amp; delivery trips</a:t>
            </a:r>
            <a:endParaRPr lang="en-US" sz="1700" dirty="0"/>
          </a:p>
        </p:txBody>
      </p:sp>
      <p:sp>
        <p:nvSpPr>
          <p:cNvPr id="35" name="Card"/>
          <p:cNvSpPr/>
          <p:nvPr/>
        </p:nvSpPr>
        <p:spPr>
          <a:xfrm>
            <a:off x="8412480" y="4297680"/>
            <a:ext cx="3200400" cy="109728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6" name="IconCircle"/>
          <p:cNvSpPr/>
          <p:nvPr/>
        </p:nvSpPr>
        <p:spPr>
          <a:xfrm>
            <a:off x="8641080" y="45262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7" name="Icon FaBell" descr="FaBell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01100" y="4686300"/>
            <a:ext cx="320040" cy="320040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9464040" y="42976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Notifications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customer experience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FOR THE VEHICLE OWNER</a:t>
            </a:r>
            <a:endParaRPr lang="en-US" sz="1100" dirty="0"/>
          </a:p>
        </p:txBody>
      </p:sp>
      <p:sp>
        <p:nvSpPr>
          <p:cNvPr id="5" name="ShadowPlate"/>
          <p:cNvSpPr/>
          <p:nvPr/>
        </p:nvSpPr>
        <p:spPr>
          <a:xfrm>
            <a:off x="859536" y="1490472"/>
            <a:ext cx="2831016" cy="4754880"/>
          </a:xfrm>
          <a:prstGeom prst="roundRect">
            <a:avLst>
              <a:gd name="adj" fmla="val 646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Screenshot 02" descr="GarageST app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17320"/>
            <a:ext cx="2831016" cy="4754880"/>
          </a:xfrm>
          <a:prstGeom prst="rect">
            <a:avLst/>
          </a:prstGeom>
        </p:spPr>
      </p:pic>
      <p:sp>
        <p:nvSpPr>
          <p:cNvPr id="7" name="IconCircle"/>
          <p:cNvSpPr/>
          <p:nvPr/>
        </p:nvSpPr>
        <p:spPr>
          <a:xfrm>
            <a:off x="3657600" y="1417320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con FaCalendarCheck" descr="FaCalendar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0188" y="1549908"/>
            <a:ext cx="265176" cy="26517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389120" y="139903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Book a service</a:t>
            </a:r>
            <a:endParaRPr lang="en-US" sz="1700" dirty="0"/>
          </a:p>
        </p:txBody>
      </p:sp>
      <p:sp>
        <p:nvSpPr>
          <p:cNvPr id="10" name="Text 5"/>
          <p:cNvSpPr txBox="1"/>
          <p:nvPr/>
        </p:nvSpPr>
        <p:spPr>
          <a:xfrm>
            <a:off x="4389120" y="170078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optionally with vehicle pickup</a:t>
            </a:r>
            <a:endParaRPr lang="en-US" sz="1300" dirty="0"/>
          </a:p>
        </p:txBody>
      </p:sp>
      <p:sp>
        <p:nvSpPr>
          <p:cNvPr id="11" name="IconCircle"/>
          <p:cNvSpPr/>
          <p:nvPr/>
        </p:nvSpPr>
        <p:spPr>
          <a:xfrm>
            <a:off x="3657600" y="2121408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con FaCar" descr="FaC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0188" y="2253996"/>
            <a:ext cx="265176" cy="265176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4389120" y="21031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My vehicles &amp; job cards</a:t>
            </a:r>
            <a:endParaRPr lang="en-US" sz="1700" dirty="0"/>
          </a:p>
        </p:txBody>
      </p:sp>
      <p:sp>
        <p:nvSpPr>
          <p:cNvPr id="14" name="Text 8"/>
          <p:cNvSpPr txBox="1"/>
          <p:nvPr/>
        </p:nvSpPr>
        <p:spPr>
          <a:xfrm>
            <a:off x="4389120" y="240487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service visibility in one place</a:t>
            </a:r>
            <a:endParaRPr lang="en-US" sz="1300" dirty="0"/>
          </a:p>
        </p:txBody>
      </p:sp>
      <p:sp>
        <p:nvSpPr>
          <p:cNvPr id="15" name="IconCircle"/>
          <p:cNvSpPr/>
          <p:nvPr/>
        </p:nvSpPr>
        <p:spPr>
          <a:xfrm>
            <a:off x="3657600" y="2825496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on FaSearch" descr="FaSearc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0188" y="2958084"/>
            <a:ext cx="265176" cy="26517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4389120" y="280720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Repair progress</a:t>
            </a:r>
            <a:endParaRPr lang="en-US" sz="1700" dirty="0"/>
          </a:p>
        </p:txBody>
      </p:sp>
      <p:sp>
        <p:nvSpPr>
          <p:cNvPr id="18" name="Text 11"/>
          <p:cNvSpPr txBox="1"/>
          <p:nvPr/>
        </p:nvSpPr>
        <p:spPr>
          <a:xfrm>
            <a:off x="4389120" y="31089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follow the work on your vehicle as it happens</a:t>
            </a:r>
            <a:endParaRPr lang="en-US" sz="1300" dirty="0"/>
          </a:p>
        </p:txBody>
      </p:sp>
      <p:sp>
        <p:nvSpPr>
          <p:cNvPr id="19" name="IconCircle"/>
          <p:cNvSpPr/>
          <p:nvPr/>
        </p:nvSpPr>
        <p:spPr>
          <a:xfrm>
            <a:off x="3657600" y="3529584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con FaThumbsUp" descr="FaThumbsUp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0188" y="3662172"/>
            <a:ext cx="265176" cy="265176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4389120" y="351129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Review &amp; approve estimates</a:t>
            </a:r>
            <a:endParaRPr lang="en-US" sz="1700" dirty="0"/>
          </a:p>
        </p:txBody>
      </p:sp>
      <p:sp>
        <p:nvSpPr>
          <p:cNvPr id="22" name="Text 14"/>
          <p:cNvSpPr txBox="1"/>
          <p:nvPr/>
        </p:nvSpPr>
        <p:spPr>
          <a:xfrm>
            <a:off x="4389120" y="381304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approve or reject digitally</a:t>
            </a:r>
            <a:endParaRPr lang="en-US" sz="1300" dirty="0"/>
          </a:p>
        </p:txBody>
      </p:sp>
      <p:sp>
        <p:nvSpPr>
          <p:cNvPr id="23" name="IconCircle"/>
          <p:cNvSpPr/>
          <p:nvPr/>
        </p:nvSpPr>
        <p:spPr>
          <a:xfrm>
            <a:off x="3657600" y="4233672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Icon FaFileInvoiceDollar" descr="FaFileInvoiceDolla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0188" y="4366260"/>
            <a:ext cx="265176" cy="265176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4389120" y="4215384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Invoices &amp; payment status</a:t>
            </a:r>
            <a:endParaRPr lang="en-US" sz="1700" dirty="0"/>
          </a:p>
        </p:txBody>
      </p:sp>
      <p:sp>
        <p:nvSpPr>
          <p:cNvPr id="26" name="Text 17"/>
          <p:cNvSpPr txBox="1"/>
          <p:nvPr/>
        </p:nvSpPr>
        <p:spPr>
          <a:xfrm>
            <a:off x="4389120" y="451713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accept the invoice, track payment</a:t>
            </a:r>
            <a:endParaRPr lang="en-US" sz="1300" dirty="0"/>
          </a:p>
        </p:txBody>
      </p:sp>
      <p:sp>
        <p:nvSpPr>
          <p:cNvPr id="27" name="IconCircle"/>
          <p:cNvSpPr/>
          <p:nvPr/>
        </p:nvSpPr>
        <p:spPr>
          <a:xfrm>
            <a:off x="3657600" y="4937760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8" name="Icon FaMapMarkedAlt" descr="FaMapMarkedAl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90188" y="5070348"/>
            <a:ext cx="265176" cy="265176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4389120" y="491947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Live vehicle journey</a:t>
            </a:r>
            <a:endParaRPr lang="en-US" sz="1700" dirty="0"/>
          </a:p>
        </p:txBody>
      </p:sp>
      <p:sp>
        <p:nvSpPr>
          <p:cNvPr id="30" name="Text 20"/>
          <p:cNvSpPr txBox="1"/>
          <p:nvPr/>
        </p:nvSpPr>
        <p:spPr>
          <a:xfrm>
            <a:off x="4389120" y="522122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follow pickup or delivery on a map</a:t>
            </a:r>
            <a:endParaRPr lang="en-US" sz="1300" dirty="0"/>
          </a:p>
        </p:txBody>
      </p:sp>
      <p:sp>
        <p:nvSpPr>
          <p:cNvPr id="31" name="IconCircle"/>
          <p:cNvSpPr/>
          <p:nvPr/>
        </p:nvSpPr>
        <p:spPr>
          <a:xfrm>
            <a:off x="3657600" y="5641848"/>
            <a:ext cx="530352" cy="53035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2" name="Icon FaBell" descr="FaBell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90188" y="5774436"/>
            <a:ext cx="265176" cy="265176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4389120" y="56235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Notifications</a:t>
            </a:r>
            <a:endParaRPr lang="en-US" sz="1700" dirty="0"/>
          </a:p>
        </p:txBody>
      </p:sp>
      <p:sp>
        <p:nvSpPr>
          <p:cNvPr id="34" name="Text 23"/>
          <p:cNvSpPr txBox="1"/>
          <p:nvPr/>
        </p:nvSpPr>
        <p:spPr>
          <a:xfrm>
            <a:off x="4389120" y="592531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important updates reach the phone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Smart inspection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DIGITAL INSPECTION</a:t>
            </a:r>
            <a:endParaRPr lang="en-US" sz="1100" dirty="0"/>
          </a:p>
        </p:txBody>
      </p:sp>
      <p:sp>
        <p:nvSpPr>
          <p:cNvPr id="5" name="Step 1"/>
          <p:cNvSpPr/>
          <p:nvPr/>
        </p:nvSpPr>
        <p:spPr>
          <a:xfrm>
            <a:off x="548640" y="1600200"/>
            <a:ext cx="170688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600200"/>
            <a:ext cx="17068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Vehicle checked in</a:t>
            </a:r>
            <a:endParaRPr lang="en-US" sz="1400" dirty="0"/>
          </a:p>
        </p:txBody>
      </p:sp>
      <p:sp>
        <p:nvSpPr>
          <p:cNvPr id="7" name="Arrow"/>
          <p:cNvSpPr/>
          <p:nvPr/>
        </p:nvSpPr>
        <p:spPr>
          <a:xfrm>
            <a:off x="2264664" y="1975104"/>
            <a:ext cx="146304" cy="16459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Step 2"/>
          <p:cNvSpPr/>
          <p:nvPr/>
        </p:nvSpPr>
        <p:spPr>
          <a:xfrm>
            <a:off x="2420112" y="1600200"/>
            <a:ext cx="170688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420112" y="1600200"/>
            <a:ext cx="17068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Inspection checklist</a:t>
            </a:r>
            <a:endParaRPr lang="en-US" sz="1400" dirty="0"/>
          </a:p>
        </p:txBody>
      </p:sp>
      <p:sp>
        <p:nvSpPr>
          <p:cNvPr id="10" name="Arrow"/>
          <p:cNvSpPr/>
          <p:nvPr/>
        </p:nvSpPr>
        <p:spPr>
          <a:xfrm>
            <a:off x="4136136" y="1975104"/>
            <a:ext cx="146304" cy="16459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Step 3"/>
          <p:cNvSpPr/>
          <p:nvPr/>
        </p:nvSpPr>
        <p:spPr>
          <a:xfrm>
            <a:off x="4291584" y="1600200"/>
            <a:ext cx="170688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291584" y="1600200"/>
            <a:ext cx="17068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Findings recorded</a:t>
            </a:r>
            <a:endParaRPr lang="en-US" sz="1400" dirty="0"/>
          </a:p>
        </p:txBody>
      </p:sp>
      <p:sp>
        <p:nvSpPr>
          <p:cNvPr id="13" name="Arrow"/>
          <p:cNvSpPr/>
          <p:nvPr/>
        </p:nvSpPr>
        <p:spPr>
          <a:xfrm>
            <a:off x="6007608" y="1975104"/>
            <a:ext cx="146304" cy="16459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Step 4"/>
          <p:cNvSpPr/>
          <p:nvPr/>
        </p:nvSpPr>
        <p:spPr>
          <a:xfrm>
            <a:off x="6163056" y="1600200"/>
            <a:ext cx="170688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163056" y="1600200"/>
            <a:ext cx="17068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Photos / videos attached</a:t>
            </a:r>
            <a:endParaRPr lang="en-US" sz="1400" dirty="0"/>
          </a:p>
        </p:txBody>
      </p:sp>
      <p:sp>
        <p:nvSpPr>
          <p:cNvPr id="16" name="Arrow"/>
          <p:cNvSpPr/>
          <p:nvPr/>
        </p:nvSpPr>
        <p:spPr>
          <a:xfrm>
            <a:off x="7879080" y="1975104"/>
            <a:ext cx="146304" cy="16459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Step 5"/>
          <p:cNvSpPr/>
          <p:nvPr/>
        </p:nvSpPr>
        <p:spPr>
          <a:xfrm>
            <a:off x="8034528" y="1600200"/>
            <a:ext cx="170688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034528" y="1600200"/>
            <a:ext cx="17068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Inspection completed</a:t>
            </a:r>
            <a:endParaRPr lang="en-US" sz="1400" dirty="0"/>
          </a:p>
        </p:txBody>
      </p:sp>
      <p:sp>
        <p:nvSpPr>
          <p:cNvPr id="19" name="Arrow"/>
          <p:cNvSpPr/>
          <p:nvPr/>
        </p:nvSpPr>
        <p:spPr>
          <a:xfrm>
            <a:off x="9750552" y="1975104"/>
            <a:ext cx="146304" cy="16459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Step 6"/>
          <p:cNvSpPr/>
          <p:nvPr/>
        </p:nvSpPr>
        <p:spPr>
          <a:xfrm>
            <a:off x="9906000" y="1600200"/>
            <a:ext cx="1706880" cy="91440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906000" y="1600200"/>
            <a:ext cx="17068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Estimate prepared</a:t>
            </a:r>
            <a:endParaRPr lang="en-US" sz="1400" dirty="0"/>
          </a:p>
        </p:txBody>
      </p:sp>
      <p:sp>
        <p:nvSpPr>
          <p:cNvPr id="22" name="Card"/>
          <p:cNvSpPr/>
          <p:nvPr/>
        </p:nvSpPr>
        <p:spPr>
          <a:xfrm>
            <a:off x="548640" y="2926080"/>
            <a:ext cx="356616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IconCircle"/>
          <p:cNvSpPr/>
          <p:nvPr/>
        </p:nvSpPr>
        <p:spPr>
          <a:xfrm>
            <a:off x="822960" y="32004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Icon FaListAlt" descr="FaList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3383280"/>
            <a:ext cx="365760" cy="36576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822960" y="41148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Structured checklist</a:t>
            </a:r>
            <a:endParaRPr lang="en-US" sz="1800" dirty="0"/>
          </a:p>
        </p:txBody>
      </p:sp>
      <p:sp>
        <p:nvSpPr>
          <p:cNvPr id="26" name="Text 22"/>
          <p:cNvSpPr txBox="1"/>
          <p:nvPr/>
        </p:nvSpPr>
        <p:spPr>
          <a:xfrm>
            <a:off x="822960" y="47091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Inspection templates guide the technician through each area.</a:t>
            </a:r>
            <a:endParaRPr lang="en-US" sz="1400" dirty="0"/>
          </a:p>
        </p:txBody>
      </p:sp>
      <p:sp>
        <p:nvSpPr>
          <p:cNvPr id="27" name="Card"/>
          <p:cNvSpPr/>
          <p:nvPr/>
        </p:nvSpPr>
        <p:spPr>
          <a:xfrm>
            <a:off x="4297680" y="2926080"/>
            <a:ext cx="356616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IconCircle"/>
          <p:cNvSpPr/>
          <p:nvPr/>
        </p:nvSpPr>
        <p:spPr>
          <a:xfrm>
            <a:off x="4572000" y="32004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9" name="Icon FaExclamationTriangle" descr="FaExclamationTriang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3383280"/>
            <a:ext cx="365760" cy="365760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4572000" y="41148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Findings per complaint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4572000" y="47091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Each customer complaint is inspected and recorded.</a:t>
            </a:r>
            <a:endParaRPr lang="en-US" sz="1400" dirty="0"/>
          </a:p>
        </p:txBody>
      </p:sp>
      <p:sp>
        <p:nvSpPr>
          <p:cNvPr id="32" name="Card"/>
          <p:cNvSpPr/>
          <p:nvPr/>
        </p:nvSpPr>
        <p:spPr>
          <a:xfrm>
            <a:off x="8046720" y="2926080"/>
            <a:ext cx="356616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IconCircle"/>
          <p:cNvSpPr/>
          <p:nvPr/>
        </p:nvSpPr>
        <p:spPr>
          <a:xfrm>
            <a:off x="8321040" y="32004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4" name="Icon FaCamera" descr="FaCamer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3383280"/>
            <a:ext cx="365760" cy="365760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8321040" y="41148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Evidence that travels with the job</a:t>
            </a:r>
            <a:endParaRPr lang="en-US" sz="1800" dirty="0"/>
          </a:p>
        </p:txBody>
      </p:sp>
      <p:sp>
        <p:nvSpPr>
          <p:cNvPr id="36" name="Text 30"/>
          <p:cNvSpPr txBox="1"/>
          <p:nvPr/>
        </p:nvSpPr>
        <p:spPr>
          <a:xfrm>
            <a:off x="8321040" y="47091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Photos and videos are stored against the job card, with time and location details.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Digital estimate &amp; approval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TRANSPARENCY BEFORE WORK STARTS</a:t>
            </a:r>
            <a:endParaRPr lang="en-US" sz="1100" dirty="0"/>
          </a:p>
        </p:txBody>
      </p:sp>
      <p:sp>
        <p:nvSpPr>
          <p:cNvPr id="5" name="Step 1"/>
          <p:cNvSpPr/>
          <p:nvPr/>
        </p:nvSpPr>
        <p:spPr>
          <a:xfrm>
            <a:off x="548640" y="1645920"/>
            <a:ext cx="2081174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645920"/>
            <a:ext cx="2081174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Garage prepares estimate</a:t>
            </a:r>
            <a:endParaRPr lang="en-US" sz="1500" dirty="0"/>
          </a:p>
        </p:txBody>
      </p:sp>
      <p:sp>
        <p:nvSpPr>
          <p:cNvPr id="7" name="Arrow"/>
          <p:cNvSpPr/>
          <p:nvPr/>
        </p:nvSpPr>
        <p:spPr>
          <a:xfrm>
            <a:off x="2638958" y="2112264"/>
            <a:ext cx="146304" cy="16459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Step 2"/>
          <p:cNvSpPr/>
          <p:nvPr/>
        </p:nvSpPr>
        <p:spPr>
          <a:xfrm>
            <a:off x="2794406" y="1645920"/>
            <a:ext cx="2081174" cy="1097280"/>
          </a:xfrm>
          <a:prstGeom prst="roundRect">
            <a:avLst>
              <a:gd name="adj" fmla="val 833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794406" y="1645920"/>
            <a:ext cx="2081174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Customer reviews items</a:t>
            </a:r>
            <a:endParaRPr lang="en-US" sz="1500" dirty="0"/>
          </a:p>
        </p:txBody>
      </p:sp>
      <p:sp>
        <p:nvSpPr>
          <p:cNvPr id="10" name="Arrow"/>
          <p:cNvSpPr/>
          <p:nvPr/>
        </p:nvSpPr>
        <p:spPr>
          <a:xfrm>
            <a:off x="4884725" y="2112264"/>
            <a:ext cx="146304" cy="16459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Step 3"/>
          <p:cNvSpPr/>
          <p:nvPr/>
        </p:nvSpPr>
        <p:spPr>
          <a:xfrm>
            <a:off x="5040173" y="1645920"/>
            <a:ext cx="2081174" cy="1097280"/>
          </a:xfrm>
          <a:prstGeom prst="roundRect">
            <a:avLst>
              <a:gd name="adj" fmla="val 833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40173" y="1645920"/>
            <a:ext cx="2081174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Approve or reject</a:t>
            </a:r>
            <a:endParaRPr lang="en-US" sz="1500" dirty="0"/>
          </a:p>
        </p:txBody>
      </p:sp>
      <p:sp>
        <p:nvSpPr>
          <p:cNvPr id="13" name="Arrow"/>
          <p:cNvSpPr/>
          <p:nvPr/>
        </p:nvSpPr>
        <p:spPr>
          <a:xfrm>
            <a:off x="7130491" y="2112264"/>
            <a:ext cx="146304" cy="16459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Step 4"/>
          <p:cNvSpPr/>
          <p:nvPr/>
        </p:nvSpPr>
        <p:spPr>
          <a:xfrm>
            <a:off x="7285939" y="1645920"/>
            <a:ext cx="2081174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285939" y="1645920"/>
            <a:ext cx="2081174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Manager confirms</a:t>
            </a:r>
            <a:endParaRPr lang="en-US" sz="1500" dirty="0"/>
          </a:p>
        </p:txBody>
      </p:sp>
      <p:sp>
        <p:nvSpPr>
          <p:cNvPr id="16" name="Arrow"/>
          <p:cNvSpPr/>
          <p:nvPr/>
        </p:nvSpPr>
        <p:spPr>
          <a:xfrm>
            <a:off x="9376258" y="2112264"/>
            <a:ext cx="146304" cy="16459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Step 5"/>
          <p:cNvSpPr/>
          <p:nvPr/>
        </p:nvSpPr>
        <p:spPr>
          <a:xfrm>
            <a:off x="9531706" y="1645920"/>
            <a:ext cx="2081174" cy="1097280"/>
          </a:xfrm>
          <a:prstGeom prst="roundRect">
            <a:avLst>
              <a:gd name="adj" fmla="val 8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531706" y="1645920"/>
            <a:ext cx="2081174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Repair begins</a:t>
            </a:r>
            <a:endParaRPr lang="en-US" sz="1500" dirty="0"/>
          </a:p>
        </p:txBody>
      </p:sp>
      <p:sp>
        <p:nvSpPr>
          <p:cNvPr id="19" name="Card"/>
          <p:cNvSpPr/>
          <p:nvPr/>
        </p:nvSpPr>
        <p:spPr>
          <a:xfrm>
            <a:off x="548640" y="3200400"/>
            <a:ext cx="5394960" cy="2560320"/>
          </a:xfrm>
          <a:prstGeom prst="roundRect">
            <a:avLst>
              <a:gd name="adj" fmla="val 428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2960" y="3383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For the customer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" y="388620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Itemised estimate on the phone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Notified when the estimate is ready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Decide digitally — no chasing calls</a:t>
            </a:r>
            <a:endParaRPr lang="en-US" sz="1500" dirty="0"/>
          </a:p>
        </p:txBody>
      </p:sp>
      <p:sp>
        <p:nvSpPr>
          <p:cNvPr id="22" name="Card"/>
          <p:cNvSpPr/>
          <p:nvPr/>
        </p:nvSpPr>
        <p:spPr>
          <a:xfrm>
            <a:off x="6217920" y="3200400"/>
            <a:ext cx="5394960" cy="25603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92240" y="3383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For the workshop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6492240" y="388620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Managers and the owner are notified of the decision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manager confirmation gate before repair starts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Approval and repair stay clearly separate steps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Repair management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STRUCTURED WORK</a:t>
            </a:r>
            <a:endParaRPr lang="en-US" sz="1100" dirty="0"/>
          </a:p>
        </p:txBody>
      </p:sp>
      <p:sp>
        <p:nvSpPr>
          <p:cNvPr id="5" name="ShadowPlate"/>
          <p:cNvSpPr/>
          <p:nvPr/>
        </p:nvSpPr>
        <p:spPr>
          <a:xfrm>
            <a:off x="8540496" y="1444752"/>
            <a:ext cx="2722131" cy="4572000"/>
          </a:xfrm>
          <a:prstGeom prst="roundRect">
            <a:avLst>
              <a:gd name="adj" fmla="val 67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Screenshot 07" descr="GarageST app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1371600"/>
            <a:ext cx="2722131" cy="45720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1417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Job card</a:t>
            </a:r>
            <a:endParaRPr lang="en-US" sz="1600" dirty="0"/>
          </a:p>
        </p:txBody>
      </p:sp>
      <p:sp>
        <p:nvSpPr>
          <p:cNvPr id="8" name="Step 1"/>
          <p:cNvSpPr/>
          <p:nvPr/>
        </p:nvSpPr>
        <p:spPr>
          <a:xfrm>
            <a:off x="548640" y="1783080"/>
            <a:ext cx="2420112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1783080"/>
            <a:ext cx="2420112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Repair pending</a:t>
            </a:r>
            <a:endParaRPr lang="en-US" sz="1300" dirty="0"/>
          </a:p>
        </p:txBody>
      </p:sp>
      <p:sp>
        <p:nvSpPr>
          <p:cNvPr id="10" name="Arrow"/>
          <p:cNvSpPr/>
          <p:nvPr/>
        </p:nvSpPr>
        <p:spPr>
          <a:xfrm>
            <a:off x="2977896" y="2066544"/>
            <a:ext cx="146304" cy="16459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Step 2"/>
          <p:cNvSpPr/>
          <p:nvPr/>
        </p:nvSpPr>
        <p:spPr>
          <a:xfrm>
            <a:off x="3133344" y="1783080"/>
            <a:ext cx="2420112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133344" y="1783080"/>
            <a:ext cx="2420112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Repair in progress</a:t>
            </a:r>
            <a:endParaRPr lang="en-US" sz="1300" dirty="0"/>
          </a:p>
        </p:txBody>
      </p:sp>
      <p:sp>
        <p:nvSpPr>
          <p:cNvPr id="13" name="Arrow"/>
          <p:cNvSpPr/>
          <p:nvPr/>
        </p:nvSpPr>
        <p:spPr>
          <a:xfrm>
            <a:off x="5562600" y="2066544"/>
            <a:ext cx="146304" cy="16459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Step 3"/>
          <p:cNvSpPr/>
          <p:nvPr/>
        </p:nvSpPr>
        <p:spPr>
          <a:xfrm>
            <a:off x="5718048" y="1783080"/>
            <a:ext cx="2420112" cy="731520"/>
          </a:xfrm>
          <a:prstGeom prst="roundRect">
            <a:avLst>
              <a:gd name="adj" fmla="val 12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718048" y="1783080"/>
            <a:ext cx="2420112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Repair completed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2788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Repair tasks (per technician)</a:t>
            </a:r>
            <a:endParaRPr lang="en-US" sz="1600" dirty="0"/>
          </a:p>
        </p:txBody>
      </p:sp>
      <p:sp>
        <p:nvSpPr>
          <p:cNvPr id="17" name="Step 1"/>
          <p:cNvSpPr/>
          <p:nvPr/>
        </p:nvSpPr>
        <p:spPr>
          <a:xfrm>
            <a:off x="548640" y="3154680"/>
            <a:ext cx="1773936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48640" y="3154680"/>
            <a:ext cx="1773936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Assigned</a:t>
            </a:r>
            <a:endParaRPr lang="en-US" sz="1300" dirty="0"/>
          </a:p>
        </p:txBody>
      </p:sp>
      <p:sp>
        <p:nvSpPr>
          <p:cNvPr id="19" name="Arrow"/>
          <p:cNvSpPr/>
          <p:nvPr/>
        </p:nvSpPr>
        <p:spPr>
          <a:xfrm>
            <a:off x="2331720" y="3438144"/>
            <a:ext cx="146304" cy="16459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Step 2"/>
          <p:cNvSpPr/>
          <p:nvPr/>
        </p:nvSpPr>
        <p:spPr>
          <a:xfrm>
            <a:off x="2487168" y="3154680"/>
            <a:ext cx="1773936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2487168" y="3154680"/>
            <a:ext cx="1773936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Accepted</a:t>
            </a:r>
            <a:endParaRPr lang="en-US" sz="1300" dirty="0"/>
          </a:p>
        </p:txBody>
      </p:sp>
      <p:sp>
        <p:nvSpPr>
          <p:cNvPr id="22" name="Arrow"/>
          <p:cNvSpPr/>
          <p:nvPr/>
        </p:nvSpPr>
        <p:spPr>
          <a:xfrm>
            <a:off x="4270248" y="3438144"/>
            <a:ext cx="146304" cy="16459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Step 3"/>
          <p:cNvSpPr/>
          <p:nvPr/>
        </p:nvSpPr>
        <p:spPr>
          <a:xfrm>
            <a:off x="4425696" y="3154680"/>
            <a:ext cx="1773936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4425696" y="3154680"/>
            <a:ext cx="1773936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In progress</a:t>
            </a:r>
            <a:endParaRPr lang="en-US" sz="1300" dirty="0"/>
          </a:p>
        </p:txBody>
      </p:sp>
      <p:sp>
        <p:nvSpPr>
          <p:cNvPr id="25" name="Arrow"/>
          <p:cNvSpPr/>
          <p:nvPr/>
        </p:nvSpPr>
        <p:spPr>
          <a:xfrm>
            <a:off x="6208776" y="3438144"/>
            <a:ext cx="146304" cy="16459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Step 4"/>
          <p:cNvSpPr/>
          <p:nvPr/>
        </p:nvSpPr>
        <p:spPr>
          <a:xfrm>
            <a:off x="6364224" y="3154680"/>
            <a:ext cx="1773936" cy="731520"/>
          </a:xfrm>
          <a:prstGeom prst="roundRect">
            <a:avLst>
              <a:gd name="adj" fmla="val 12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364224" y="3154680"/>
            <a:ext cx="1773936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Completed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548640" y="4206240"/>
            <a:ext cx="7589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Tasks are assigned to technicians, who accept, start and complete them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job moves to “repair completed” only when every task is complete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Managers see progress without asking around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Quality control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AN EXTRA CHECKPOINT</a:t>
            </a:r>
            <a:endParaRPr lang="en-US" sz="1100" dirty="0"/>
          </a:p>
        </p:txBody>
      </p:sp>
      <p:sp>
        <p:nvSpPr>
          <p:cNvPr id="5" name="Step 1"/>
          <p:cNvSpPr/>
          <p:nvPr/>
        </p:nvSpPr>
        <p:spPr>
          <a:xfrm>
            <a:off x="548640" y="1828800"/>
            <a:ext cx="2642616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828800"/>
            <a:ext cx="2642616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Repair completed</a:t>
            </a:r>
            <a:endParaRPr lang="en-US" sz="1800" dirty="0"/>
          </a:p>
        </p:txBody>
      </p:sp>
      <p:sp>
        <p:nvSpPr>
          <p:cNvPr id="7" name="Arrow"/>
          <p:cNvSpPr/>
          <p:nvPr/>
        </p:nvSpPr>
        <p:spPr>
          <a:xfrm>
            <a:off x="3200400" y="2295144"/>
            <a:ext cx="146304" cy="16459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Step 2"/>
          <p:cNvSpPr/>
          <p:nvPr/>
        </p:nvSpPr>
        <p:spPr>
          <a:xfrm>
            <a:off x="3355848" y="1828800"/>
            <a:ext cx="2642616" cy="1097280"/>
          </a:xfrm>
          <a:prstGeom prst="roundRect">
            <a:avLst>
              <a:gd name="adj" fmla="val 833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55848" y="1828800"/>
            <a:ext cx="2642616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Quality check</a:t>
            </a:r>
            <a:endParaRPr lang="en-US" sz="1800" dirty="0"/>
          </a:p>
        </p:txBody>
      </p:sp>
      <p:sp>
        <p:nvSpPr>
          <p:cNvPr id="10" name="Arrow"/>
          <p:cNvSpPr/>
          <p:nvPr/>
        </p:nvSpPr>
        <p:spPr>
          <a:xfrm>
            <a:off x="6007608" y="2295144"/>
            <a:ext cx="146304" cy="16459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Step 3"/>
          <p:cNvSpPr/>
          <p:nvPr/>
        </p:nvSpPr>
        <p:spPr>
          <a:xfrm>
            <a:off x="6163056" y="1828800"/>
            <a:ext cx="2642616" cy="1097280"/>
          </a:xfrm>
          <a:prstGeom prst="roundRect">
            <a:avLst>
              <a:gd name="adj" fmla="val 8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163056" y="1828800"/>
            <a:ext cx="2642616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Pass</a:t>
            </a:r>
            <a:endParaRPr lang="en-US" sz="1800" dirty="0"/>
          </a:p>
        </p:txBody>
      </p:sp>
      <p:sp>
        <p:nvSpPr>
          <p:cNvPr id="13" name="Arrow"/>
          <p:cNvSpPr/>
          <p:nvPr/>
        </p:nvSpPr>
        <p:spPr>
          <a:xfrm>
            <a:off x="8814816" y="2295144"/>
            <a:ext cx="146304" cy="16459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Step 4"/>
          <p:cNvSpPr/>
          <p:nvPr/>
        </p:nvSpPr>
        <p:spPr>
          <a:xfrm>
            <a:off x="8970264" y="1828800"/>
            <a:ext cx="2642616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970264" y="1828800"/>
            <a:ext cx="2642616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Invoice</a:t>
            </a:r>
            <a:endParaRPr lang="en-US" sz="1800" dirty="0"/>
          </a:p>
        </p:txBody>
      </p:sp>
      <p:sp>
        <p:nvSpPr>
          <p:cNvPr id="16" name="Fail"/>
          <p:cNvSpPr/>
          <p:nvPr/>
        </p:nvSpPr>
        <p:spPr>
          <a:xfrm>
            <a:off x="4937760" y="3749040"/>
            <a:ext cx="2194560" cy="822960"/>
          </a:xfrm>
          <a:prstGeom prst="roundRect">
            <a:avLst>
              <a:gd name="adj" fmla="val 1111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937760" y="3749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91C1C"/>
                </a:solidFill>
              </a:rPr>
              <a:t>Fail</a:t>
            </a:r>
            <a:endParaRPr lang="en-US" sz="2000" dirty="0"/>
          </a:p>
        </p:txBody>
      </p:sp>
      <p:sp>
        <p:nvSpPr>
          <p:cNvPr id="18" name="FailLink"/>
          <p:cNvSpPr/>
          <p:nvPr/>
        </p:nvSpPr>
        <p:spPr>
          <a:xfrm>
            <a:off x="6035040" y="2926080"/>
            <a:ext cx="0" cy="822960"/>
          </a:xfrm>
          <a:prstGeom prst="line">
            <a:avLst/>
          </a:prstGeom>
          <a:noFill/>
          <a:ln w="19050">
            <a:solidFill>
              <a:srgbClr val="B91C1C"/>
            </a:solidFill>
            <a:prstDash val="dash"/>
          </a:ln>
        </p:spPr>
      </p:sp>
      <p:sp>
        <p:nvSpPr>
          <p:cNvPr id="19" name="Text 16"/>
          <p:cNvSpPr txBox="1"/>
          <p:nvPr/>
        </p:nvSpPr>
        <p:spPr>
          <a:xfrm>
            <a:off x="7315200" y="374904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Rework: the job returns to repair and the owner, managers and affected technicians are notified.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49377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Quality is verified before the customer is invoiced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Pass or fail is recorded against the job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Managers are told when a check starts, passes or fails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Billing &amp; invoice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BILLING WORKFLOW</a:t>
            </a:r>
            <a:endParaRPr lang="en-US" sz="1100" dirty="0"/>
          </a:p>
        </p:txBody>
      </p:sp>
      <p:sp>
        <p:nvSpPr>
          <p:cNvPr id="5" name="Step 1"/>
          <p:cNvSpPr/>
          <p:nvPr/>
        </p:nvSpPr>
        <p:spPr>
          <a:xfrm>
            <a:off x="548640" y="1645920"/>
            <a:ext cx="2642616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645920"/>
            <a:ext cx="2642616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Invoice generated</a:t>
            </a:r>
            <a:endParaRPr lang="en-US" sz="1600" dirty="0"/>
          </a:p>
        </p:txBody>
      </p:sp>
      <p:sp>
        <p:nvSpPr>
          <p:cNvPr id="7" name="Arrow"/>
          <p:cNvSpPr/>
          <p:nvPr/>
        </p:nvSpPr>
        <p:spPr>
          <a:xfrm>
            <a:off x="3200400" y="2066544"/>
            <a:ext cx="146304" cy="16459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Step 2"/>
          <p:cNvSpPr/>
          <p:nvPr/>
        </p:nvSpPr>
        <p:spPr>
          <a:xfrm>
            <a:off x="3355848" y="1645920"/>
            <a:ext cx="2642616" cy="1005840"/>
          </a:xfrm>
          <a:prstGeom prst="roundRect">
            <a:avLst>
              <a:gd name="adj" fmla="val 9091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55848" y="1645920"/>
            <a:ext cx="2642616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Customer views &amp; accepts</a:t>
            </a:r>
            <a:endParaRPr lang="en-US" sz="1600" dirty="0"/>
          </a:p>
        </p:txBody>
      </p:sp>
      <p:sp>
        <p:nvSpPr>
          <p:cNvPr id="10" name="Arrow"/>
          <p:cNvSpPr/>
          <p:nvPr/>
        </p:nvSpPr>
        <p:spPr>
          <a:xfrm>
            <a:off x="6007608" y="2066544"/>
            <a:ext cx="146304" cy="16459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Step 3"/>
          <p:cNvSpPr/>
          <p:nvPr/>
        </p:nvSpPr>
        <p:spPr>
          <a:xfrm>
            <a:off x="6163056" y="1645920"/>
            <a:ext cx="2642616" cy="1005840"/>
          </a:xfrm>
          <a:prstGeom prst="roundRect">
            <a:avLst>
              <a:gd name="adj" fmla="val 9091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163056" y="1645920"/>
            <a:ext cx="2642616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Payment recorded</a:t>
            </a:r>
            <a:endParaRPr lang="en-US" sz="1600" dirty="0"/>
          </a:p>
        </p:txBody>
      </p:sp>
      <p:sp>
        <p:nvSpPr>
          <p:cNvPr id="13" name="Arrow"/>
          <p:cNvSpPr/>
          <p:nvPr/>
        </p:nvSpPr>
        <p:spPr>
          <a:xfrm>
            <a:off x="8814816" y="2066544"/>
            <a:ext cx="146304" cy="16459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Step 4"/>
          <p:cNvSpPr/>
          <p:nvPr/>
        </p:nvSpPr>
        <p:spPr>
          <a:xfrm>
            <a:off x="8970264" y="1645920"/>
            <a:ext cx="2642616" cy="1005840"/>
          </a:xfrm>
          <a:prstGeom prst="roundRect">
            <a:avLst>
              <a:gd name="adj" fmla="val 909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970264" y="1645920"/>
            <a:ext cx="2642616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Vehicle ready for delivery</a:t>
            </a:r>
            <a:endParaRPr lang="en-US" sz="1600" dirty="0"/>
          </a:p>
        </p:txBody>
      </p:sp>
      <p:sp>
        <p:nvSpPr>
          <p:cNvPr id="16" name="Card"/>
          <p:cNvSpPr/>
          <p:nvPr/>
        </p:nvSpPr>
        <p:spPr>
          <a:xfrm>
            <a:off x="548640" y="301752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IconCircle"/>
          <p:cNvSpPr/>
          <p:nvPr/>
        </p:nvSpPr>
        <p:spPr>
          <a:xfrm>
            <a:off x="822960" y="32461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con FaFileInvoiceDollar" descr="FaFileInvoiceDoll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3406140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822960" y="40233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Invoice from the approved estimate</a:t>
            </a:r>
            <a:endParaRPr lang="en-US" sz="1700" dirty="0"/>
          </a:p>
        </p:txBody>
      </p:sp>
      <p:sp>
        <p:nvSpPr>
          <p:cNvPr id="20" name="Text 16"/>
          <p:cNvSpPr txBox="1"/>
          <p:nvPr/>
        </p:nvSpPr>
        <p:spPr>
          <a:xfrm>
            <a:off x="822960" y="45262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Items match what the customer approved.</a:t>
            </a:r>
            <a:endParaRPr lang="en-US" sz="1300" dirty="0"/>
          </a:p>
        </p:txBody>
      </p:sp>
      <p:sp>
        <p:nvSpPr>
          <p:cNvPr id="21" name="Card"/>
          <p:cNvSpPr/>
          <p:nvPr/>
        </p:nvSpPr>
        <p:spPr>
          <a:xfrm>
            <a:off x="4297680" y="301752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IconCircle"/>
          <p:cNvSpPr/>
          <p:nvPr/>
        </p:nvSpPr>
        <p:spPr>
          <a:xfrm>
            <a:off x="4572000" y="32461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con FaEye" descr="FaEy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0" y="3406140"/>
            <a:ext cx="320040" cy="32004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4572000" y="40233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Customer visibility</a:t>
            </a:r>
            <a:endParaRPr lang="en-US" sz="1700" dirty="0"/>
          </a:p>
        </p:txBody>
      </p:sp>
      <p:sp>
        <p:nvSpPr>
          <p:cNvPr id="25" name="Text 20"/>
          <p:cNvSpPr txBox="1"/>
          <p:nvPr/>
        </p:nvSpPr>
        <p:spPr>
          <a:xfrm>
            <a:off x="4572000" y="45262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Invoices and payment status are visible in the customer app.</a:t>
            </a:r>
            <a:endParaRPr lang="en-US" sz="1300" dirty="0"/>
          </a:p>
        </p:txBody>
      </p:sp>
      <p:sp>
        <p:nvSpPr>
          <p:cNvPr id="26" name="Card"/>
          <p:cNvSpPr/>
          <p:nvPr/>
        </p:nvSpPr>
        <p:spPr>
          <a:xfrm>
            <a:off x="8046720" y="301752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IconCircle"/>
          <p:cNvSpPr/>
          <p:nvPr/>
        </p:nvSpPr>
        <p:spPr>
          <a:xfrm>
            <a:off x="8321040" y="32461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8" name="Icon FaBell" descr="FaBel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060" y="3406140"/>
            <a:ext cx="320040" cy="32004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8321040" y="40233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Notified at each step</a:t>
            </a:r>
            <a:endParaRPr lang="en-US" sz="1700" dirty="0"/>
          </a:p>
        </p:txBody>
      </p:sp>
      <p:sp>
        <p:nvSpPr>
          <p:cNvPr id="30" name="Text 24"/>
          <p:cNvSpPr txBox="1"/>
          <p:nvPr/>
        </p:nvSpPr>
        <p:spPr>
          <a:xfrm>
            <a:off x="8321040" y="45262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Invoice ready · invoice accepted · payment received.</a:t>
            </a:r>
            <a:endParaRPr lang="en-US" sz="1300" dirty="0"/>
          </a:p>
        </p:txBody>
      </p:sp>
      <p:sp>
        <p:nvSpPr>
          <p:cNvPr id="31" name="Card"/>
          <p:cNvSpPr/>
          <p:nvPr/>
        </p:nvSpPr>
        <p:spPr>
          <a:xfrm>
            <a:off x="548640" y="5486400"/>
            <a:ext cx="11064240" cy="640080"/>
          </a:xfrm>
          <a:prstGeom prst="roundRect">
            <a:avLst>
              <a:gd name="adj" fmla="val 17143"/>
            </a:avLst>
          </a:prstGeom>
          <a:solidFill>
            <a:srgbClr val="FDF1C7"/>
          </a:solidFill>
          <a:ln w="12700">
            <a:solidFill>
              <a:srgbClr val="FDF1C7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777240" y="54864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Payment is currently tracked and recorded inside GarageST. An online payment gateway is not part of the current product (see roadmap).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Vehicle pickup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COLLECTION FROM THE CUSTOMER</a:t>
            </a:r>
            <a:endParaRPr lang="en-US" sz="1100" dirty="0"/>
          </a:p>
        </p:txBody>
      </p:sp>
      <p:sp>
        <p:nvSpPr>
          <p:cNvPr id="5" name="ShadowPlate"/>
          <p:cNvSpPr/>
          <p:nvPr/>
        </p:nvSpPr>
        <p:spPr>
          <a:xfrm>
            <a:off x="6757416" y="1490472"/>
            <a:ext cx="2667688" cy="4480560"/>
          </a:xfrm>
          <a:prstGeom prst="roundRect">
            <a:avLst>
              <a:gd name="adj" fmla="val 68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Screenshot 05" descr="GarageST app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417320"/>
            <a:ext cx="2667688" cy="4480560"/>
          </a:xfrm>
          <a:prstGeom prst="rect">
            <a:avLst/>
          </a:prstGeom>
        </p:spPr>
      </p:pic>
      <p:sp>
        <p:nvSpPr>
          <p:cNvPr id="7" name="ShadowPlate"/>
          <p:cNvSpPr/>
          <p:nvPr/>
        </p:nvSpPr>
        <p:spPr>
          <a:xfrm>
            <a:off x="9363456" y="1490472"/>
            <a:ext cx="2667688" cy="4480560"/>
          </a:xfrm>
          <a:prstGeom prst="roundRect">
            <a:avLst>
              <a:gd name="adj" fmla="val 68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Screenshot 06" descr="GarageST app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1417320"/>
            <a:ext cx="2667688" cy="4480560"/>
          </a:xfrm>
          <a:prstGeom prst="rect">
            <a:avLst/>
          </a:prstGeom>
        </p:spPr>
      </p:pic>
      <p:sp>
        <p:nvSpPr>
          <p:cNvPr id="9" name="Step 1"/>
          <p:cNvSpPr/>
          <p:nvPr/>
        </p:nvSpPr>
        <p:spPr>
          <a:xfrm>
            <a:off x="548640" y="1554480"/>
            <a:ext cx="1122883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48640" y="1554480"/>
            <a:ext cx="1122883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Pickup request</a:t>
            </a:r>
            <a:endParaRPr lang="en-US" sz="1100" dirty="0"/>
          </a:p>
        </p:txBody>
      </p:sp>
      <p:sp>
        <p:nvSpPr>
          <p:cNvPr id="11" name="Arrow"/>
          <p:cNvSpPr/>
          <p:nvPr/>
        </p:nvSpPr>
        <p:spPr>
          <a:xfrm>
            <a:off x="1680667" y="1815084"/>
            <a:ext cx="109728" cy="16459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Step 2"/>
          <p:cNvSpPr/>
          <p:nvPr/>
        </p:nvSpPr>
        <p:spPr>
          <a:xfrm>
            <a:off x="1799539" y="1554480"/>
            <a:ext cx="1122883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1799539" y="1554480"/>
            <a:ext cx="1122883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Garage confirms</a:t>
            </a:r>
            <a:endParaRPr lang="en-US" sz="1100" dirty="0"/>
          </a:p>
        </p:txBody>
      </p:sp>
      <p:sp>
        <p:nvSpPr>
          <p:cNvPr id="14" name="Arrow"/>
          <p:cNvSpPr/>
          <p:nvPr/>
        </p:nvSpPr>
        <p:spPr>
          <a:xfrm>
            <a:off x="2931566" y="1815084"/>
            <a:ext cx="109728" cy="16459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Step 3"/>
          <p:cNvSpPr/>
          <p:nvPr/>
        </p:nvSpPr>
        <p:spPr>
          <a:xfrm>
            <a:off x="3050438" y="1554480"/>
            <a:ext cx="1122883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3050438" y="1554480"/>
            <a:ext cx="1122883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Driver assigned</a:t>
            </a:r>
            <a:endParaRPr lang="en-US" sz="1100" dirty="0"/>
          </a:p>
        </p:txBody>
      </p:sp>
      <p:sp>
        <p:nvSpPr>
          <p:cNvPr id="17" name="Arrow"/>
          <p:cNvSpPr/>
          <p:nvPr/>
        </p:nvSpPr>
        <p:spPr>
          <a:xfrm>
            <a:off x="4182466" y="1815084"/>
            <a:ext cx="109728" cy="16459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Step 4"/>
          <p:cNvSpPr/>
          <p:nvPr/>
        </p:nvSpPr>
        <p:spPr>
          <a:xfrm>
            <a:off x="4301338" y="1554480"/>
            <a:ext cx="1122883" cy="685800"/>
          </a:xfrm>
          <a:prstGeom prst="roundRect">
            <a:avLst>
              <a:gd name="adj" fmla="val 1333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4301338" y="1554480"/>
            <a:ext cx="1122883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Trip in progress</a:t>
            </a:r>
            <a:endParaRPr lang="en-US" sz="1100" dirty="0"/>
          </a:p>
        </p:txBody>
      </p:sp>
      <p:sp>
        <p:nvSpPr>
          <p:cNvPr id="20" name="Arrow"/>
          <p:cNvSpPr/>
          <p:nvPr/>
        </p:nvSpPr>
        <p:spPr>
          <a:xfrm>
            <a:off x="5433365" y="1815084"/>
            <a:ext cx="109728" cy="16459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Step 5"/>
          <p:cNvSpPr/>
          <p:nvPr/>
        </p:nvSpPr>
        <p:spPr>
          <a:xfrm>
            <a:off x="5552237" y="1554480"/>
            <a:ext cx="1122883" cy="68580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5552237" y="1554480"/>
            <a:ext cx="1122883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Handover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548640" y="2651760"/>
            <a:ext cx="6126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Customer chooses the pickup point on a map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garage confirms and assigns a driver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driver accepts and starts the trip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Customer and workshop are notified at each stage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Live vehicle tracking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KNOW WHERE THE VEHICLE IS</a:t>
            </a:r>
            <a:endParaRPr lang="en-US" sz="1100" dirty="0"/>
          </a:p>
        </p:txBody>
      </p:sp>
      <p:sp>
        <p:nvSpPr>
          <p:cNvPr id="5" name="ShadowPlate"/>
          <p:cNvSpPr/>
          <p:nvPr/>
        </p:nvSpPr>
        <p:spPr>
          <a:xfrm>
            <a:off x="859536" y="1444752"/>
            <a:ext cx="2885459" cy="4846320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Screenshot 04" descr="GarageST app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2885459" cy="4846320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4114800" y="1554480"/>
            <a:ext cx="74980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IconCircle"/>
          <p:cNvSpPr/>
          <p:nvPr/>
        </p:nvSpPr>
        <p:spPr>
          <a:xfrm>
            <a:off x="4343400" y="1719072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con FaMapMarkedAlt" descr="FaMapMarked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3420" y="1879092"/>
            <a:ext cx="320040" cy="3200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166360" y="166420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Live driver location</a:t>
            </a:r>
            <a:endParaRPr lang="en-US" sz="1800" dirty="0"/>
          </a:p>
        </p:txBody>
      </p:sp>
      <p:sp>
        <p:nvSpPr>
          <p:cNvPr id="11" name="Text 6"/>
          <p:cNvSpPr txBox="1"/>
          <p:nvPr/>
        </p:nvSpPr>
        <p:spPr>
          <a:xfrm>
            <a:off x="5166360" y="205740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the vehicle moves on the map as the driver drives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4114800" y="2651760"/>
            <a:ext cx="7498080" cy="960120"/>
          </a:xfrm>
          <a:prstGeom prst="roundRect">
            <a:avLst>
              <a:gd name="adj" fmla="val 11429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IconCircle"/>
          <p:cNvSpPr/>
          <p:nvPr/>
        </p:nvSpPr>
        <p:spPr>
          <a:xfrm>
            <a:off x="4343400" y="2816352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con FaRoute" descr="FaRou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3420" y="2976372"/>
            <a:ext cx="320040" cy="32004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166360" y="276148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Route, distance and ETA</a:t>
            </a:r>
            <a:endParaRPr lang="en-US" sz="1800" dirty="0"/>
          </a:p>
        </p:txBody>
      </p:sp>
      <p:sp>
        <p:nvSpPr>
          <p:cNvPr id="16" name="Text 10"/>
          <p:cNvSpPr txBox="1"/>
          <p:nvPr/>
        </p:nvSpPr>
        <p:spPr>
          <a:xfrm>
            <a:off x="5166360" y="315468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shown to the customer on the trip screen</a:t>
            </a:r>
            <a:endParaRPr lang="en-US" sz="1400" dirty="0"/>
          </a:p>
        </p:txBody>
      </p:sp>
      <p:sp>
        <p:nvSpPr>
          <p:cNvPr id="17" name="Card"/>
          <p:cNvSpPr/>
          <p:nvPr/>
        </p:nvSpPr>
        <p:spPr>
          <a:xfrm>
            <a:off x="4114800" y="3749040"/>
            <a:ext cx="74980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IconCircle"/>
          <p:cNvSpPr/>
          <p:nvPr/>
        </p:nvSpPr>
        <p:spPr>
          <a:xfrm>
            <a:off x="4343400" y="3913632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con FaUserCheck" descr="FaUser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3420" y="4073652"/>
            <a:ext cx="320040" cy="32004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5166360" y="385876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Customer visibility</a:t>
            </a:r>
            <a:endParaRPr lang="en-US" sz="1800" dirty="0"/>
          </a:p>
        </p:txBody>
      </p:sp>
      <p:sp>
        <p:nvSpPr>
          <p:cNvPr id="21" name="Text 14"/>
          <p:cNvSpPr txBox="1"/>
          <p:nvPr/>
        </p:nvSpPr>
        <p:spPr>
          <a:xfrm>
            <a:off x="5166360" y="425196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the customer follows their own vehicle’s trip</a:t>
            </a:r>
            <a:endParaRPr lang="en-US" sz="1400" dirty="0"/>
          </a:p>
        </p:txBody>
      </p:sp>
      <p:sp>
        <p:nvSpPr>
          <p:cNvPr id="22" name="Card"/>
          <p:cNvSpPr/>
          <p:nvPr/>
        </p:nvSpPr>
        <p:spPr>
          <a:xfrm>
            <a:off x="4114800" y="4846320"/>
            <a:ext cx="7498080" cy="960120"/>
          </a:xfrm>
          <a:prstGeom prst="roundRect">
            <a:avLst>
              <a:gd name="adj" fmla="val 11429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3" name="IconCircle"/>
          <p:cNvSpPr/>
          <p:nvPr/>
        </p:nvSpPr>
        <p:spPr>
          <a:xfrm>
            <a:off x="4343400" y="5010912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Icon FaTruck" descr="FaTru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3420" y="5170932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166360" y="495604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Workshop visibility</a:t>
            </a:r>
            <a:endParaRPr lang="en-US" sz="1800" dirty="0"/>
          </a:p>
        </p:txBody>
      </p:sp>
      <p:sp>
        <p:nvSpPr>
          <p:cNvPr id="26" name="Text 18"/>
          <p:cNvSpPr txBox="1"/>
          <p:nvPr/>
        </p:nvSpPr>
        <p:spPr>
          <a:xfrm>
            <a:off x="5166360" y="53492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managers and owners see active trips on a fleet map</a:t>
            </a:r>
            <a:endParaRPr lang="en-US" sz="1400" dirty="0"/>
          </a:p>
        </p:txBody>
      </p:sp>
      <p:sp>
        <p:nvSpPr>
          <p:cNvPr id="27" name="Text 19"/>
          <p:cNvSpPr txBox="1"/>
          <p:nvPr/>
        </p:nvSpPr>
        <p:spPr>
          <a:xfrm>
            <a:off x="4114800" y="60350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Available during active pickup and delivery trips.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Digital handover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VERIFIED VEHICLE HANDOVER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645920"/>
            <a:ext cx="2651760" cy="292608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IconCircle"/>
          <p:cNvSpPr/>
          <p:nvPr/>
        </p:nvSpPr>
        <p:spPr>
          <a:xfrm>
            <a:off x="822960" y="1874520"/>
            <a:ext cx="731520" cy="7315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7" name="Icon FaMapPin" descr="FaMapP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057400"/>
            <a:ext cx="365760" cy="3657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2960" y="2788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Driver arrives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33832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the customer is notified</a:t>
            </a:r>
            <a:endParaRPr lang="en-US" sz="1400" dirty="0"/>
          </a:p>
        </p:txBody>
      </p:sp>
      <p:sp>
        <p:nvSpPr>
          <p:cNvPr id="10" name="Arrow"/>
          <p:cNvSpPr/>
          <p:nvPr/>
        </p:nvSpPr>
        <p:spPr>
          <a:xfrm>
            <a:off x="3218688" y="3017520"/>
            <a:ext cx="137160" cy="18288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Card"/>
          <p:cNvSpPr/>
          <p:nvPr/>
        </p:nvSpPr>
        <p:spPr>
          <a:xfrm>
            <a:off x="3364992" y="1645920"/>
            <a:ext cx="2651760" cy="292608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IconCircle"/>
          <p:cNvSpPr/>
          <p:nvPr/>
        </p:nvSpPr>
        <p:spPr>
          <a:xfrm>
            <a:off x="3639312" y="1874520"/>
            <a:ext cx="731520" cy="7315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3" name="Icon FaCamera" descr="FaCamer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192" y="205740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639312" y="2788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Evidence photos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3639312" y="33832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condition captured at handover</a:t>
            </a:r>
            <a:endParaRPr lang="en-US" sz="1400" dirty="0"/>
          </a:p>
        </p:txBody>
      </p:sp>
      <p:sp>
        <p:nvSpPr>
          <p:cNvPr id="16" name="Arrow"/>
          <p:cNvSpPr/>
          <p:nvPr/>
        </p:nvSpPr>
        <p:spPr>
          <a:xfrm>
            <a:off x="6035040" y="3017520"/>
            <a:ext cx="137160" cy="18288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Card"/>
          <p:cNvSpPr/>
          <p:nvPr/>
        </p:nvSpPr>
        <p:spPr>
          <a:xfrm>
            <a:off x="6181344" y="1645920"/>
            <a:ext cx="2651760" cy="292608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IconCircle"/>
          <p:cNvSpPr/>
          <p:nvPr/>
        </p:nvSpPr>
        <p:spPr>
          <a:xfrm>
            <a:off x="6455664" y="1874520"/>
            <a:ext cx="731520" cy="7315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9" name="Icon FaKey" descr="FaKe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544" y="205740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455664" y="2788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Customer shows a code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6455664" y="33832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generated in the customer’s app</a:t>
            </a:r>
            <a:endParaRPr lang="en-US" sz="1400" dirty="0"/>
          </a:p>
        </p:txBody>
      </p:sp>
      <p:sp>
        <p:nvSpPr>
          <p:cNvPr id="22" name="Arrow"/>
          <p:cNvSpPr/>
          <p:nvPr/>
        </p:nvSpPr>
        <p:spPr>
          <a:xfrm>
            <a:off x="8851392" y="3017520"/>
            <a:ext cx="137160" cy="18288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Card"/>
          <p:cNvSpPr/>
          <p:nvPr/>
        </p:nvSpPr>
        <p:spPr>
          <a:xfrm>
            <a:off x="8997696" y="1645920"/>
            <a:ext cx="2651760" cy="2926080"/>
          </a:xfrm>
          <a:prstGeom prst="roundRect">
            <a:avLst>
              <a:gd name="adj" fmla="val 413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4" name="IconCircle"/>
          <p:cNvSpPr/>
          <p:nvPr/>
        </p:nvSpPr>
        <p:spPr>
          <a:xfrm>
            <a:off x="9272016" y="18745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con FaCheckDouble" descr="FaCheckDoub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4896" y="205740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272016" y="2788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Driver verifies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9272016" y="33832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handover confirmed in the system</a:t>
            </a:r>
            <a:endParaRPr lang="en-US" sz="1400" dirty="0"/>
          </a:p>
        </p:txBody>
      </p:sp>
      <p:sp>
        <p:nvSpPr>
          <p:cNvPr id="28" name="Card"/>
          <p:cNvSpPr/>
          <p:nvPr/>
        </p:nvSpPr>
        <p:spPr>
          <a:xfrm>
            <a:off x="548640" y="4892040"/>
            <a:ext cx="11064240" cy="109728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822960" y="48920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handover verification code confirms that the vehicle really changed hands — for both pickup and delivery. It is a vehicle-handover check, not a login code.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Delivery management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BACK TO THE CUSTOMER</a:t>
            </a:r>
            <a:endParaRPr lang="en-US" sz="1100" dirty="0"/>
          </a:p>
        </p:txBody>
      </p:sp>
      <p:sp>
        <p:nvSpPr>
          <p:cNvPr id="5" name="Step 1"/>
          <p:cNvSpPr/>
          <p:nvPr/>
        </p:nvSpPr>
        <p:spPr>
          <a:xfrm>
            <a:off x="548640" y="1645920"/>
            <a:ext cx="1706880" cy="1097280"/>
          </a:xfrm>
          <a:prstGeom prst="roundRect">
            <a:avLst>
              <a:gd name="adj" fmla="val 833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645920"/>
            <a:ext cx="17068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Ready for delivery</a:t>
            </a:r>
            <a:endParaRPr lang="en-US" sz="1400" dirty="0"/>
          </a:p>
        </p:txBody>
      </p:sp>
      <p:sp>
        <p:nvSpPr>
          <p:cNvPr id="7" name="Arrow"/>
          <p:cNvSpPr/>
          <p:nvPr/>
        </p:nvSpPr>
        <p:spPr>
          <a:xfrm>
            <a:off x="2264664" y="2112264"/>
            <a:ext cx="146304" cy="16459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Step 2"/>
          <p:cNvSpPr/>
          <p:nvPr/>
        </p:nvSpPr>
        <p:spPr>
          <a:xfrm>
            <a:off x="2420112" y="1645920"/>
            <a:ext cx="170688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420112" y="1645920"/>
            <a:ext cx="17068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Delivery requested</a:t>
            </a:r>
            <a:endParaRPr lang="en-US" sz="1400" dirty="0"/>
          </a:p>
        </p:txBody>
      </p:sp>
      <p:sp>
        <p:nvSpPr>
          <p:cNvPr id="10" name="Arrow"/>
          <p:cNvSpPr/>
          <p:nvPr/>
        </p:nvSpPr>
        <p:spPr>
          <a:xfrm>
            <a:off x="4136136" y="2112264"/>
            <a:ext cx="146304" cy="16459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Step 3"/>
          <p:cNvSpPr/>
          <p:nvPr/>
        </p:nvSpPr>
        <p:spPr>
          <a:xfrm>
            <a:off x="4291584" y="1645920"/>
            <a:ext cx="170688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291584" y="1645920"/>
            <a:ext cx="17068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Driver trip</a:t>
            </a:r>
            <a:endParaRPr lang="en-US" sz="1400" dirty="0"/>
          </a:p>
        </p:txBody>
      </p:sp>
      <p:sp>
        <p:nvSpPr>
          <p:cNvPr id="13" name="Arrow"/>
          <p:cNvSpPr/>
          <p:nvPr/>
        </p:nvSpPr>
        <p:spPr>
          <a:xfrm>
            <a:off x="6007608" y="2112264"/>
            <a:ext cx="146304" cy="16459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Step 4"/>
          <p:cNvSpPr/>
          <p:nvPr/>
        </p:nvSpPr>
        <p:spPr>
          <a:xfrm>
            <a:off x="6163056" y="1645920"/>
            <a:ext cx="170688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163056" y="1645920"/>
            <a:ext cx="17068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Handover verified</a:t>
            </a:r>
            <a:endParaRPr lang="en-US" sz="1400" dirty="0"/>
          </a:p>
        </p:txBody>
      </p:sp>
      <p:sp>
        <p:nvSpPr>
          <p:cNvPr id="16" name="Arrow"/>
          <p:cNvSpPr/>
          <p:nvPr/>
        </p:nvSpPr>
        <p:spPr>
          <a:xfrm>
            <a:off x="7879080" y="2112264"/>
            <a:ext cx="146304" cy="16459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Step 5"/>
          <p:cNvSpPr/>
          <p:nvPr/>
        </p:nvSpPr>
        <p:spPr>
          <a:xfrm>
            <a:off x="8034528" y="1645920"/>
            <a:ext cx="1706880" cy="1097280"/>
          </a:xfrm>
          <a:prstGeom prst="roundRect">
            <a:avLst>
              <a:gd name="adj" fmla="val 8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034528" y="1645920"/>
            <a:ext cx="17068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Vehicle delivered</a:t>
            </a:r>
            <a:endParaRPr lang="en-US" sz="1400" dirty="0"/>
          </a:p>
        </p:txBody>
      </p:sp>
      <p:sp>
        <p:nvSpPr>
          <p:cNvPr id="19" name="Arrow"/>
          <p:cNvSpPr/>
          <p:nvPr/>
        </p:nvSpPr>
        <p:spPr>
          <a:xfrm>
            <a:off x="9750552" y="2112264"/>
            <a:ext cx="146304" cy="16459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Step 6"/>
          <p:cNvSpPr/>
          <p:nvPr/>
        </p:nvSpPr>
        <p:spPr>
          <a:xfrm>
            <a:off x="9906000" y="1645920"/>
            <a:ext cx="170688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906000" y="1645920"/>
            <a:ext cx="17068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Job closed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3200400"/>
            <a:ext cx="6583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Once payment is recorded the vehicle is marked ready for delivery and the customer is notified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Delivery uses the same driver, live-trip and handover tools as pickup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Completing the verified delivery trip records the delivery and marks the job delivered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job is then closed by the workshop</a:t>
            </a:r>
            <a:endParaRPr lang="en-US" sz="1600" dirty="0"/>
          </a:p>
        </p:txBody>
      </p:sp>
      <p:pic>
        <p:nvPicPr>
          <p:cNvPr id="23" name="Vehicle" descr="Top-down vehi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3017520"/>
            <a:ext cx="1280160" cy="247401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Real-time notifications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NEW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GarageST proactively notifies users about important workflow events — on the phone’s notification tray, even when the app is not in the foreground.</a:t>
            </a:r>
            <a:endParaRPr lang="en-US" sz="2200" dirty="0"/>
          </a:p>
        </p:txBody>
      </p:sp>
      <p:sp>
        <p:nvSpPr>
          <p:cNvPr id="6" name="Card"/>
          <p:cNvSpPr/>
          <p:nvPr/>
        </p:nvSpPr>
        <p:spPr>
          <a:xfrm>
            <a:off x="548640" y="246888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12263D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IconCircle"/>
          <p:cNvSpPr/>
          <p:nvPr/>
        </p:nvSpPr>
        <p:spPr>
          <a:xfrm>
            <a:off x="731520" y="2651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con FaCalendarCheck" descr="FaCalendar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7889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17320" y="26517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Bookings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731520" y="33375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requested · confirmed · rejected · cancelled</a:t>
            </a:r>
            <a:endParaRPr lang="en-US" sz="1250" dirty="0"/>
          </a:p>
        </p:txBody>
      </p:sp>
      <p:sp>
        <p:nvSpPr>
          <p:cNvPr id="11" name="Card"/>
          <p:cNvSpPr/>
          <p:nvPr/>
        </p:nvSpPr>
        <p:spPr>
          <a:xfrm>
            <a:off x="3355848" y="246888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12263D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IconCircle"/>
          <p:cNvSpPr/>
          <p:nvPr/>
        </p:nvSpPr>
        <p:spPr>
          <a:xfrm>
            <a:off x="3538728" y="2651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con FaTruck" descr="FaTr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27889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224528" y="26517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Pickup &amp; trips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3538728" y="33375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driver assigned · started · arrived · handover</a:t>
            </a:r>
            <a:endParaRPr lang="en-US" sz="1250" dirty="0"/>
          </a:p>
        </p:txBody>
      </p:sp>
      <p:sp>
        <p:nvSpPr>
          <p:cNvPr id="16" name="Card"/>
          <p:cNvSpPr/>
          <p:nvPr/>
        </p:nvSpPr>
        <p:spPr>
          <a:xfrm>
            <a:off x="6163056" y="246888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12263D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IconCircle"/>
          <p:cNvSpPr/>
          <p:nvPr/>
        </p:nvSpPr>
        <p:spPr>
          <a:xfrm>
            <a:off x="6345936" y="2651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con FaSearch" descr="FaSearc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27889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31736" y="26517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Inspection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6345936" y="33375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started · completed</a:t>
            </a:r>
            <a:endParaRPr lang="en-US" sz="1250" dirty="0"/>
          </a:p>
        </p:txBody>
      </p:sp>
      <p:sp>
        <p:nvSpPr>
          <p:cNvPr id="21" name="Card"/>
          <p:cNvSpPr/>
          <p:nvPr/>
        </p:nvSpPr>
        <p:spPr>
          <a:xfrm>
            <a:off x="8970264" y="246888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12263D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IconCircle"/>
          <p:cNvSpPr/>
          <p:nvPr/>
        </p:nvSpPr>
        <p:spPr>
          <a:xfrm>
            <a:off x="9153144" y="2651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con FaFileInvoice" descr="FaFileInvoic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0304" y="278892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9838944" y="26517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Estimates</a:t>
            </a:r>
            <a:endParaRPr lang="en-US" sz="1600" dirty="0"/>
          </a:p>
        </p:txBody>
      </p:sp>
      <p:sp>
        <p:nvSpPr>
          <p:cNvPr id="25" name="Text 18"/>
          <p:cNvSpPr txBox="1"/>
          <p:nvPr/>
        </p:nvSpPr>
        <p:spPr>
          <a:xfrm>
            <a:off x="9153144" y="33375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ready · approved · rejected</a:t>
            </a:r>
            <a:endParaRPr lang="en-US" sz="1250" dirty="0"/>
          </a:p>
        </p:txBody>
      </p:sp>
      <p:sp>
        <p:nvSpPr>
          <p:cNvPr id="26" name="Card"/>
          <p:cNvSpPr/>
          <p:nvPr/>
        </p:nvSpPr>
        <p:spPr>
          <a:xfrm>
            <a:off x="548640" y="429768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12263D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IconCircle"/>
          <p:cNvSpPr/>
          <p:nvPr/>
        </p:nvSpPr>
        <p:spPr>
          <a:xfrm>
            <a:off x="731520" y="44805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8" name="Icon FaTools" descr="FaTool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617720"/>
            <a:ext cx="274320" cy="27432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417320" y="44805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Repair</a:t>
            </a:r>
            <a:endParaRPr lang="en-US" sz="1600" dirty="0"/>
          </a:p>
        </p:txBody>
      </p:sp>
      <p:sp>
        <p:nvSpPr>
          <p:cNvPr id="30" name="Text 22"/>
          <p:cNvSpPr txBox="1"/>
          <p:nvPr/>
        </p:nvSpPr>
        <p:spPr>
          <a:xfrm>
            <a:off x="731520" y="51663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task assigned · started · completed</a:t>
            </a:r>
            <a:endParaRPr lang="en-US" sz="1250" dirty="0"/>
          </a:p>
        </p:txBody>
      </p:sp>
      <p:sp>
        <p:nvSpPr>
          <p:cNvPr id="31" name="Card"/>
          <p:cNvSpPr/>
          <p:nvPr/>
        </p:nvSpPr>
        <p:spPr>
          <a:xfrm>
            <a:off x="3355848" y="429768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12263D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IconCircle"/>
          <p:cNvSpPr/>
          <p:nvPr/>
        </p:nvSpPr>
        <p:spPr>
          <a:xfrm>
            <a:off x="3538728" y="44805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3" name="Icon FaClipboardCheck" descr="FaClipboardChe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5888" y="4617720"/>
            <a:ext cx="274320" cy="274320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4224528" y="44805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Quality check</a:t>
            </a:r>
            <a:endParaRPr lang="en-US" sz="1600" dirty="0"/>
          </a:p>
        </p:txBody>
      </p:sp>
      <p:sp>
        <p:nvSpPr>
          <p:cNvPr id="35" name="Text 26"/>
          <p:cNvSpPr txBox="1"/>
          <p:nvPr/>
        </p:nvSpPr>
        <p:spPr>
          <a:xfrm>
            <a:off x="3538728" y="51663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started · passed · failed</a:t>
            </a:r>
            <a:endParaRPr lang="en-US" sz="1250" dirty="0"/>
          </a:p>
        </p:txBody>
      </p:sp>
      <p:sp>
        <p:nvSpPr>
          <p:cNvPr id="36" name="Card"/>
          <p:cNvSpPr/>
          <p:nvPr/>
        </p:nvSpPr>
        <p:spPr>
          <a:xfrm>
            <a:off x="6163056" y="429768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12263D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7" name="IconCircle"/>
          <p:cNvSpPr/>
          <p:nvPr/>
        </p:nvSpPr>
        <p:spPr>
          <a:xfrm>
            <a:off x="6345936" y="44805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8" name="Icon FaFileInvoiceDollar" descr="FaFileInvoiceDolla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3096" y="4617720"/>
            <a:ext cx="274320" cy="274320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7031736" y="44805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Invoice &amp; payment</a:t>
            </a:r>
            <a:endParaRPr lang="en-US" sz="1600" dirty="0"/>
          </a:p>
        </p:txBody>
      </p:sp>
      <p:sp>
        <p:nvSpPr>
          <p:cNvPr id="40" name="Text 30"/>
          <p:cNvSpPr txBox="1"/>
          <p:nvPr/>
        </p:nvSpPr>
        <p:spPr>
          <a:xfrm>
            <a:off x="6345936" y="51663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generated · accepted · payment received</a:t>
            </a:r>
            <a:endParaRPr lang="en-US" sz="1250" dirty="0"/>
          </a:p>
        </p:txBody>
      </p:sp>
      <p:sp>
        <p:nvSpPr>
          <p:cNvPr id="41" name="Card"/>
          <p:cNvSpPr/>
          <p:nvPr/>
        </p:nvSpPr>
        <p:spPr>
          <a:xfrm>
            <a:off x="8970264" y="429768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12263D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2" name="IconCircle"/>
          <p:cNvSpPr/>
          <p:nvPr/>
        </p:nvSpPr>
        <p:spPr>
          <a:xfrm>
            <a:off x="9153144" y="44805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3" name="Icon FaKey" descr="FaKey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0304" y="4617720"/>
            <a:ext cx="274320" cy="274320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9838944" y="44805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Delivery &amp; closure</a:t>
            </a:r>
            <a:endParaRPr lang="en-US" sz="1600" dirty="0"/>
          </a:p>
        </p:txBody>
      </p:sp>
      <p:sp>
        <p:nvSpPr>
          <p:cNvPr id="45" name="Text 34"/>
          <p:cNvSpPr txBox="1"/>
          <p:nvPr/>
        </p:nvSpPr>
        <p:spPr>
          <a:xfrm>
            <a:off x="9153144" y="51663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ready · delivered · job closed</a:t>
            </a:r>
            <a:endParaRPr lang="en-US" sz="1250" dirty="0"/>
          </a:p>
        </p:txBody>
      </p:sp>
      <p:sp>
        <p:nvSpPr>
          <p:cNvPr id="46" name="Text 35"/>
          <p:cNvSpPr txBox="1"/>
          <p:nvPr/>
        </p:nvSpPr>
        <p:spPr>
          <a:xfrm>
            <a:off x="548640" y="6080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Delivered through Firebase Cloud Messaging to the user’s Android phone.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Notifications by persona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THE RIGHT MESSAGE TO THE RIGHT PERSON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463040"/>
            <a:ext cx="356616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IconCircle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 FaUser" descr="FaUs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85166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00200" y="1691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Customer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246888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4"/>
                </a:solidFill>
              </a:rPr>
              <a:t>service updates · estimate ready · invoice · payment · vehicle ready · delivery</a:t>
            </a:r>
            <a:endParaRPr lang="en-US" sz="1350" dirty="0"/>
          </a:p>
        </p:txBody>
      </p:sp>
      <p:sp>
        <p:nvSpPr>
          <p:cNvPr id="10" name="Card"/>
          <p:cNvSpPr/>
          <p:nvPr/>
        </p:nvSpPr>
        <p:spPr>
          <a:xfrm>
            <a:off x="4297680" y="1463040"/>
            <a:ext cx="3566160" cy="2240280"/>
          </a:xfrm>
          <a:prstGeom prst="roundRect">
            <a:avLst>
              <a:gd name="adj" fmla="val 489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IconCircle"/>
          <p:cNvSpPr/>
          <p:nvPr/>
        </p:nvSpPr>
        <p:spPr>
          <a:xfrm>
            <a:off x="4572000" y="16916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con FaUserTie" descr="FaUserTi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0" y="185166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349240" y="1691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Owner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4572000" y="246888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4"/>
                </a:solidFill>
              </a:rPr>
              <a:t>important business events: new booking, estimate decisions, repair done, quality-check failure, invoice, payment, delivery, closure</a:t>
            </a:r>
            <a:endParaRPr lang="en-US" sz="1350" dirty="0"/>
          </a:p>
        </p:txBody>
      </p:sp>
      <p:sp>
        <p:nvSpPr>
          <p:cNvPr id="15" name="Card"/>
          <p:cNvSpPr/>
          <p:nvPr/>
        </p:nvSpPr>
        <p:spPr>
          <a:xfrm>
            <a:off x="8046720" y="1463040"/>
            <a:ext cx="356616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IconCircle"/>
          <p:cNvSpPr/>
          <p:nvPr/>
        </p:nvSpPr>
        <p:spPr>
          <a:xfrm>
            <a:off x="8321040" y="16916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con FaUsers" descr="FaUs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060" y="185166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098280" y="1691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Manager / Service Advisor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8321040" y="246888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4"/>
                </a:solidFill>
              </a:rPr>
              <a:t>operational updates across bookings, trips, inspection, estimates, repair tasks, QC, invoicing</a:t>
            </a:r>
            <a:endParaRPr lang="en-US" sz="1350" dirty="0"/>
          </a:p>
        </p:txBody>
      </p:sp>
      <p:sp>
        <p:nvSpPr>
          <p:cNvPr id="20" name="Card"/>
          <p:cNvSpPr/>
          <p:nvPr/>
        </p:nvSpPr>
        <p:spPr>
          <a:xfrm>
            <a:off x="548640" y="3886200"/>
            <a:ext cx="3566160" cy="2240280"/>
          </a:xfrm>
          <a:prstGeom prst="roundRect">
            <a:avLst>
              <a:gd name="adj" fmla="val 489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IconCircle"/>
          <p:cNvSpPr/>
          <p:nvPr/>
        </p:nvSpPr>
        <p:spPr>
          <a:xfrm>
            <a:off x="822960" y="4114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Icon FaWrench" descr="FaWrenc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4274820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600200" y="4114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Technician</a:t>
            </a:r>
            <a:endParaRPr lang="en-US" sz="1800" dirty="0"/>
          </a:p>
        </p:txBody>
      </p:sp>
      <p:sp>
        <p:nvSpPr>
          <p:cNvPr id="24" name="Text 17"/>
          <p:cNvSpPr txBox="1"/>
          <p:nvPr/>
        </p:nvSpPr>
        <p:spPr>
          <a:xfrm>
            <a:off x="822960" y="489204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4"/>
                </a:solidFill>
              </a:rPr>
              <a:t>new repair task assigned · quality-check rework</a:t>
            </a:r>
            <a:endParaRPr lang="en-US" sz="1350" dirty="0"/>
          </a:p>
        </p:txBody>
      </p:sp>
      <p:sp>
        <p:nvSpPr>
          <p:cNvPr id="25" name="Card"/>
          <p:cNvSpPr/>
          <p:nvPr/>
        </p:nvSpPr>
        <p:spPr>
          <a:xfrm>
            <a:off x="4297680" y="3886200"/>
            <a:ext cx="356616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IconCircle"/>
          <p:cNvSpPr/>
          <p:nvPr/>
        </p:nvSpPr>
        <p:spPr>
          <a:xfrm>
            <a:off x="4572000" y="4114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Icon FaTruck" descr="FaTru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2020" y="4274820"/>
            <a:ext cx="320040" cy="32004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349240" y="4114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Driver</a:t>
            </a:r>
            <a:endParaRPr lang="en-US" sz="1800" dirty="0"/>
          </a:p>
        </p:txBody>
      </p:sp>
      <p:sp>
        <p:nvSpPr>
          <p:cNvPr id="29" name="Text 21"/>
          <p:cNvSpPr txBox="1"/>
          <p:nvPr/>
        </p:nvSpPr>
        <p:spPr>
          <a:xfrm>
            <a:off x="4572000" y="489204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4"/>
                </a:solidFill>
              </a:rPr>
              <a:t>pickup assigned · customer handover ready</a:t>
            </a:r>
            <a:endParaRPr lang="en-US" sz="1350" dirty="0"/>
          </a:p>
        </p:txBody>
      </p:sp>
      <p:sp>
        <p:nvSpPr>
          <p:cNvPr id="30" name="Card"/>
          <p:cNvSpPr/>
          <p:nvPr/>
        </p:nvSpPr>
        <p:spPr>
          <a:xfrm>
            <a:off x="8046720" y="3886200"/>
            <a:ext cx="3566160" cy="2240280"/>
          </a:xfrm>
          <a:prstGeom prst="roundRect">
            <a:avLst>
              <a:gd name="adj" fmla="val 4898"/>
            </a:avLst>
          </a:prstGeom>
          <a:solidFill>
            <a:srgbClr val="DCF5E9"/>
          </a:solidFill>
          <a:ln w="12700">
            <a:solidFill>
              <a:srgbClr val="DCF5E9"/>
            </a:solidFill>
            <a:prstDash val="solid"/>
          </a:ln>
        </p:spPr>
      </p:sp>
      <p:sp>
        <p:nvSpPr>
          <p:cNvPr id="31" name="Text 23"/>
          <p:cNvSpPr txBox="1"/>
          <p:nvPr/>
        </p:nvSpPr>
        <p:spPr>
          <a:xfrm>
            <a:off x="8321040" y="4069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Relevant, not noisy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8321040" y="452628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person receives only the events relevant to their role and their own garage. You never hear about your own action.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notification experience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ILLUSTRATIVE</a:t>
            </a:r>
            <a:endParaRPr lang="en-US" sz="1100" dirty="0"/>
          </a:p>
        </p:txBody>
      </p:sp>
      <p:sp>
        <p:nvSpPr>
          <p:cNvPr id="5" name="NotificationCard"/>
          <p:cNvSpPr/>
          <p:nvPr/>
        </p:nvSpPr>
        <p:spPr>
          <a:xfrm>
            <a:off x="548640" y="1737360"/>
            <a:ext cx="356616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AppMark" descr="D:/garagest_flutter/assets/branding/GarageST_Brand_Assets_v2/mark/GarageST_Mark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20240"/>
            <a:ext cx="457200" cy="4572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25880" y="1920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GarageST · now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1325880" y="21945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Your vehicle is ready for delivery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1325880" y="254203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Your vehicle is ready (JC-…).</a:t>
            </a:r>
            <a:endParaRPr lang="en-US" sz="1200" dirty="0"/>
          </a:p>
        </p:txBody>
      </p:sp>
      <p:sp>
        <p:nvSpPr>
          <p:cNvPr id="10" name="Arrow"/>
          <p:cNvSpPr/>
          <p:nvPr/>
        </p:nvSpPr>
        <p:spPr>
          <a:xfrm>
            <a:off x="4297680" y="2240280"/>
            <a:ext cx="640080" cy="36576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297680" y="18288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tap</a:t>
            </a:r>
            <a:endParaRPr lang="en-US" sz="1300" dirty="0"/>
          </a:p>
        </p:txBody>
      </p:sp>
      <p:sp>
        <p:nvSpPr>
          <p:cNvPr id="12" name="Screen"/>
          <p:cNvSpPr/>
          <p:nvPr/>
        </p:nvSpPr>
        <p:spPr>
          <a:xfrm>
            <a:off x="5120640" y="1737360"/>
            <a:ext cx="2926080" cy="137160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303520" y="178308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GarageST opens on the right screen for your role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548640" y="3520440"/>
            <a:ext cx="24688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Circle"/>
          <p:cNvSpPr/>
          <p:nvPr/>
        </p:nvSpPr>
        <p:spPr>
          <a:xfrm>
            <a:off x="685800" y="37033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on FaVolumeUp" descr="FaVolumeU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30" y="382905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25880" y="352044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Sound</a:t>
            </a:r>
            <a:endParaRPr lang="en-US" sz="1300" dirty="0"/>
          </a:p>
        </p:txBody>
      </p:sp>
      <p:sp>
        <p:nvSpPr>
          <p:cNvPr id="18" name="Card"/>
          <p:cNvSpPr/>
          <p:nvPr/>
        </p:nvSpPr>
        <p:spPr>
          <a:xfrm>
            <a:off x="3154680" y="3520440"/>
            <a:ext cx="24688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Circle"/>
          <p:cNvSpPr/>
          <p:nvPr/>
        </p:nvSpPr>
        <p:spPr>
          <a:xfrm>
            <a:off x="3291840" y="37033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con FaMobileAlt" descr="FaMobileA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7570" y="3829050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3931920" y="352044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Vibration per device mode</a:t>
            </a:r>
            <a:endParaRPr lang="en-US" sz="1300" dirty="0"/>
          </a:p>
        </p:txBody>
      </p:sp>
      <p:sp>
        <p:nvSpPr>
          <p:cNvPr id="22" name="Card"/>
          <p:cNvSpPr/>
          <p:nvPr/>
        </p:nvSpPr>
        <p:spPr>
          <a:xfrm>
            <a:off x="5760720" y="3520440"/>
            <a:ext cx="24688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IconCircle"/>
          <p:cNvSpPr/>
          <p:nvPr/>
        </p:nvSpPr>
        <p:spPr>
          <a:xfrm>
            <a:off x="5897880" y="37033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Icon FaBell" descr="FaBel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3610" y="3829050"/>
            <a:ext cx="251460" cy="25146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537960" y="352044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System tray</a:t>
            </a:r>
            <a:endParaRPr lang="en-US" sz="1300" dirty="0"/>
          </a:p>
        </p:txBody>
      </p:sp>
      <p:sp>
        <p:nvSpPr>
          <p:cNvPr id="26" name="Card"/>
          <p:cNvSpPr/>
          <p:nvPr/>
        </p:nvSpPr>
        <p:spPr>
          <a:xfrm>
            <a:off x="548640" y="4526280"/>
            <a:ext cx="24688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IconCircle"/>
          <p:cNvSpPr/>
          <p:nvPr/>
        </p:nvSpPr>
        <p:spPr>
          <a:xfrm>
            <a:off x="685800" y="4709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8" name="Icon FaLayerGroup" descr="FaLayerGroup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530" y="4834890"/>
            <a:ext cx="251460" cy="25146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325880" y="45262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Foreground &amp; background</a:t>
            </a:r>
            <a:endParaRPr lang="en-US" sz="1300" dirty="0"/>
          </a:p>
        </p:txBody>
      </p:sp>
      <p:sp>
        <p:nvSpPr>
          <p:cNvPr id="30" name="Card"/>
          <p:cNvSpPr/>
          <p:nvPr/>
        </p:nvSpPr>
        <p:spPr>
          <a:xfrm>
            <a:off x="3154680" y="4526280"/>
            <a:ext cx="24688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IconCircle"/>
          <p:cNvSpPr/>
          <p:nvPr/>
        </p:nvSpPr>
        <p:spPr>
          <a:xfrm>
            <a:off x="3291840" y="4709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2" name="Icon FaList" descr="FaLis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7570" y="4834890"/>
            <a:ext cx="251460" cy="25146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3931920" y="45262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History &amp; unread badge</a:t>
            </a:r>
            <a:endParaRPr lang="en-US" sz="1300" dirty="0"/>
          </a:p>
        </p:txBody>
      </p:sp>
      <p:sp>
        <p:nvSpPr>
          <p:cNvPr id="34" name="Card"/>
          <p:cNvSpPr/>
          <p:nvPr/>
        </p:nvSpPr>
        <p:spPr>
          <a:xfrm>
            <a:off x="5760720" y="4526280"/>
            <a:ext cx="24688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IconCircle"/>
          <p:cNvSpPr/>
          <p:nvPr/>
        </p:nvSpPr>
        <p:spPr>
          <a:xfrm>
            <a:off x="5897880" y="4709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6" name="Icon FaExternalLinkAlt" descr="FaExternalLinkAl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23610" y="4834890"/>
            <a:ext cx="251460" cy="251460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6537960" y="45262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Deep-link navigation</a:t>
            </a:r>
            <a:endParaRPr lang="en-US" sz="1300" dirty="0"/>
          </a:p>
        </p:txBody>
      </p:sp>
      <p:sp>
        <p:nvSpPr>
          <p:cNvPr id="38" name="Card"/>
          <p:cNvSpPr/>
          <p:nvPr/>
        </p:nvSpPr>
        <p:spPr>
          <a:xfrm>
            <a:off x="8503920" y="1737360"/>
            <a:ext cx="3108960" cy="3749040"/>
          </a:xfrm>
          <a:prstGeom prst="roundRect">
            <a:avLst>
              <a:gd name="adj" fmla="val 3529"/>
            </a:avLst>
          </a:prstGeom>
          <a:solidFill>
            <a:srgbClr val="DCF5E9"/>
          </a:solidFill>
          <a:ln w="12700">
            <a:solidFill>
              <a:srgbClr val="DCF5E9"/>
            </a:solidFill>
            <a:prstDash val="solid"/>
          </a:ln>
        </p:spPr>
      </p:sp>
      <p:sp>
        <p:nvSpPr>
          <p:cNvPr id="39" name="Text 29"/>
          <p:cNvSpPr txBox="1"/>
          <p:nvPr/>
        </p:nvSpPr>
        <p:spPr>
          <a:xfrm>
            <a:off x="8732520" y="187452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Validated on a real Android device</a:t>
            </a:r>
            <a:endParaRPr lang="en-US" sz="1600" dirty="0"/>
          </a:p>
        </p:txBody>
      </p:sp>
      <p:sp>
        <p:nvSpPr>
          <p:cNvPr id="40" name="Text 30"/>
          <p:cNvSpPr txBox="1"/>
          <p:nvPr/>
        </p:nvSpPr>
        <p:spPr>
          <a:xfrm>
            <a:off x="8732520" y="2560320"/>
            <a:ext cx="2743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Notification appears with sound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Vibrate / silent follows the phone’s mode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Shown in the system tray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Tap opens GarageST and the right screen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History and unread badge work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Vehicle ready &amp; payment received observed</a:t>
            </a:r>
            <a:endParaRPr lang="en-US" sz="1250" dirty="0"/>
          </a:p>
        </p:txBody>
      </p:sp>
      <p:sp>
        <p:nvSpPr>
          <p:cNvPr id="41" name="Text 31"/>
          <p:cNvSpPr txBox="1"/>
          <p:nvPr/>
        </p:nvSpPr>
        <p:spPr>
          <a:xfrm>
            <a:off x="548640" y="56692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Illustration drawn for this presentation; wording is the real notification text.</a:t>
            </a:r>
            <a:endParaRPr lang="en-US" sz="1100" dirty="0"/>
          </a:p>
        </p:txBody>
      </p:sp>
      <p:sp>
        <p:nvSpPr>
          <p:cNvPr id="42" name="Text 32"/>
          <p:cNvSpPr txBox="1"/>
          <p:nvPr/>
        </p:nvSpPr>
        <p:spPr>
          <a:xfrm>
            <a:off x="548640" y="59893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Sound and vibration remain under the user’s Android notification settings.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Notification history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IN-APP NOTIFICATION CENTER</a:t>
            </a:r>
            <a:endParaRPr lang="en-US" sz="1100" dirty="0"/>
          </a:p>
        </p:txBody>
      </p:sp>
      <p:sp>
        <p:nvSpPr>
          <p:cNvPr id="5" name="HistoryPanel"/>
          <p:cNvSpPr/>
          <p:nvPr/>
        </p:nvSpPr>
        <p:spPr>
          <a:xfrm>
            <a:off x="548640" y="1463040"/>
            <a:ext cx="5852160" cy="475488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600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Notifications</a:t>
            </a:r>
            <a:endParaRPr lang="en-US" sz="1800" dirty="0"/>
          </a:p>
        </p:txBody>
      </p:sp>
      <p:sp>
        <p:nvSpPr>
          <p:cNvPr id="7" name="Dot"/>
          <p:cNvSpPr/>
          <p:nvPr/>
        </p:nvSpPr>
        <p:spPr>
          <a:xfrm>
            <a:off x="868680" y="2359152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188720" y="21945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Payment received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250545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Payment has been received (JC-…).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188720" y="278892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2 minutes ago</a:t>
            </a:r>
            <a:endParaRPr lang="en-US" sz="1100" dirty="0"/>
          </a:p>
        </p:txBody>
      </p:sp>
      <p:sp>
        <p:nvSpPr>
          <p:cNvPr id="11" name="Dot"/>
          <p:cNvSpPr/>
          <p:nvPr/>
        </p:nvSpPr>
        <p:spPr>
          <a:xfrm>
            <a:off x="868680" y="3346704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188720" y="31821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Your vehicle is ready for delivery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188720" y="34930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Your vehicle is ready (JC-…).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377647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10 minutes ago</a:t>
            </a:r>
            <a:endParaRPr lang="en-US" sz="1100" dirty="0"/>
          </a:p>
        </p:txBody>
      </p:sp>
      <p:sp>
        <p:nvSpPr>
          <p:cNvPr id="15" name="Dot"/>
          <p:cNvSpPr/>
          <p:nvPr/>
        </p:nvSpPr>
        <p:spPr>
          <a:xfrm>
            <a:off x="868680" y="4334256"/>
            <a:ext cx="146304" cy="14630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188720" y="416966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Your invoice is ready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188720" y="44805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Your invoice is ready for review (JC-…).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188720" y="4764024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1 hour ago</a:t>
            </a:r>
            <a:endParaRPr lang="en-US" sz="1100" dirty="0"/>
          </a:p>
        </p:txBody>
      </p:sp>
      <p:sp>
        <p:nvSpPr>
          <p:cNvPr id="19" name="Dot"/>
          <p:cNvSpPr/>
          <p:nvPr/>
        </p:nvSpPr>
        <p:spPr>
          <a:xfrm>
            <a:off x="868680" y="5321808"/>
            <a:ext cx="146304" cy="14630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188720" y="515721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Repair completed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188720" y="54681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Repair of your vehicle is complete (JC-…).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188720" y="5751576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yesterday</a:t>
            </a:r>
            <a:endParaRPr lang="en-US" sz="1100" dirty="0"/>
          </a:p>
        </p:txBody>
      </p:sp>
      <p:sp>
        <p:nvSpPr>
          <p:cNvPr id="23" name="IconCircle"/>
          <p:cNvSpPr/>
          <p:nvPr/>
        </p:nvSpPr>
        <p:spPr>
          <a:xfrm>
            <a:off x="6858000" y="15544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Icon FaCircle" descr="FaCir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6590" y="1703070"/>
            <a:ext cx="297180" cy="29718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7680960" y="15361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Unread indicator</a:t>
            </a:r>
            <a:endParaRPr lang="en-US" sz="1700" dirty="0"/>
          </a:p>
        </p:txBody>
      </p:sp>
      <p:sp>
        <p:nvSpPr>
          <p:cNvPr id="26" name="Text 22"/>
          <p:cNvSpPr txBox="1"/>
          <p:nvPr/>
        </p:nvSpPr>
        <p:spPr>
          <a:xfrm>
            <a:off x="7680960" y="190195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new items stand out; the bell shows the unread count</a:t>
            </a:r>
            <a:endParaRPr lang="en-US" sz="1300" dirty="0"/>
          </a:p>
        </p:txBody>
      </p:sp>
      <p:sp>
        <p:nvSpPr>
          <p:cNvPr id="27" name="IconCircle"/>
          <p:cNvSpPr/>
          <p:nvPr/>
        </p:nvSpPr>
        <p:spPr>
          <a:xfrm>
            <a:off x="6858000" y="27432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8" name="Icon FaCheck" descr="Fa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6590" y="2891790"/>
            <a:ext cx="297180" cy="29718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7680960" y="27249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Mark as read</a:t>
            </a:r>
            <a:endParaRPr lang="en-US" sz="1700" dirty="0"/>
          </a:p>
        </p:txBody>
      </p:sp>
      <p:sp>
        <p:nvSpPr>
          <p:cNvPr id="30" name="Text 25"/>
          <p:cNvSpPr txBox="1"/>
          <p:nvPr/>
        </p:nvSpPr>
        <p:spPr>
          <a:xfrm>
            <a:off x="7680960" y="309067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tap an item to open it and mark it read</a:t>
            </a:r>
            <a:endParaRPr lang="en-US" sz="1300" dirty="0"/>
          </a:p>
        </p:txBody>
      </p:sp>
      <p:sp>
        <p:nvSpPr>
          <p:cNvPr id="31" name="IconCircle"/>
          <p:cNvSpPr/>
          <p:nvPr/>
        </p:nvSpPr>
        <p:spPr>
          <a:xfrm>
            <a:off x="6858000" y="39319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2" name="Icon FaCheckDouble" descr="FaCheckDoub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6590" y="4080510"/>
            <a:ext cx="297180" cy="297180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7680960" y="39136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Mark all read</a:t>
            </a:r>
            <a:endParaRPr lang="en-US" sz="1700" dirty="0"/>
          </a:p>
        </p:txBody>
      </p:sp>
      <p:sp>
        <p:nvSpPr>
          <p:cNvPr id="34" name="Text 28"/>
          <p:cNvSpPr txBox="1"/>
          <p:nvPr/>
        </p:nvSpPr>
        <p:spPr>
          <a:xfrm>
            <a:off x="7680960" y="427939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clear the list in one tap</a:t>
            </a:r>
            <a:endParaRPr lang="en-US" sz="1300" dirty="0"/>
          </a:p>
        </p:txBody>
      </p:sp>
      <p:sp>
        <p:nvSpPr>
          <p:cNvPr id="35" name="IconCircle"/>
          <p:cNvSpPr/>
          <p:nvPr/>
        </p:nvSpPr>
        <p:spPr>
          <a:xfrm>
            <a:off x="6858000" y="51206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6" name="Icon FaHistory" descr="FaHistor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6590" y="5269230"/>
            <a:ext cx="297180" cy="297180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7680960" y="51023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Always available</a:t>
            </a:r>
            <a:endParaRPr lang="en-US" sz="1700" dirty="0"/>
          </a:p>
        </p:txBody>
      </p:sp>
      <p:sp>
        <p:nvSpPr>
          <p:cNvPr id="38" name="Text 31"/>
          <p:cNvSpPr txBox="1"/>
          <p:nvPr/>
        </p:nvSpPr>
        <p:spPr>
          <a:xfrm>
            <a:off x="7680960" y="546811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history stays in GarageST even if a push was missed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6858000" y="60350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Illustration — drawn for this presentation using real notification wording.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Communication without chasing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THE BUSINESS BENEFIT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554480"/>
            <a:ext cx="5212080" cy="41148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737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Without it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663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accent4"/>
                </a:solidFill>
              </a:rPr>
              <a:t>Calling the customer to approve an estimate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accent4"/>
                </a:solidFill>
              </a:rPr>
              <a:t>Asking the technician if the job is done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accent4"/>
                </a:solidFill>
              </a:rPr>
              <a:t>Telling the customer the vehicle is ready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accent4"/>
                </a:solidFill>
              </a:rPr>
              <a:t>Checking whether payment came in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6400800" y="1554480"/>
            <a:ext cx="5212080" cy="4114800"/>
          </a:xfrm>
          <a:prstGeom prst="roundRect">
            <a:avLst>
              <a:gd name="adj" fmla="val 2667"/>
            </a:avLst>
          </a:prstGeom>
          <a:solidFill>
            <a:srgbClr val="DCF5E9"/>
          </a:solidFill>
          <a:ln w="12700">
            <a:solidFill>
              <a:srgbClr val="DCF5E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675120" y="1737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With GarageST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6675120" y="2377440"/>
            <a:ext cx="4663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estimate-ready notification reaches the customer’s phone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Managers are told when repair or QC changes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customer hears “vehicle ready” as soon as it is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Owners see payments as they happen</a:t>
            </a:r>
            <a:endParaRPr lang="en-US" sz="1600" dirty="0"/>
          </a:p>
        </p:txBody>
      </p:sp>
      <p:sp>
        <p:nvSpPr>
          <p:cNvPr id="11" name="Arrow"/>
          <p:cNvSpPr/>
          <p:nvPr/>
        </p:nvSpPr>
        <p:spPr>
          <a:xfrm>
            <a:off x="5806440" y="3383280"/>
            <a:ext cx="548640" cy="41148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Important workflow events can proactively reach the right user instead of depending entirely on manual calls and messages. Today this is in-app push; other channels are not part of the current product.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Media &amp; service evidence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PROOF OF THE WORK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554480"/>
            <a:ext cx="35661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IconCircle"/>
          <p:cNvSpPr/>
          <p:nvPr/>
        </p:nvSpPr>
        <p:spPr>
          <a:xfrm>
            <a:off x="822960" y="17830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 FaCamera" descr="FaCame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954530"/>
            <a:ext cx="342900" cy="3429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2960" y="2606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Photos &amp; videos from the job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303580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4"/>
                </a:solidFill>
              </a:rPr>
              <a:t>Inspection, before/during/after-service and trip evidence.</a:t>
            </a:r>
            <a:endParaRPr lang="en-US" sz="1250" dirty="0"/>
          </a:p>
        </p:txBody>
      </p:sp>
      <p:sp>
        <p:nvSpPr>
          <p:cNvPr id="10" name="Card"/>
          <p:cNvSpPr/>
          <p:nvPr/>
        </p:nvSpPr>
        <p:spPr>
          <a:xfrm>
            <a:off x="4297680" y="1554480"/>
            <a:ext cx="3566160" cy="2148840"/>
          </a:xfrm>
          <a:prstGeom prst="roundRect">
            <a:avLst>
              <a:gd name="adj" fmla="val 510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IconCircle"/>
          <p:cNvSpPr/>
          <p:nvPr/>
        </p:nvSpPr>
        <p:spPr>
          <a:xfrm>
            <a:off x="4572000" y="17830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con FaMapMarkerAlt" descr="FaMapMarker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450" y="1954530"/>
            <a:ext cx="342900" cy="3429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572000" y="2606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Time and location details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4572000" y="303580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4"/>
                </a:solidFill>
              </a:rPr>
              <a:t>Evidence carries capture time and location information.</a:t>
            </a:r>
            <a:endParaRPr lang="en-US" sz="1250" dirty="0"/>
          </a:p>
        </p:txBody>
      </p:sp>
      <p:sp>
        <p:nvSpPr>
          <p:cNvPr id="15" name="Card"/>
          <p:cNvSpPr/>
          <p:nvPr/>
        </p:nvSpPr>
        <p:spPr>
          <a:xfrm>
            <a:off x="8046720" y="1554480"/>
            <a:ext cx="35661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IconCircle"/>
          <p:cNvSpPr/>
          <p:nvPr/>
        </p:nvSpPr>
        <p:spPr>
          <a:xfrm>
            <a:off x="8321040" y="17830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con FaCloudUploadAlt" descr="FaCloudUploadA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490" y="1954530"/>
            <a:ext cx="342900" cy="3429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321040" y="2606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Reliable uploads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8321040" y="303580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4"/>
                </a:solidFill>
              </a:rPr>
              <a:t>Media uploads in the background and retries if the network drops.</a:t>
            </a:r>
            <a:endParaRPr lang="en-US" sz="1250" dirty="0"/>
          </a:p>
        </p:txBody>
      </p:sp>
      <p:sp>
        <p:nvSpPr>
          <p:cNvPr id="20" name="Card"/>
          <p:cNvSpPr/>
          <p:nvPr/>
        </p:nvSpPr>
        <p:spPr>
          <a:xfrm>
            <a:off x="548640" y="3886200"/>
            <a:ext cx="3566160" cy="2148840"/>
          </a:xfrm>
          <a:prstGeom prst="roundRect">
            <a:avLst>
              <a:gd name="adj" fmla="val 510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IconCircle"/>
          <p:cNvSpPr/>
          <p:nvPr/>
        </p:nvSpPr>
        <p:spPr>
          <a:xfrm>
            <a:off x="822960" y="41148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Icon FaLock" descr="FaLo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410" y="4286250"/>
            <a:ext cx="342900" cy="34290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22960" y="4937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Private storage</a:t>
            </a:r>
            <a:endParaRPr lang="en-US" sz="1600" dirty="0"/>
          </a:p>
        </p:txBody>
      </p:sp>
      <p:sp>
        <p:nvSpPr>
          <p:cNvPr id="24" name="Text 17"/>
          <p:cNvSpPr txBox="1"/>
          <p:nvPr/>
        </p:nvSpPr>
        <p:spPr>
          <a:xfrm>
            <a:off x="822960" y="536752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4"/>
                </a:solidFill>
              </a:rPr>
              <a:t>Media is kept in a private bucket and opened through short-lived secure links.</a:t>
            </a:r>
            <a:endParaRPr lang="en-US" sz="1250" dirty="0"/>
          </a:p>
        </p:txBody>
      </p:sp>
      <p:sp>
        <p:nvSpPr>
          <p:cNvPr id="25" name="Card"/>
          <p:cNvSpPr/>
          <p:nvPr/>
        </p:nvSpPr>
        <p:spPr>
          <a:xfrm>
            <a:off x="4297680" y="3886200"/>
            <a:ext cx="35661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IconCircle"/>
          <p:cNvSpPr/>
          <p:nvPr/>
        </p:nvSpPr>
        <p:spPr>
          <a:xfrm>
            <a:off x="4572000" y="41148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Icon FaUserCheck" descr="FaUser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3450" y="4286250"/>
            <a:ext cx="342900" cy="34290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4572000" y="4937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Customer can view</a:t>
            </a:r>
            <a:endParaRPr lang="en-US" sz="1600" dirty="0"/>
          </a:p>
        </p:txBody>
      </p:sp>
      <p:sp>
        <p:nvSpPr>
          <p:cNvPr id="29" name="Text 21"/>
          <p:cNvSpPr txBox="1"/>
          <p:nvPr/>
        </p:nvSpPr>
        <p:spPr>
          <a:xfrm>
            <a:off x="4572000" y="536752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4"/>
                </a:solidFill>
              </a:rPr>
              <a:t>Customers can see the media published for their own job.</a:t>
            </a:r>
            <a:endParaRPr lang="en-US" sz="1250" dirty="0"/>
          </a:p>
        </p:txBody>
      </p:sp>
      <p:sp>
        <p:nvSpPr>
          <p:cNvPr id="30" name="Card"/>
          <p:cNvSpPr/>
          <p:nvPr/>
        </p:nvSpPr>
        <p:spPr>
          <a:xfrm>
            <a:off x="8046720" y="3886200"/>
            <a:ext cx="3566160" cy="2148840"/>
          </a:xfrm>
          <a:prstGeom prst="roundRect">
            <a:avLst>
              <a:gd name="adj" fmla="val 510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1" name="IconCircle"/>
          <p:cNvSpPr/>
          <p:nvPr/>
        </p:nvSpPr>
        <p:spPr>
          <a:xfrm>
            <a:off x="8321040" y="41148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2" name="Icon FaLayerGroup" descr="FaLayerGroup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2490" y="4286250"/>
            <a:ext cx="342900" cy="34290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8321040" y="4937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Vehicle trip evidence</a:t>
            </a:r>
            <a:endParaRPr lang="en-US" sz="1600" dirty="0"/>
          </a:p>
        </p:txBody>
      </p:sp>
      <p:sp>
        <p:nvSpPr>
          <p:cNvPr id="34" name="Text 25"/>
          <p:cNvSpPr txBox="1"/>
          <p:nvPr/>
        </p:nvSpPr>
        <p:spPr>
          <a:xfrm>
            <a:off x="8321040" y="536752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4"/>
                </a:solidFill>
              </a:rPr>
              <a:t>Pickup and delivery handover photos are kept with the trip.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workspace for every role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ROLE-BASED EXPERIENCE</a:t>
            </a:r>
            <a:endParaRPr lang="en-US" sz="1100" dirty="0"/>
          </a:p>
        </p:txBody>
      </p:sp>
      <p:sp>
        <p:nvSpPr>
          <p:cNvPr id="5" name="ShadowPlate"/>
          <p:cNvSpPr/>
          <p:nvPr/>
        </p:nvSpPr>
        <p:spPr>
          <a:xfrm>
            <a:off x="722376" y="1490472"/>
            <a:ext cx="2232147" cy="3749040"/>
          </a:xfrm>
          <a:prstGeom prst="roundRect">
            <a:avLst>
              <a:gd name="adj" fmla="val 81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Screenshot 02" descr="GarageST app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2232147" cy="37490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94360" y="5303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Customer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5669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accent4"/>
                </a:solidFill>
              </a:rPr>
              <a:t>bookings, vehicles, progress</a:t>
            </a:r>
            <a:endParaRPr lang="en-US" sz="1250" dirty="0"/>
          </a:p>
        </p:txBody>
      </p:sp>
      <p:sp>
        <p:nvSpPr>
          <p:cNvPr id="9" name="ShadowPlate"/>
          <p:cNvSpPr/>
          <p:nvPr/>
        </p:nvSpPr>
        <p:spPr>
          <a:xfrm>
            <a:off x="3557016" y="1490472"/>
            <a:ext cx="2232147" cy="3749040"/>
          </a:xfrm>
          <a:prstGeom prst="roundRect">
            <a:avLst>
              <a:gd name="adj" fmla="val 81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10" name="Screenshot 03" descr="GarageST app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417320"/>
            <a:ext cx="2232147" cy="37490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429000" y="5303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Manager / Owner</a:t>
            </a:r>
            <a:endParaRPr lang="en-US" sz="1700" dirty="0"/>
          </a:p>
        </p:txBody>
      </p:sp>
      <p:sp>
        <p:nvSpPr>
          <p:cNvPr id="12" name="Text 7"/>
          <p:cNvSpPr txBox="1"/>
          <p:nvPr/>
        </p:nvSpPr>
        <p:spPr>
          <a:xfrm>
            <a:off x="3429000" y="5669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accent4"/>
                </a:solidFill>
              </a:rPr>
              <a:t>jobs, estimates, fleet</a:t>
            </a:r>
            <a:endParaRPr lang="en-US" sz="1250" dirty="0"/>
          </a:p>
        </p:txBody>
      </p:sp>
      <p:sp>
        <p:nvSpPr>
          <p:cNvPr id="13" name="ShadowPlate"/>
          <p:cNvSpPr/>
          <p:nvPr/>
        </p:nvSpPr>
        <p:spPr>
          <a:xfrm>
            <a:off x="6391656" y="1490472"/>
            <a:ext cx="2232147" cy="3749040"/>
          </a:xfrm>
          <a:prstGeom prst="roundRect">
            <a:avLst>
              <a:gd name="adj" fmla="val 81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14" name="Screenshot 06" descr="GarageST app screensho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417320"/>
            <a:ext cx="2232147" cy="374904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263640" y="5303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Driver</a:t>
            </a:r>
            <a:endParaRPr lang="en-US" sz="1700" dirty="0"/>
          </a:p>
        </p:txBody>
      </p:sp>
      <p:sp>
        <p:nvSpPr>
          <p:cNvPr id="16" name="Text 10"/>
          <p:cNvSpPr txBox="1"/>
          <p:nvPr/>
        </p:nvSpPr>
        <p:spPr>
          <a:xfrm>
            <a:off x="6263640" y="5669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accent4"/>
                </a:solidFill>
              </a:rPr>
              <a:t>assigned trips</a:t>
            </a:r>
            <a:endParaRPr lang="en-US" sz="1250" dirty="0"/>
          </a:p>
        </p:txBody>
      </p:sp>
      <p:sp>
        <p:nvSpPr>
          <p:cNvPr id="17" name="ShadowPlate"/>
          <p:cNvSpPr/>
          <p:nvPr/>
        </p:nvSpPr>
        <p:spPr>
          <a:xfrm>
            <a:off x="9226296" y="1490472"/>
            <a:ext cx="2232147" cy="3749040"/>
          </a:xfrm>
          <a:prstGeom prst="roundRect">
            <a:avLst>
              <a:gd name="adj" fmla="val 81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18" name="Screenshot 07" descr="GarageST app screensho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0" y="1417320"/>
            <a:ext cx="2232147" cy="374904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098280" y="5303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Technician</a:t>
            </a:r>
            <a:endParaRPr lang="en-US" sz="1700" dirty="0"/>
          </a:p>
        </p:txBody>
      </p:sp>
      <p:sp>
        <p:nvSpPr>
          <p:cNvPr id="20" name="Text 13"/>
          <p:cNvSpPr txBox="1"/>
          <p:nvPr/>
        </p:nvSpPr>
        <p:spPr>
          <a:xfrm>
            <a:off x="9098280" y="5669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accent4"/>
                </a:solidFill>
              </a:rPr>
              <a:t>assigned repair work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Benefits for the garage owner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OWNER</a:t>
            </a:r>
            <a:endParaRPr lang="en-US" sz="1100" dirty="0"/>
          </a:p>
        </p:txBody>
      </p:sp>
      <p:sp>
        <p:nvSpPr>
          <p:cNvPr id="5" name="IconCircle"/>
          <p:cNvSpPr/>
          <p:nvPr/>
        </p:nvSpPr>
        <p:spPr>
          <a:xfrm>
            <a:off x="548640" y="150876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 FaUserTie" descr="FaUserTi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37360"/>
            <a:ext cx="457200" cy="457200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1828800" y="1417320"/>
            <a:ext cx="630936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2103120" y="1417320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Centralized visibility of every job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1828800" y="2112264"/>
            <a:ext cx="6309360" cy="585216"/>
          </a:xfrm>
          <a:prstGeom prst="roundRect">
            <a:avLst>
              <a:gd name="adj" fmla="val 1875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2103120" y="2112264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Job status and workflow tracking</a:t>
            </a:r>
            <a:endParaRPr lang="en-US" sz="1600" dirty="0"/>
          </a:p>
        </p:txBody>
      </p:sp>
      <p:sp>
        <p:nvSpPr>
          <p:cNvPr id="11" name="Card"/>
          <p:cNvSpPr/>
          <p:nvPr/>
        </p:nvSpPr>
        <p:spPr>
          <a:xfrm>
            <a:off x="1828800" y="2807208"/>
            <a:ext cx="630936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2103120" y="2807208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Staff coordination across roles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1828800" y="3502152"/>
            <a:ext cx="6309360" cy="585216"/>
          </a:xfrm>
          <a:prstGeom prst="roundRect">
            <a:avLst>
              <a:gd name="adj" fmla="val 1875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103120" y="3502152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Customer transparency builds trust</a:t>
            </a:r>
            <a:endParaRPr lang="en-US" sz="1600" dirty="0"/>
          </a:p>
        </p:txBody>
      </p:sp>
      <p:sp>
        <p:nvSpPr>
          <p:cNvPr id="15" name="Card"/>
          <p:cNvSpPr/>
          <p:nvPr/>
        </p:nvSpPr>
        <p:spPr>
          <a:xfrm>
            <a:off x="1828800" y="4197096"/>
            <a:ext cx="630936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103120" y="4197096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Billing and payment visibility</a:t>
            </a:r>
            <a:endParaRPr lang="en-US" sz="1600" dirty="0"/>
          </a:p>
        </p:txBody>
      </p:sp>
      <p:sp>
        <p:nvSpPr>
          <p:cNvPr id="17" name="Card"/>
          <p:cNvSpPr/>
          <p:nvPr/>
        </p:nvSpPr>
        <p:spPr>
          <a:xfrm>
            <a:off x="1828800" y="4892040"/>
            <a:ext cx="6309360" cy="585216"/>
          </a:xfrm>
          <a:prstGeom prst="roundRect">
            <a:avLst>
              <a:gd name="adj" fmla="val 1875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2103120" y="4892040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Vehicle movement visibility</a:t>
            </a:r>
            <a:endParaRPr lang="en-US" sz="1600" dirty="0"/>
          </a:p>
        </p:txBody>
      </p:sp>
      <p:sp>
        <p:nvSpPr>
          <p:cNvPr id="19" name="Card"/>
          <p:cNvSpPr/>
          <p:nvPr/>
        </p:nvSpPr>
        <p:spPr>
          <a:xfrm>
            <a:off x="1828800" y="5586984"/>
            <a:ext cx="630936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2103120" y="5586984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Notifications for important business events</a:t>
            </a:r>
            <a:endParaRPr lang="en-US" sz="1600" dirty="0"/>
          </a:p>
        </p:txBody>
      </p:sp>
      <p:sp>
        <p:nvSpPr>
          <p:cNvPr id="21" name="ShadowPlate"/>
          <p:cNvSpPr/>
          <p:nvPr/>
        </p:nvSpPr>
        <p:spPr>
          <a:xfrm>
            <a:off x="8814816" y="1444752"/>
            <a:ext cx="2722131" cy="4572000"/>
          </a:xfrm>
          <a:prstGeom prst="roundRect">
            <a:avLst>
              <a:gd name="adj" fmla="val 67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22" name="Screenshot 03" descr="GarageST app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1371600"/>
            <a:ext cx="2722131" cy="4572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Benefits for managers &amp; service advisors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OPERATIONS</a:t>
            </a:r>
            <a:endParaRPr lang="en-US" sz="1100" dirty="0"/>
          </a:p>
        </p:txBody>
      </p:sp>
      <p:sp>
        <p:nvSpPr>
          <p:cNvPr id="5" name="IconCircle"/>
          <p:cNvSpPr/>
          <p:nvPr/>
        </p:nvSpPr>
        <p:spPr>
          <a:xfrm>
            <a:off x="548640" y="150876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 FaUsers" descr="FaUs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37360"/>
            <a:ext cx="457200" cy="457200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1828800" y="1417320"/>
            <a:ext cx="978408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2103120" y="1417320"/>
            <a:ext cx="9326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Job progress at a glance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1828800" y="2112264"/>
            <a:ext cx="9784080" cy="585216"/>
          </a:xfrm>
          <a:prstGeom prst="roundRect">
            <a:avLst>
              <a:gd name="adj" fmla="val 1875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2103120" y="2112264"/>
            <a:ext cx="9326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Customer approvals and estimate status</a:t>
            </a:r>
            <a:endParaRPr lang="en-US" sz="1600" dirty="0"/>
          </a:p>
        </p:txBody>
      </p:sp>
      <p:sp>
        <p:nvSpPr>
          <p:cNvPr id="11" name="Card"/>
          <p:cNvSpPr/>
          <p:nvPr/>
        </p:nvSpPr>
        <p:spPr>
          <a:xfrm>
            <a:off x="1828800" y="2807208"/>
            <a:ext cx="978408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2103120" y="2807208"/>
            <a:ext cx="9326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Repair progress and technician workload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1828800" y="3502152"/>
            <a:ext cx="9784080" cy="585216"/>
          </a:xfrm>
          <a:prstGeom prst="roundRect">
            <a:avLst>
              <a:gd name="adj" fmla="val 1875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103120" y="3502152"/>
            <a:ext cx="9326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Quality-check results</a:t>
            </a:r>
            <a:endParaRPr lang="en-US" sz="1600" dirty="0"/>
          </a:p>
        </p:txBody>
      </p:sp>
      <p:sp>
        <p:nvSpPr>
          <p:cNvPr id="15" name="Card"/>
          <p:cNvSpPr/>
          <p:nvPr/>
        </p:nvSpPr>
        <p:spPr>
          <a:xfrm>
            <a:off x="1828800" y="4197096"/>
            <a:ext cx="978408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103120" y="4197096"/>
            <a:ext cx="9326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Billing and delivery coordination</a:t>
            </a:r>
            <a:endParaRPr lang="en-US" sz="1600" dirty="0"/>
          </a:p>
        </p:txBody>
      </p:sp>
      <p:sp>
        <p:nvSpPr>
          <p:cNvPr id="17" name="Card"/>
          <p:cNvSpPr/>
          <p:nvPr/>
        </p:nvSpPr>
        <p:spPr>
          <a:xfrm>
            <a:off x="1828800" y="4892040"/>
            <a:ext cx="9784080" cy="585216"/>
          </a:xfrm>
          <a:prstGeom prst="roundRect">
            <a:avLst>
              <a:gd name="adj" fmla="val 1875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2103120" y="4892040"/>
            <a:ext cx="9326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Notified when something needs attention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Benefits for technicians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TECHNICIAN</a:t>
            </a:r>
            <a:endParaRPr lang="en-US" sz="1100" dirty="0"/>
          </a:p>
        </p:txBody>
      </p:sp>
      <p:sp>
        <p:nvSpPr>
          <p:cNvPr id="5" name="IconCircle"/>
          <p:cNvSpPr/>
          <p:nvPr/>
        </p:nvSpPr>
        <p:spPr>
          <a:xfrm>
            <a:off x="548640" y="150876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 FaWrench" descr="FaWren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37360"/>
            <a:ext cx="457200" cy="457200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1828800" y="1417320"/>
            <a:ext cx="630936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2103120" y="1417320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See the repair tasks assigned to you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1828800" y="2112264"/>
            <a:ext cx="6309360" cy="585216"/>
          </a:xfrm>
          <a:prstGeom prst="roundRect">
            <a:avLst>
              <a:gd name="adj" fmla="val 1875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2103120" y="2112264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Task status: accept, start, complete</a:t>
            </a:r>
            <a:endParaRPr lang="en-US" sz="1600" dirty="0"/>
          </a:p>
        </p:txBody>
      </p:sp>
      <p:sp>
        <p:nvSpPr>
          <p:cNvPr id="11" name="Card"/>
          <p:cNvSpPr/>
          <p:nvPr/>
        </p:nvSpPr>
        <p:spPr>
          <a:xfrm>
            <a:off x="1828800" y="2807208"/>
            <a:ext cx="630936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2103120" y="2807208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Job and vehicle context in one place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1828800" y="3502152"/>
            <a:ext cx="6309360" cy="585216"/>
          </a:xfrm>
          <a:prstGeom prst="roundRect">
            <a:avLst>
              <a:gd name="adj" fmla="val 1875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103120" y="3502152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Clear workflow progression</a:t>
            </a:r>
            <a:endParaRPr lang="en-US" sz="1600" dirty="0"/>
          </a:p>
        </p:txBody>
      </p:sp>
      <p:sp>
        <p:nvSpPr>
          <p:cNvPr id="15" name="Card"/>
          <p:cNvSpPr/>
          <p:nvPr/>
        </p:nvSpPr>
        <p:spPr>
          <a:xfrm>
            <a:off x="1828800" y="4197096"/>
            <a:ext cx="630936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103120" y="4197096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Quality-check feedback when rework is needed</a:t>
            </a:r>
            <a:endParaRPr lang="en-US" sz="1600" dirty="0"/>
          </a:p>
        </p:txBody>
      </p:sp>
      <p:sp>
        <p:nvSpPr>
          <p:cNvPr id="17" name="Card"/>
          <p:cNvSpPr/>
          <p:nvPr/>
        </p:nvSpPr>
        <p:spPr>
          <a:xfrm>
            <a:off x="1828800" y="4892040"/>
            <a:ext cx="6309360" cy="585216"/>
          </a:xfrm>
          <a:prstGeom prst="roundRect">
            <a:avLst>
              <a:gd name="adj" fmla="val 1875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2103120" y="4892040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Notified when a task is assigned</a:t>
            </a:r>
            <a:endParaRPr lang="en-US" sz="1600" dirty="0"/>
          </a:p>
        </p:txBody>
      </p:sp>
      <p:sp>
        <p:nvSpPr>
          <p:cNvPr id="19" name="ShadowPlate"/>
          <p:cNvSpPr/>
          <p:nvPr/>
        </p:nvSpPr>
        <p:spPr>
          <a:xfrm>
            <a:off x="8814816" y="1444752"/>
            <a:ext cx="2722131" cy="4572000"/>
          </a:xfrm>
          <a:prstGeom prst="roundRect">
            <a:avLst>
              <a:gd name="adj" fmla="val 67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20" name="Screenshot 08" descr="GarageST app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1371600"/>
            <a:ext cx="2722131" cy="4572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Benefits for drivers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DRIVER</a:t>
            </a:r>
            <a:endParaRPr lang="en-US" sz="1100" dirty="0"/>
          </a:p>
        </p:txBody>
      </p:sp>
      <p:sp>
        <p:nvSpPr>
          <p:cNvPr id="5" name="IconCircle"/>
          <p:cNvSpPr/>
          <p:nvPr/>
        </p:nvSpPr>
        <p:spPr>
          <a:xfrm>
            <a:off x="548640" y="150876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 FaTruck" descr="FaTr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37360"/>
            <a:ext cx="457200" cy="457200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1828800" y="1417320"/>
            <a:ext cx="630936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2103120" y="1417320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Assigned pickup and delivery trips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1828800" y="2112264"/>
            <a:ext cx="6309360" cy="585216"/>
          </a:xfrm>
          <a:prstGeom prst="roundRect">
            <a:avLst>
              <a:gd name="adj" fmla="val 1875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2103120" y="2112264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Navigation to the customer or garage</a:t>
            </a:r>
            <a:endParaRPr lang="en-US" sz="1600" dirty="0"/>
          </a:p>
        </p:txBody>
      </p:sp>
      <p:sp>
        <p:nvSpPr>
          <p:cNvPr id="11" name="Card"/>
          <p:cNvSpPr/>
          <p:nvPr/>
        </p:nvSpPr>
        <p:spPr>
          <a:xfrm>
            <a:off x="1828800" y="2807208"/>
            <a:ext cx="630936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2103120" y="2807208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Live trip with route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1828800" y="3502152"/>
            <a:ext cx="6309360" cy="585216"/>
          </a:xfrm>
          <a:prstGeom prst="roundRect">
            <a:avLst>
              <a:gd name="adj" fmla="val 1875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103120" y="3502152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Evidence photos and verified handover</a:t>
            </a:r>
            <a:endParaRPr lang="en-US" sz="1600" dirty="0"/>
          </a:p>
        </p:txBody>
      </p:sp>
      <p:sp>
        <p:nvSpPr>
          <p:cNvPr id="15" name="Card"/>
          <p:cNvSpPr/>
          <p:nvPr/>
        </p:nvSpPr>
        <p:spPr>
          <a:xfrm>
            <a:off x="1828800" y="4197096"/>
            <a:ext cx="630936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103120" y="4197096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Pickup and delivery in one workflow</a:t>
            </a:r>
            <a:endParaRPr lang="en-US" sz="1600" dirty="0"/>
          </a:p>
        </p:txBody>
      </p:sp>
      <p:sp>
        <p:nvSpPr>
          <p:cNvPr id="17" name="Card"/>
          <p:cNvSpPr/>
          <p:nvPr/>
        </p:nvSpPr>
        <p:spPr>
          <a:xfrm>
            <a:off x="1828800" y="4892040"/>
            <a:ext cx="6309360" cy="585216"/>
          </a:xfrm>
          <a:prstGeom prst="roundRect">
            <a:avLst>
              <a:gd name="adj" fmla="val 1875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2103120" y="4892040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Notified of new assignments</a:t>
            </a:r>
            <a:endParaRPr lang="en-US" sz="1600" dirty="0"/>
          </a:p>
        </p:txBody>
      </p:sp>
      <p:sp>
        <p:nvSpPr>
          <p:cNvPr id="19" name="ShadowPlate"/>
          <p:cNvSpPr/>
          <p:nvPr/>
        </p:nvSpPr>
        <p:spPr>
          <a:xfrm>
            <a:off x="8814816" y="1444752"/>
            <a:ext cx="2722131" cy="4572000"/>
          </a:xfrm>
          <a:prstGeom prst="roundRect">
            <a:avLst>
              <a:gd name="adj" fmla="val 67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20" name="Screenshot 06" descr="GarageST app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1371600"/>
            <a:ext cx="2722131" cy="4572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Benefits for customers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CUSTOMER</a:t>
            </a:r>
            <a:endParaRPr lang="en-US" sz="1100" dirty="0"/>
          </a:p>
        </p:txBody>
      </p:sp>
      <p:sp>
        <p:nvSpPr>
          <p:cNvPr id="5" name="IconCircle"/>
          <p:cNvSpPr/>
          <p:nvPr/>
        </p:nvSpPr>
        <p:spPr>
          <a:xfrm>
            <a:off x="548640" y="150876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 FaUser" descr="FaUs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37360"/>
            <a:ext cx="457200" cy="457200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1828800" y="1417320"/>
            <a:ext cx="630936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2103120" y="1417320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Clear visibility of your vehicle’s service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1828800" y="2112264"/>
            <a:ext cx="6309360" cy="585216"/>
          </a:xfrm>
          <a:prstGeom prst="roundRect">
            <a:avLst>
              <a:gd name="adj" fmla="val 1875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2103120" y="2112264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Digital estimate review and approval</a:t>
            </a:r>
            <a:endParaRPr lang="en-US" sz="1600" dirty="0"/>
          </a:p>
        </p:txBody>
      </p:sp>
      <p:sp>
        <p:nvSpPr>
          <p:cNvPr id="11" name="Card"/>
          <p:cNvSpPr/>
          <p:nvPr/>
        </p:nvSpPr>
        <p:spPr>
          <a:xfrm>
            <a:off x="1828800" y="2807208"/>
            <a:ext cx="630936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2103120" y="2807208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Service progress without calling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1828800" y="3502152"/>
            <a:ext cx="6309360" cy="585216"/>
          </a:xfrm>
          <a:prstGeom prst="roundRect">
            <a:avLst>
              <a:gd name="adj" fmla="val 1875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103120" y="3502152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Invoice and payment status</a:t>
            </a:r>
            <a:endParaRPr lang="en-US" sz="1600" dirty="0"/>
          </a:p>
        </p:txBody>
      </p:sp>
      <p:sp>
        <p:nvSpPr>
          <p:cNvPr id="15" name="Card"/>
          <p:cNvSpPr/>
          <p:nvPr/>
        </p:nvSpPr>
        <p:spPr>
          <a:xfrm>
            <a:off x="1828800" y="4197096"/>
            <a:ext cx="630936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103120" y="4197096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Follow your vehicle’s pickup or delivery</a:t>
            </a:r>
            <a:endParaRPr lang="en-US" sz="1600" dirty="0"/>
          </a:p>
        </p:txBody>
      </p:sp>
      <p:sp>
        <p:nvSpPr>
          <p:cNvPr id="17" name="Card"/>
          <p:cNvSpPr/>
          <p:nvPr/>
        </p:nvSpPr>
        <p:spPr>
          <a:xfrm>
            <a:off x="1828800" y="4892040"/>
            <a:ext cx="6309360" cy="585216"/>
          </a:xfrm>
          <a:prstGeom prst="roundRect">
            <a:avLst>
              <a:gd name="adj" fmla="val 1875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2103120" y="4892040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Notifications at the important moments</a:t>
            </a:r>
            <a:endParaRPr lang="en-US" sz="1600" dirty="0"/>
          </a:p>
        </p:txBody>
      </p:sp>
      <p:sp>
        <p:nvSpPr>
          <p:cNvPr id="19" name="Card"/>
          <p:cNvSpPr/>
          <p:nvPr/>
        </p:nvSpPr>
        <p:spPr>
          <a:xfrm>
            <a:off x="1828800" y="5586984"/>
            <a:ext cx="630936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2103120" y="5586984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Your job-card history in the app</a:t>
            </a:r>
            <a:endParaRPr lang="en-US" sz="1600" dirty="0"/>
          </a:p>
        </p:txBody>
      </p:sp>
      <p:sp>
        <p:nvSpPr>
          <p:cNvPr id="21" name="ShadowPlate"/>
          <p:cNvSpPr/>
          <p:nvPr/>
        </p:nvSpPr>
        <p:spPr>
          <a:xfrm>
            <a:off x="8814816" y="1444752"/>
            <a:ext cx="2722131" cy="4572000"/>
          </a:xfrm>
          <a:prstGeom prst="roundRect">
            <a:avLst>
              <a:gd name="adj" fmla="val 67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22" name="Screenshot 02" descr="GarageST app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1371600"/>
            <a:ext cx="2722131" cy="4572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Multi-garage operations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GARAGE-LEVEL ISOLATION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554480"/>
            <a:ext cx="374904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691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Garage A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860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Its own staff and roles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Its own jobs and trips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Its own notifications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572000" y="1554480"/>
            <a:ext cx="3749040" cy="2743200"/>
          </a:xfrm>
          <a:prstGeom prst="roundRect">
            <a:avLst>
              <a:gd name="adj" fmla="val 4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46320" y="1691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Garage B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4846320" y="22860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Its own staff and roles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Its own jobs and trips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Its own notifications</a:t>
            </a:r>
            <a:endParaRPr lang="en-US" sz="1400" dirty="0"/>
          </a:p>
        </p:txBody>
      </p:sp>
      <p:sp>
        <p:nvSpPr>
          <p:cNvPr id="11" name="Isolation"/>
          <p:cNvSpPr/>
          <p:nvPr/>
        </p:nvSpPr>
        <p:spPr>
          <a:xfrm>
            <a:off x="4389120" y="1554480"/>
            <a:ext cx="0" cy="274320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dash"/>
          </a:ln>
        </p:spPr>
      </p:sp>
      <p:sp>
        <p:nvSpPr>
          <p:cNvPr id="12" name="Spacer"/>
          <p:cNvSpPr/>
          <p:nvPr/>
        </p:nvSpPr>
        <p:spPr>
          <a:xfrm>
            <a:off x="4480560" y="1554480"/>
            <a:ext cx="0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13" name="Card"/>
          <p:cNvSpPr/>
          <p:nvPr/>
        </p:nvSpPr>
        <p:spPr>
          <a:xfrm>
            <a:off x="8595360" y="1554480"/>
            <a:ext cx="3017520" cy="2743200"/>
          </a:xfrm>
          <a:prstGeom prst="roundRect">
            <a:avLst>
              <a:gd name="adj" fmla="val 4000"/>
            </a:avLst>
          </a:prstGeom>
          <a:solidFill>
            <a:srgbClr val="DCF5E9"/>
          </a:solidFill>
          <a:ln w="12700">
            <a:solidFill>
              <a:srgbClr val="DCF5E9"/>
            </a:solidFill>
            <a:prstDash val="solid"/>
          </a:ln>
        </p:spPr>
      </p:sp>
      <p:sp>
        <p:nvSpPr>
          <p:cNvPr id="14" name="IconCircle"/>
          <p:cNvSpPr/>
          <p:nvPr/>
        </p:nvSpPr>
        <p:spPr>
          <a:xfrm>
            <a:off x="8869680" y="17830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 FaUserTie" descr="FaUserTi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196596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9692640" y="17830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Owner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8869680" y="274320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 owner can view the garages they belong to.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457200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Staff see only their own garage’s work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notification for Garage A never reaches Garage B staff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Customers see only their own vehicles and jobs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Advanced branch / franchise management features are not part of the current product.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Security &amp; data control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TRUST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554480"/>
            <a:ext cx="26517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IconCircle"/>
          <p:cNvSpPr/>
          <p:nvPr/>
        </p:nvSpPr>
        <p:spPr>
          <a:xfrm>
            <a:off x="777240" y="1783080"/>
            <a:ext cx="594360" cy="5943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7" name="Icon FaKey" descr="FaKe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931670"/>
            <a:ext cx="297180" cy="2971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77240" y="2514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Authenticated access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9260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Every user signs in; sessions use secure tokens.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3355848" y="1554480"/>
            <a:ext cx="26517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Circle"/>
          <p:cNvSpPr/>
          <p:nvPr/>
        </p:nvSpPr>
        <p:spPr>
          <a:xfrm>
            <a:off x="3584448" y="1783080"/>
            <a:ext cx="594360" cy="5943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2" name="Icon FaUserShield" descr="FaUserShiel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038" y="1931670"/>
            <a:ext cx="297180" cy="2971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584448" y="2514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Role-based permissions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3584448" y="29260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People see and do what their role allows.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6163056" y="1554480"/>
            <a:ext cx="26517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IconCircle"/>
          <p:cNvSpPr/>
          <p:nvPr/>
        </p:nvSpPr>
        <p:spPr>
          <a:xfrm>
            <a:off x="6391656" y="1783080"/>
            <a:ext cx="594360" cy="5943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7" name="Icon FaBuilding" descr="FaBuild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246" y="1931670"/>
            <a:ext cx="297180" cy="2971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391656" y="2514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Garage-level isolation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6391656" y="29260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Each garage’s data stays within that garage.</a:t>
            </a:r>
            <a:endParaRPr lang="en-US" sz="1200" dirty="0"/>
          </a:p>
        </p:txBody>
      </p:sp>
      <p:sp>
        <p:nvSpPr>
          <p:cNvPr id="20" name="Card"/>
          <p:cNvSpPr/>
          <p:nvPr/>
        </p:nvSpPr>
        <p:spPr>
          <a:xfrm>
            <a:off x="8970264" y="1554480"/>
            <a:ext cx="26517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IconCircle"/>
          <p:cNvSpPr/>
          <p:nvPr/>
        </p:nvSpPr>
        <p:spPr>
          <a:xfrm>
            <a:off x="9198864" y="1783080"/>
            <a:ext cx="594360" cy="5943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2" name="Icon FaUserLock" descr="FaUserLo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7454" y="1931670"/>
            <a:ext cx="297180" cy="29718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198864" y="2514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Customer ownership</a:t>
            </a:r>
            <a:endParaRPr lang="en-US" sz="1500" dirty="0"/>
          </a:p>
        </p:txBody>
      </p:sp>
      <p:sp>
        <p:nvSpPr>
          <p:cNvPr id="24" name="Text 17"/>
          <p:cNvSpPr txBox="1"/>
          <p:nvPr/>
        </p:nvSpPr>
        <p:spPr>
          <a:xfrm>
            <a:off x="9198864" y="29260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Customers only reach their own vehicles and jobs.</a:t>
            </a:r>
            <a:endParaRPr lang="en-US" sz="1200" dirty="0"/>
          </a:p>
        </p:txBody>
      </p:sp>
      <p:sp>
        <p:nvSpPr>
          <p:cNvPr id="25" name="Card"/>
          <p:cNvSpPr/>
          <p:nvPr/>
        </p:nvSpPr>
        <p:spPr>
          <a:xfrm>
            <a:off x="548640" y="3886200"/>
            <a:ext cx="26517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IconCircle"/>
          <p:cNvSpPr/>
          <p:nvPr/>
        </p:nvSpPr>
        <p:spPr>
          <a:xfrm>
            <a:off x="777240" y="4114800"/>
            <a:ext cx="594360" cy="5943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7" name="Icon FaLock" descr="FaLo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830" y="4263390"/>
            <a:ext cx="297180" cy="29718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777240" y="48463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Secure communication</a:t>
            </a:r>
            <a:endParaRPr lang="en-US" sz="1500" dirty="0"/>
          </a:p>
        </p:txBody>
      </p:sp>
      <p:sp>
        <p:nvSpPr>
          <p:cNvPr id="29" name="Text 21"/>
          <p:cNvSpPr txBox="1"/>
          <p:nvPr/>
        </p:nvSpPr>
        <p:spPr>
          <a:xfrm>
            <a:off x="777240" y="52578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The app talks to the platform over secured APIs.</a:t>
            </a:r>
            <a:endParaRPr lang="en-US" sz="1200" dirty="0"/>
          </a:p>
        </p:txBody>
      </p:sp>
      <p:sp>
        <p:nvSpPr>
          <p:cNvPr id="30" name="Card"/>
          <p:cNvSpPr/>
          <p:nvPr/>
        </p:nvSpPr>
        <p:spPr>
          <a:xfrm>
            <a:off x="3355848" y="3886200"/>
            <a:ext cx="26517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IconCircle"/>
          <p:cNvSpPr/>
          <p:nvPr/>
        </p:nvSpPr>
        <p:spPr>
          <a:xfrm>
            <a:off x="3584448" y="4114800"/>
            <a:ext cx="594360" cy="5943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32" name="Icon FaImages" descr="FaImage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3038" y="4263390"/>
            <a:ext cx="297180" cy="29718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3584448" y="48463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Controlled media access</a:t>
            </a:r>
            <a:endParaRPr lang="en-US" sz="1500" dirty="0"/>
          </a:p>
        </p:txBody>
      </p:sp>
      <p:sp>
        <p:nvSpPr>
          <p:cNvPr id="34" name="Text 25"/>
          <p:cNvSpPr txBox="1"/>
          <p:nvPr/>
        </p:nvSpPr>
        <p:spPr>
          <a:xfrm>
            <a:off x="3584448" y="52578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Photos and videos are private and opened with short-lived links.</a:t>
            </a:r>
            <a:endParaRPr lang="en-US" sz="1200" dirty="0"/>
          </a:p>
        </p:txBody>
      </p:sp>
      <p:sp>
        <p:nvSpPr>
          <p:cNvPr id="35" name="Card"/>
          <p:cNvSpPr/>
          <p:nvPr/>
        </p:nvSpPr>
        <p:spPr>
          <a:xfrm>
            <a:off x="6163056" y="3886200"/>
            <a:ext cx="26517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IconCircle"/>
          <p:cNvSpPr/>
          <p:nvPr/>
        </p:nvSpPr>
        <p:spPr>
          <a:xfrm>
            <a:off x="6391656" y="4114800"/>
            <a:ext cx="594360" cy="5943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37" name="Icon FaBell" descr="FaBell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0246" y="4263390"/>
            <a:ext cx="297180" cy="297180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6391656" y="48463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Notification ownership</a:t>
            </a:r>
            <a:endParaRPr lang="en-US" sz="1500" dirty="0"/>
          </a:p>
        </p:txBody>
      </p:sp>
      <p:sp>
        <p:nvSpPr>
          <p:cNvPr id="39" name="Text 29"/>
          <p:cNvSpPr txBox="1"/>
          <p:nvPr/>
        </p:nvSpPr>
        <p:spPr>
          <a:xfrm>
            <a:off x="6391656" y="52578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You can only read and manage your own notifications.</a:t>
            </a:r>
            <a:endParaRPr lang="en-US" sz="1200" dirty="0"/>
          </a:p>
        </p:txBody>
      </p:sp>
      <p:sp>
        <p:nvSpPr>
          <p:cNvPr id="40" name="Card"/>
          <p:cNvSpPr/>
          <p:nvPr/>
        </p:nvSpPr>
        <p:spPr>
          <a:xfrm>
            <a:off x="8970264" y="3886200"/>
            <a:ext cx="26517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1" name="IconCircle"/>
          <p:cNvSpPr/>
          <p:nvPr/>
        </p:nvSpPr>
        <p:spPr>
          <a:xfrm>
            <a:off x="9198864" y="4114800"/>
            <a:ext cx="594360" cy="5943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42" name="Icon FaShieldAlt" descr="FaShieldAlt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47454" y="4263390"/>
            <a:ext cx="297180" cy="297180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9198864" y="48463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No secrets in the app</a:t>
            </a:r>
            <a:endParaRPr lang="en-US" sz="1500" dirty="0"/>
          </a:p>
        </p:txBody>
      </p:sp>
      <p:sp>
        <p:nvSpPr>
          <p:cNvPr id="44" name="Text 33"/>
          <p:cNvSpPr txBox="1"/>
          <p:nvPr/>
        </p:nvSpPr>
        <p:spPr>
          <a:xfrm>
            <a:off x="9198864" y="52578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Service credentials stay on the server.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Technology foundation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BUILT ON PROVEN COMPONENTS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645920"/>
            <a:ext cx="265176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IconCircle"/>
          <p:cNvSpPr/>
          <p:nvPr/>
        </p:nvSpPr>
        <p:spPr>
          <a:xfrm>
            <a:off x="777240" y="18745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 FaMobileAlt" descr="FaMobile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03454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77240" y="2651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Flutter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3108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mobile app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3355848" y="1645920"/>
            <a:ext cx="2651760" cy="1920240"/>
          </a:xfrm>
          <a:prstGeom prst="roundRect">
            <a:avLst>
              <a:gd name="adj" fmla="val 5714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IconCircle"/>
          <p:cNvSpPr/>
          <p:nvPr/>
        </p:nvSpPr>
        <p:spPr>
          <a:xfrm>
            <a:off x="3584448" y="18745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con FaServer" descr="FaServ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4468" y="203454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584448" y="2651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Spring Boot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3584448" y="3108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application platform</a:t>
            </a:r>
            <a:endParaRPr lang="en-US" sz="1300" dirty="0"/>
          </a:p>
        </p:txBody>
      </p:sp>
      <p:sp>
        <p:nvSpPr>
          <p:cNvPr id="15" name="Card"/>
          <p:cNvSpPr/>
          <p:nvPr/>
        </p:nvSpPr>
        <p:spPr>
          <a:xfrm>
            <a:off x="6163056" y="1645920"/>
            <a:ext cx="265176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IconCircle"/>
          <p:cNvSpPr/>
          <p:nvPr/>
        </p:nvSpPr>
        <p:spPr>
          <a:xfrm>
            <a:off x="6391656" y="18745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con FaDatabase" descr="FaDataba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76" y="203454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391656" y="2651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PostgreSQL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6391656" y="3108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system of record</a:t>
            </a:r>
            <a:endParaRPr lang="en-US" sz="1300" dirty="0"/>
          </a:p>
        </p:txBody>
      </p:sp>
      <p:sp>
        <p:nvSpPr>
          <p:cNvPr id="20" name="Card"/>
          <p:cNvSpPr/>
          <p:nvPr/>
        </p:nvSpPr>
        <p:spPr>
          <a:xfrm>
            <a:off x="8970264" y="1645920"/>
            <a:ext cx="2651760" cy="1920240"/>
          </a:xfrm>
          <a:prstGeom prst="roundRect">
            <a:avLst>
              <a:gd name="adj" fmla="val 5714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IconCircle"/>
          <p:cNvSpPr/>
          <p:nvPr/>
        </p:nvSpPr>
        <p:spPr>
          <a:xfrm>
            <a:off x="9198864" y="18745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con FaBell" descr="FaBel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8884" y="2034540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198864" y="2651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Firebase Cloud Messaging</a:t>
            </a:r>
            <a:endParaRPr lang="en-US" sz="1600" dirty="0"/>
          </a:p>
        </p:txBody>
      </p:sp>
      <p:sp>
        <p:nvSpPr>
          <p:cNvPr id="24" name="Text 17"/>
          <p:cNvSpPr txBox="1"/>
          <p:nvPr/>
        </p:nvSpPr>
        <p:spPr>
          <a:xfrm>
            <a:off x="9198864" y="3108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push notifications</a:t>
            </a:r>
            <a:endParaRPr lang="en-US" sz="1300" dirty="0"/>
          </a:p>
        </p:txBody>
      </p:sp>
      <p:sp>
        <p:nvSpPr>
          <p:cNvPr id="25" name="Card"/>
          <p:cNvSpPr/>
          <p:nvPr/>
        </p:nvSpPr>
        <p:spPr>
          <a:xfrm>
            <a:off x="548640" y="3840480"/>
            <a:ext cx="265176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IconCircle"/>
          <p:cNvSpPr/>
          <p:nvPr/>
        </p:nvSpPr>
        <p:spPr>
          <a:xfrm>
            <a:off x="777240" y="40690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Icon FaCloud" descr="FaClou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" y="4229100"/>
            <a:ext cx="320040" cy="32004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777240" y="4846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Cloudflare R2</a:t>
            </a:r>
            <a:endParaRPr lang="en-US" sz="1600" dirty="0"/>
          </a:p>
        </p:txBody>
      </p:sp>
      <p:sp>
        <p:nvSpPr>
          <p:cNvPr id="29" name="Text 21"/>
          <p:cNvSpPr txBox="1"/>
          <p:nvPr/>
        </p:nvSpPr>
        <p:spPr>
          <a:xfrm>
            <a:off x="777240" y="5303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media storage</a:t>
            </a:r>
            <a:endParaRPr lang="en-US" sz="1300" dirty="0"/>
          </a:p>
        </p:txBody>
      </p:sp>
      <p:sp>
        <p:nvSpPr>
          <p:cNvPr id="30" name="Card"/>
          <p:cNvSpPr/>
          <p:nvPr/>
        </p:nvSpPr>
        <p:spPr>
          <a:xfrm>
            <a:off x="3355848" y="3840480"/>
            <a:ext cx="2651760" cy="1920240"/>
          </a:xfrm>
          <a:prstGeom prst="roundRect">
            <a:avLst>
              <a:gd name="adj" fmla="val 5714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1" name="IconCircle"/>
          <p:cNvSpPr/>
          <p:nvPr/>
        </p:nvSpPr>
        <p:spPr>
          <a:xfrm>
            <a:off x="3584448" y="40690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2" name="Icon FaCloudUploadAlt" descr="FaCloudUploadAl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4468" y="4229100"/>
            <a:ext cx="320040" cy="32004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3584448" y="4846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Render</a:t>
            </a:r>
            <a:endParaRPr lang="en-US" sz="1600" dirty="0"/>
          </a:p>
        </p:txBody>
      </p:sp>
      <p:sp>
        <p:nvSpPr>
          <p:cNvPr id="34" name="Text 25"/>
          <p:cNvSpPr txBox="1"/>
          <p:nvPr/>
        </p:nvSpPr>
        <p:spPr>
          <a:xfrm>
            <a:off x="3584448" y="5303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hosting</a:t>
            </a:r>
            <a:endParaRPr lang="en-US" sz="1300" dirty="0"/>
          </a:p>
        </p:txBody>
      </p:sp>
      <p:sp>
        <p:nvSpPr>
          <p:cNvPr id="35" name="Card"/>
          <p:cNvSpPr/>
          <p:nvPr/>
        </p:nvSpPr>
        <p:spPr>
          <a:xfrm>
            <a:off x="6163056" y="3840480"/>
            <a:ext cx="265176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IconCircle"/>
          <p:cNvSpPr/>
          <p:nvPr/>
        </p:nvSpPr>
        <p:spPr>
          <a:xfrm>
            <a:off x="6391656" y="40690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7" name="Icon FaStream" descr="FaStream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1676" y="4229100"/>
            <a:ext cx="320040" cy="320040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6391656" y="4846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STOMP / WebSocket</a:t>
            </a:r>
            <a:endParaRPr lang="en-US" sz="1600" dirty="0"/>
          </a:p>
        </p:txBody>
      </p:sp>
      <p:sp>
        <p:nvSpPr>
          <p:cNvPr id="39" name="Text 29"/>
          <p:cNvSpPr txBox="1"/>
          <p:nvPr/>
        </p:nvSpPr>
        <p:spPr>
          <a:xfrm>
            <a:off x="6391656" y="5303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live trip tracking</a:t>
            </a:r>
            <a:endParaRPr lang="en-US" sz="1300" dirty="0"/>
          </a:p>
        </p:txBody>
      </p:sp>
      <p:sp>
        <p:nvSpPr>
          <p:cNvPr id="40" name="Card"/>
          <p:cNvSpPr/>
          <p:nvPr/>
        </p:nvSpPr>
        <p:spPr>
          <a:xfrm>
            <a:off x="8970264" y="3840480"/>
            <a:ext cx="2651760" cy="1920240"/>
          </a:xfrm>
          <a:prstGeom prst="roundRect">
            <a:avLst>
              <a:gd name="adj" fmla="val 5714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1" name="IconCircle"/>
          <p:cNvSpPr/>
          <p:nvPr/>
        </p:nvSpPr>
        <p:spPr>
          <a:xfrm>
            <a:off x="9198864" y="40690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2" name="Icon FaMapMarkedAlt" descr="FaMapMarkedAlt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58884" y="4229100"/>
            <a:ext cx="320040" cy="320040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9198864" y="4846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Maps &amp; routing services</a:t>
            </a:r>
            <a:endParaRPr lang="en-US" sz="1600" dirty="0"/>
          </a:p>
        </p:txBody>
      </p:sp>
      <p:sp>
        <p:nvSpPr>
          <p:cNvPr id="44" name="Text 33"/>
          <p:cNvSpPr txBox="1"/>
          <p:nvPr/>
        </p:nvSpPr>
        <p:spPr>
          <a:xfrm>
            <a:off x="9198864" y="5303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maps, routes, geocoding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How everything connects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THE BIG PICTURE</a:t>
            </a:r>
            <a:endParaRPr lang="en-US" sz="1100" dirty="0"/>
          </a:p>
        </p:txBody>
      </p:sp>
      <p:sp>
        <p:nvSpPr>
          <p:cNvPr id="5" name="Customer / Staff"/>
          <p:cNvSpPr/>
          <p:nvPr/>
        </p:nvSpPr>
        <p:spPr>
          <a:xfrm>
            <a:off x="548640" y="1554480"/>
            <a:ext cx="23774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554480"/>
            <a:ext cx="237744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Customer / Staff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customers · owners · managers · advisors · technicians · drivers</a:t>
            </a:r>
            <a:endParaRPr lang="en-US" sz="1600" dirty="0"/>
          </a:p>
        </p:txBody>
      </p:sp>
      <p:sp>
        <p:nvSpPr>
          <p:cNvPr id="7" name="GarageST mobile app"/>
          <p:cNvSpPr/>
          <p:nvPr/>
        </p:nvSpPr>
        <p:spPr>
          <a:xfrm>
            <a:off x="3566160" y="1554480"/>
            <a:ext cx="2377440" cy="9144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566160" y="1554480"/>
            <a:ext cx="237744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GarageST mobile app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Android</a:t>
            </a:r>
            <a:endParaRPr lang="en-US" sz="1600" dirty="0"/>
          </a:p>
        </p:txBody>
      </p:sp>
      <p:sp>
        <p:nvSpPr>
          <p:cNvPr id="9" name="GarageST backend"/>
          <p:cNvSpPr/>
          <p:nvPr/>
        </p:nvSpPr>
        <p:spPr>
          <a:xfrm>
            <a:off x="6583680" y="1554480"/>
            <a:ext cx="237744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83680" y="1554480"/>
            <a:ext cx="237744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GarageST backend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REST API · live trip</a:t>
            </a:r>
            <a:endParaRPr lang="en-US" sz="1600" dirty="0"/>
          </a:p>
        </p:txBody>
      </p:sp>
      <p:sp>
        <p:nvSpPr>
          <p:cNvPr id="11" name="PostgreSQL"/>
          <p:cNvSpPr/>
          <p:nvPr/>
        </p:nvSpPr>
        <p:spPr>
          <a:xfrm>
            <a:off x="9418320" y="1554480"/>
            <a:ext cx="2194560" cy="9144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418320" y="1554480"/>
            <a:ext cx="219456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PostgreSQL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business workflow data</a:t>
            </a:r>
            <a:endParaRPr lang="en-US" sz="1600" dirty="0"/>
          </a:p>
        </p:txBody>
      </p:sp>
      <p:sp>
        <p:nvSpPr>
          <p:cNvPr id="13" name="Link"/>
          <p:cNvSpPr/>
          <p:nvPr/>
        </p:nvSpPr>
        <p:spPr>
          <a:xfrm>
            <a:off x="2926080" y="2011680"/>
            <a:ext cx="64008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4" name="Link"/>
          <p:cNvSpPr/>
          <p:nvPr/>
        </p:nvSpPr>
        <p:spPr>
          <a:xfrm>
            <a:off x="5943600" y="2011680"/>
            <a:ext cx="64008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5" name="Link"/>
          <p:cNvSpPr/>
          <p:nvPr/>
        </p:nvSpPr>
        <p:spPr>
          <a:xfrm>
            <a:off x="8961120" y="2011680"/>
            <a:ext cx="45720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6" name="Firebase Cloud Messaging"/>
          <p:cNvSpPr/>
          <p:nvPr/>
        </p:nvSpPr>
        <p:spPr>
          <a:xfrm>
            <a:off x="548640" y="3840480"/>
            <a:ext cx="2560320" cy="1005840"/>
          </a:xfrm>
          <a:prstGeom prst="roundRect">
            <a:avLst>
              <a:gd name="adj" fmla="val 10909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3840480"/>
            <a:ext cx="256032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Firebase Cloud Messaging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push notifications</a:t>
            </a:r>
            <a:endParaRPr lang="en-US" sz="1600" dirty="0"/>
          </a:p>
        </p:txBody>
      </p:sp>
      <p:sp>
        <p:nvSpPr>
          <p:cNvPr id="18" name="Cloudflare R2"/>
          <p:cNvSpPr/>
          <p:nvPr/>
        </p:nvSpPr>
        <p:spPr>
          <a:xfrm>
            <a:off x="3383280" y="3840480"/>
            <a:ext cx="25603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383280" y="3840480"/>
            <a:ext cx="256032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Cloudflare R2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photos &amp; videos</a:t>
            </a:r>
            <a:endParaRPr lang="en-US" sz="1600" dirty="0"/>
          </a:p>
        </p:txBody>
      </p:sp>
      <p:sp>
        <p:nvSpPr>
          <p:cNvPr id="20" name="Maps &amp; routing"/>
          <p:cNvSpPr/>
          <p:nvPr/>
        </p:nvSpPr>
        <p:spPr>
          <a:xfrm>
            <a:off x="6217920" y="3840480"/>
            <a:ext cx="25603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217920" y="3840480"/>
            <a:ext cx="256032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Maps &amp; routing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live trip maps and routes</a:t>
            </a:r>
            <a:endParaRPr lang="en-US" sz="1600" dirty="0"/>
          </a:p>
        </p:txBody>
      </p:sp>
      <p:sp>
        <p:nvSpPr>
          <p:cNvPr id="22" name="Render"/>
          <p:cNvSpPr/>
          <p:nvPr/>
        </p:nvSpPr>
        <p:spPr>
          <a:xfrm>
            <a:off x="9052560" y="3840480"/>
            <a:ext cx="25603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052560" y="3840480"/>
            <a:ext cx="256032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Render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cloud hosting</a:t>
            </a:r>
            <a:endParaRPr lang="en-US" sz="1600" dirty="0"/>
          </a:p>
        </p:txBody>
      </p:sp>
      <p:sp>
        <p:nvSpPr>
          <p:cNvPr id="24" name="Support"/>
          <p:cNvSpPr/>
          <p:nvPr/>
        </p:nvSpPr>
        <p:spPr>
          <a:xfrm flipH="1">
            <a:off x="1828800" y="2468880"/>
            <a:ext cx="5943600" cy="137160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dash"/>
          </a:ln>
        </p:spPr>
      </p:sp>
      <p:sp>
        <p:nvSpPr>
          <p:cNvPr id="25" name="Support"/>
          <p:cNvSpPr/>
          <p:nvPr/>
        </p:nvSpPr>
        <p:spPr>
          <a:xfrm flipH="1">
            <a:off x="4663440" y="2468880"/>
            <a:ext cx="3108960" cy="137160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dash"/>
          </a:ln>
        </p:spPr>
      </p:sp>
      <p:sp>
        <p:nvSpPr>
          <p:cNvPr id="26" name="Support"/>
          <p:cNvSpPr/>
          <p:nvPr/>
        </p:nvSpPr>
        <p:spPr>
          <a:xfrm flipH="1">
            <a:off x="7498080" y="2468880"/>
            <a:ext cx="274320" cy="137160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dash"/>
          </a:ln>
        </p:spPr>
      </p:sp>
      <p:sp>
        <p:nvSpPr>
          <p:cNvPr id="27" name="Support"/>
          <p:cNvSpPr/>
          <p:nvPr/>
        </p:nvSpPr>
        <p:spPr>
          <a:xfrm>
            <a:off x="7772400" y="2468880"/>
            <a:ext cx="2560320" cy="137160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dash"/>
          </a:ln>
        </p:spPr>
      </p:sp>
      <p:sp>
        <p:nvSpPr>
          <p:cNvPr id="28" name="Text 25"/>
          <p:cNvSpPr txBox="1"/>
          <p:nvPr/>
        </p:nvSpPr>
        <p:spPr>
          <a:xfrm>
            <a:off x="548640" y="5303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4"/>
                </a:solidFill>
              </a:rPr>
              <a:t>The backend owns the business rules; PostgreSQL is the source of truth; notifications, media, maps and hosting are supporting services.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Current product status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HONEST STATUS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508760"/>
            <a:ext cx="6766560" cy="4526280"/>
          </a:xfrm>
          <a:prstGeom prst="roundRect">
            <a:avLst>
              <a:gd name="adj" fmla="val 2424"/>
            </a:avLst>
          </a:prstGeom>
          <a:solidFill>
            <a:srgbClr val="DCF5E9"/>
          </a:solidFill>
          <a:ln w="12700">
            <a:solidFill>
              <a:srgbClr val="DCF5E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6459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Available today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40280"/>
            <a:ext cx="6309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Booking, job-card workflow and role-based workspaces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Digital inspection, estimate and customer approval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Repair tasks, technician assignment, quality check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Invoicing and payment recording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Pickup and delivery trips, live tracking, verified handover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Photos and videos as service evidence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Push notifications and in-app history (validated on Android)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Garage-level isolation; owners can view their garages</a:t>
            </a:r>
            <a:endParaRPr lang="en-US" sz="1450" dirty="0"/>
          </a:p>
        </p:txBody>
      </p:sp>
      <p:sp>
        <p:nvSpPr>
          <p:cNvPr id="8" name="Card"/>
          <p:cNvSpPr/>
          <p:nvPr/>
        </p:nvSpPr>
        <p:spPr>
          <a:xfrm>
            <a:off x="7589520" y="1508760"/>
            <a:ext cx="4023360" cy="4526280"/>
          </a:xfrm>
          <a:prstGeom prst="roundRect">
            <a:avLst>
              <a:gd name="adj" fmla="val 2727"/>
            </a:avLst>
          </a:prstGeom>
          <a:solidFill>
            <a:srgbClr val="FDF1C7"/>
          </a:solidFill>
          <a:ln w="12700">
            <a:solidFill>
              <a:srgbClr val="FDF1C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863840" y="1645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Not part of today’s product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224028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Online payment gateway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iOS push notifications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SMS / WhatsApp / e-mail messaging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Notification preferences and quiet hours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Advanced branch / franchise management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7863840" y="51206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Listed as roadmap candidates on the next slide — not commitments.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Roadmap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DIRECTIONS — NOT COMMITMENTS</a:t>
            </a:r>
            <a:endParaRPr lang="en-US" sz="1100" dirty="0"/>
          </a:p>
        </p:txBody>
      </p:sp>
      <p:sp>
        <p:nvSpPr>
          <p:cNvPr id="5" name="Phase Now"/>
          <p:cNvSpPr/>
          <p:nvPr/>
        </p:nvSpPr>
        <p:spPr>
          <a:xfrm>
            <a:off x="548640" y="1554480"/>
            <a:ext cx="3566160" cy="82296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554480"/>
            <a:ext cx="35661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Now</a:t>
            </a:r>
            <a:endParaRPr lang="en-US" sz="2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In the product today</a:t>
            </a:r>
            <a:endParaRPr lang="en-US" sz="2400" dirty="0"/>
          </a:p>
        </p:txBody>
      </p:sp>
      <p:sp>
        <p:nvSpPr>
          <p:cNvPr id="7" name="PhaseCard"/>
          <p:cNvSpPr/>
          <p:nvPr/>
        </p:nvSpPr>
        <p:spPr>
          <a:xfrm>
            <a:off x="548640" y="2560320"/>
            <a:ext cx="3566160" cy="3108960"/>
          </a:xfrm>
          <a:prstGeom prst="roundRect">
            <a:avLst>
              <a:gd name="adj" fmla="val 3529"/>
            </a:avLst>
          </a:prstGeom>
          <a:solidFill>
            <a:srgbClr val="12263D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278892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Complete service journey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Role-based workspaces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Live trips and handover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Push notifications on Android</a:t>
            </a:r>
            <a:endParaRPr lang="en-US" sz="1500" dirty="0"/>
          </a:p>
        </p:txBody>
      </p:sp>
      <p:sp>
        <p:nvSpPr>
          <p:cNvPr id="9" name="Phase Next"/>
          <p:cNvSpPr/>
          <p:nvPr/>
        </p:nvSpPr>
        <p:spPr>
          <a:xfrm>
            <a:off x="4297680" y="1554480"/>
            <a:ext cx="3566160" cy="82296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297680" y="1554480"/>
            <a:ext cx="35661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Next</a:t>
            </a:r>
            <a:endParaRPr lang="en-US" sz="2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Candidate next steps</a:t>
            </a:r>
            <a:endParaRPr lang="en-US" sz="2400" dirty="0"/>
          </a:p>
        </p:txBody>
      </p:sp>
      <p:sp>
        <p:nvSpPr>
          <p:cNvPr id="11" name="PhaseCard"/>
          <p:cNvSpPr/>
          <p:nvPr/>
        </p:nvSpPr>
        <p:spPr>
          <a:xfrm>
            <a:off x="4297680" y="2560320"/>
            <a:ext cx="3566160" cy="3108960"/>
          </a:xfrm>
          <a:prstGeom prst="roundRect">
            <a:avLst>
              <a:gd name="adj" fmla="val 3529"/>
            </a:avLst>
          </a:prstGeom>
          <a:solidFill>
            <a:srgbClr val="12263D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2000" y="278892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iOS push notifications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Online payment gateway</a:t>
            </a:r>
            <a:endParaRPr lang="en-US" sz="1500" dirty="0"/>
          </a:p>
        </p:txBody>
      </p:sp>
      <p:sp>
        <p:nvSpPr>
          <p:cNvPr id="13" name="Phase Future"/>
          <p:cNvSpPr/>
          <p:nvPr/>
        </p:nvSpPr>
        <p:spPr>
          <a:xfrm>
            <a:off x="8046720" y="1554480"/>
            <a:ext cx="3566160" cy="82296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46720" y="1554480"/>
            <a:ext cx="35661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Future</a:t>
            </a:r>
            <a:endParaRPr lang="en-US" sz="2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Longer-term options</a:t>
            </a:r>
            <a:endParaRPr lang="en-US" sz="2400" dirty="0"/>
          </a:p>
        </p:txBody>
      </p:sp>
      <p:sp>
        <p:nvSpPr>
          <p:cNvPr id="15" name="PhaseCard"/>
          <p:cNvSpPr/>
          <p:nvPr/>
        </p:nvSpPr>
        <p:spPr>
          <a:xfrm>
            <a:off x="8046720" y="2560320"/>
            <a:ext cx="3566160" cy="3108960"/>
          </a:xfrm>
          <a:prstGeom prst="roundRect">
            <a:avLst>
              <a:gd name="adj" fmla="val 3529"/>
            </a:avLst>
          </a:prstGeom>
          <a:solidFill>
            <a:srgbClr val="12263D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21040" y="278892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Additional communication channels (SMS / WhatsApp / e-mail)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Notification preferences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Directions under consideration, each traceable to a known gap in today’s product; no dates or commitments are implied.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Why GarageST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WHAT SETS THE PRODUCT APART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50876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IconCircle"/>
          <p:cNvSpPr/>
          <p:nvPr/>
        </p:nvSpPr>
        <p:spPr>
          <a:xfrm>
            <a:off x="731520" y="19202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 FaLink" descr="FaLin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2068830"/>
            <a:ext cx="297180" cy="2971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1508760"/>
            <a:ext cx="1645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Connected service lifecycle</a:t>
            </a:r>
            <a:endParaRPr lang="en-US" sz="1450" dirty="0"/>
          </a:p>
        </p:txBody>
      </p:sp>
      <p:sp>
        <p:nvSpPr>
          <p:cNvPr id="9" name="Card"/>
          <p:cNvSpPr/>
          <p:nvPr/>
        </p:nvSpPr>
        <p:spPr>
          <a:xfrm>
            <a:off x="3355848" y="150876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IconCircle"/>
          <p:cNvSpPr/>
          <p:nvPr/>
        </p:nvSpPr>
        <p:spPr>
          <a:xfrm>
            <a:off x="3538728" y="19202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 FaUsers" descr="FaUs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7318" y="2068830"/>
            <a:ext cx="297180" cy="2971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270248" y="1508760"/>
            <a:ext cx="1645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Role-based workflow</a:t>
            </a:r>
            <a:endParaRPr lang="en-US" sz="1450" dirty="0"/>
          </a:p>
        </p:txBody>
      </p:sp>
      <p:sp>
        <p:nvSpPr>
          <p:cNvPr id="13" name="Card"/>
          <p:cNvSpPr/>
          <p:nvPr/>
        </p:nvSpPr>
        <p:spPr>
          <a:xfrm>
            <a:off x="6163056" y="150876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Circle"/>
          <p:cNvSpPr/>
          <p:nvPr/>
        </p:nvSpPr>
        <p:spPr>
          <a:xfrm>
            <a:off x="6345936" y="19202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 FaSearch" descr="FaSearc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4526" y="2068830"/>
            <a:ext cx="297180" cy="29718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077456" y="1508760"/>
            <a:ext cx="1645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Digital inspection</a:t>
            </a:r>
            <a:endParaRPr lang="en-US" sz="1450" dirty="0"/>
          </a:p>
        </p:txBody>
      </p:sp>
      <p:sp>
        <p:nvSpPr>
          <p:cNvPr id="17" name="Card"/>
          <p:cNvSpPr/>
          <p:nvPr/>
        </p:nvSpPr>
        <p:spPr>
          <a:xfrm>
            <a:off x="8970264" y="150876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8" name="IconCircle"/>
          <p:cNvSpPr/>
          <p:nvPr/>
        </p:nvSpPr>
        <p:spPr>
          <a:xfrm>
            <a:off x="9153144" y="19202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con FaThumbsUp" descr="FaThumbsU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1734" y="2068830"/>
            <a:ext cx="297180" cy="29718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9884664" y="1508760"/>
            <a:ext cx="1645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Approval workflow</a:t>
            </a:r>
            <a:endParaRPr lang="en-US" sz="1450" dirty="0"/>
          </a:p>
        </p:txBody>
      </p:sp>
      <p:sp>
        <p:nvSpPr>
          <p:cNvPr id="21" name="Card"/>
          <p:cNvSpPr/>
          <p:nvPr/>
        </p:nvSpPr>
        <p:spPr>
          <a:xfrm>
            <a:off x="548640" y="310896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IconCircle"/>
          <p:cNvSpPr/>
          <p:nvPr/>
        </p:nvSpPr>
        <p:spPr>
          <a:xfrm>
            <a:off x="731520" y="35204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con FaTools" descr="FaTool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110" y="3669030"/>
            <a:ext cx="297180" cy="29718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463040" y="3108960"/>
            <a:ext cx="1645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Repair task management</a:t>
            </a:r>
            <a:endParaRPr lang="en-US" sz="1450" dirty="0"/>
          </a:p>
        </p:txBody>
      </p:sp>
      <p:sp>
        <p:nvSpPr>
          <p:cNvPr id="25" name="Card"/>
          <p:cNvSpPr/>
          <p:nvPr/>
        </p:nvSpPr>
        <p:spPr>
          <a:xfrm>
            <a:off x="3355848" y="310896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6" name="IconCircle"/>
          <p:cNvSpPr/>
          <p:nvPr/>
        </p:nvSpPr>
        <p:spPr>
          <a:xfrm>
            <a:off x="3538728" y="35204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Icon FaMapMarkedAlt" descr="FaMapMarkedAl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7318" y="3669030"/>
            <a:ext cx="297180" cy="29718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4270248" y="3108960"/>
            <a:ext cx="1645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Live vehicle movement</a:t>
            </a:r>
            <a:endParaRPr lang="en-US" sz="1450" dirty="0"/>
          </a:p>
        </p:txBody>
      </p:sp>
      <p:sp>
        <p:nvSpPr>
          <p:cNvPr id="29" name="Card"/>
          <p:cNvSpPr/>
          <p:nvPr/>
        </p:nvSpPr>
        <p:spPr>
          <a:xfrm>
            <a:off x="6163056" y="310896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IconCircle"/>
          <p:cNvSpPr/>
          <p:nvPr/>
        </p:nvSpPr>
        <p:spPr>
          <a:xfrm>
            <a:off x="6345936" y="35204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1" name="Icon FaKey" descr="FaKey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4526" y="3669030"/>
            <a:ext cx="297180" cy="297180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7077456" y="3108960"/>
            <a:ext cx="1645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Digital handover</a:t>
            </a:r>
            <a:endParaRPr lang="en-US" sz="1450" dirty="0"/>
          </a:p>
        </p:txBody>
      </p:sp>
      <p:sp>
        <p:nvSpPr>
          <p:cNvPr id="33" name="Card"/>
          <p:cNvSpPr/>
          <p:nvPr/>
        </p:nvSpPr>
        <p:spPr>
          <a:xfrm>
            <a:off x="8970264" y="310896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4" name="IconCircle"/>
          <p:cNvSpPr/>
          <p:nvPr/>
        </p:nvSpPr>
        <p:spPr>
          <a:xfrm>
            <a:off x="9153144" y="35204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5" name="Icon FaFileInvoiceDollar" descr="FaFileInvoiceDollar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01734" y="3669030"/>
            <a:ext cx="297180" cy="297180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9884664" y="3108960"/>
            <a:ext cx="1645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Billing visibility</a:t>
            </a:r>
            <a:endParaRPr lang="en-US" sz="1450" dirty="0"/>
          </a:p>
        </p:txBody>
      </p:sp>
      <p:sp>
        <p:nvSpPr>
          <p:cNvPr id="37" name="Card"/>
          <p:cNvSpPr/>
          <p:nvPr/>
        </p:nvSpPr>
        <p:spPr>
          <a:xfrm>
            <a:off x="548640" y="470916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8" name="IconCircle"/>
          <p:cNvSpPr/>
          <p:nvPr/>
        </p:nvSpPr>
        <p:spPr>
          <a:xfrm>
            <a:off x="731520" y="51206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9" name="Icon FaBell" descr="FaBell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0110" y="5269230"/>
            <a:ext cx="297180" cy="297180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1463040" y="4709160"/>
            <a:ext cx="1645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Proactive push notifications</a:t>
            </a:r>
            <a:endParaRPr lang="en-US" sz="1450" dirty="0"/>
          </a:p>
        </p:txBody>
      </p:sp>
      <p:sp>
        <p:nvSpPr>
          <p:cNvPr id="41" name="Card"/>
          <p:cNvSpPr/>
          <p:nvPr/>
        </p:nvSpPr>
        <p:spPr>
          <a:xfrm>
            <a:off x="3355848" y="470916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2" name="IconCircle"/>
          <p:cNvSpPr/>
          <p:nvPr/>
        </p:nvSpPr>
        <p:spPr>
          <a:xfrm>
            <a:off x="3538728" y="51206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3" name="Icon FaCamera" descr="FaCamera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87318" y="5269230"/>
            <a:ext cx="297180" cy="297180"/>
          </a:xfrm>
          <a:prstGeom prst="rect">
            <a:avLst/>
          </a:prstGeom>
        </p:spPr>
      </p:pic>
      <p:sp>
        <p:nvSpPr>
          <p:cNvPr id="44" name="Text 31"/>
          <p:cNvSpPr txBox="1"/>
          <p:nvPr/>
        </p:nvSpPr>
        <p:spPr>
          <a:xfrm>
            <a:off x="4270248" y="4709160"/>
            <a:ext cx="1645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Service evidence</a:t>
            </a:r>
            <a:endParaRPr lang="en-US" sz="1450" dirty="0"/>
          </a:p>
        </p:txBody>
      </p:sp>
      <p:sp>
        <p:nvSpPr>
          <p:cNvPr id="45" name="Card"/>
          <p:cNvSpPr/>
          <p:nvPr/>
        </p:nvSpPr>
        <p:spPr>
          <a:xfrm>
            <a:off x="6163056" y="470916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6" name="IconCircle"/>
          <p:cNvSpPr/>
          <p:nvPr/>
        </p:nvSpPr>
        <p:spPr>
          <a:xfrm>
            <a:off x="6345936" y="51206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7" name="Icon FaEye" descr="FaEye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94526" y="5269230"/>
            <a:ext cx="297180" cy="297180"/>
          </a:xfrm>
          <a:prstGeom prst="rect">
            <a:avLst/>
          </a:prstGeom>
        </p:spPr>
      </p:pic>
      <p:sp>
        <p:nvSpPr>
          <p:cNvPr id="48" name="Text 34"/>
          <p:cNvSpPr txBox="1"/>
          <p:nvPr/>
        </p:nvSpPr>
        <p:spPr>
          <a:xfrm>
            <a:off x="7077456" y="4709160"/>
            <a:ext cx="1645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Customer transparency</a:t>
            </a:r>
            <a:endParaRPr lang="en-US" sz="1450" dirty="0"/>
          </a:p>
        </p:txBody>
      </p:sp>
      <p:sp>
        <p:nvSpPr>
          <p:cNvPr id="49" name="Card"/>
          <p:cNvSpPr/>
          <p:nvPr/>
        </p:nvSpPr>
        <p:spPr>
          <a:xfrm>
            <a:off x="8970264" y="470916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0" name="Text 36"/>
          <p:cNvSpPr txBox="1"/>
          <p:nvPr/>
        </p:nvSpPr>
        <p:spPr>
          <a:xfrm>
            <a:off x="9153144" y="4709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One connected platform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Getting a garage onto GarageST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ADOPTION PATH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463040"/>
            <a:ext cx="35661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554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IconCircle"/>
          <p:cNvSpPr/>
          <p:nvPr/>
        </p:nvSpPr>
        <p:spPr>
          <a:xfrm>
            <a:off x="777240" y="1828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con FaBuilding" descr="FaBuild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988820"/>
            <a:ext cx="320040" cy="320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691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Garage setup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600200" y="21214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register the garage; staff join and are approved</a:t>
            </a:r>
            <a:endParaRPr lang="en-US" sz="1200" dirty="0"/>
          </a:p>
        </p:txBody>
      </p:sp>
      <p:sp>
        <p:nvSpPr>
          <p:cNvPr id="11" name="Card"/>
          <p:cNvSpPr/>
          <p:nvPr/>
        </p:nvSpPr>
        <p:spPr>
          <a:xfrm>
            <a:off x="4297680" y="1463040"/>
            <a:ext cx="3566160" cy="1371600"/>
          </a:xfrm>
          <a:prstGeom prst="roundRect">
            <a:avLst>
              <a:gd name="adj" fmla="val 8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434840" y="1554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IconCircle"/>
          <p:cNvSpPr/>
          <p:nvPr/>
        </p:nvSpPr>
        <p:spPr>
          <a:xfrm>
            <a:off x="4526280" y="1828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con FaUserCog" descr="FaUserC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300" y="198882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349240" y="1691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User roles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5349240" y="21214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owner, managers, advisors, technicians, drivers</a:t>
            </a:r>
            <a:endParaRPr lang="en-US" sz="1200" dirty="0"/>
          </a:p>
        </p:txBody>
      </p:sp>
      <p:sp>
        <p:nvSpPr>
          <p:cNvPr id="17" name="Card"/>
          <p:cNvSpPr/>
          <p:nvPr/>
        </p:nvSpPr>
        <p:spPr>
          <a:xfrm>
            <a:off x="8046720" y="1463040"/>
            <a:ext cx="35661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8183880" y="1554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IconCircle"/>
          <p:cNvSpPr/>
          <p:nvPr/>
        </p:nvSpPr>
        <p:spPr>
          <a:xfrm>
            <a:off x="8275320" y="1828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con FaProjectDiagram" descr="FaProjectDiagra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340" y="198882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098280" y="1691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Service workflow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9098280" y="21214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the guided job-card workflow</a:t>
            </a:r>
            <a:endParaRPr lang="en-US" sz="1200" dirty="0"/>
          </a:p>
        </p:txBody>
      </p:sp>
      <p:sp>
        <p:nvSpPr>
          <p:cNvPr id="23" name="Card"/>
          <p:cNvSpPr/>
          <p:nvPr/>
        </p:nvSpPr>
        <p:spPr>
          <a:xfrm>
            <a:off x="548640" y="3017520"/>
            <a:ext cx="3566160" cy="1371600"/>
          </a:xfrm>
          <a:prstGeom prst="roundRect">
            <a:avLst>
              <a:gd name="adj" fmla="val 8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685800" y="3108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4</a:t>
            </a:r>
            <a:endParaRPr lang="en-US" sz="1100" dirty="0"/>
          </a:p>
        </p:txBody>
      </p:sp>
      <p:sp>
        <p:nvSpPr>
          <p:cNvPr id="25" name="IconCircle"/>
          <p:cNvSpPr/>
          <p:nvPr/>
        </p:nvSpPr>
        <p:spPr>
          <a:xfrm>
            <a:off x="777240" y="33832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on FaListAlt" descr="FaListAl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354330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600200" y="3246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Inspection templates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1600200" y="367588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checklists for technicians</a:t>
            </a:r>
            <a:endParaRPr lang="en-US" sz="1200" dirty="0"/>
          </a:p>
        </p:txBody>
      </p:sp>
      <p:sp>
        <p:nvSpPr>
          <p:cNvPr id="29" name="Card"/>
          <p:cNvSpPr/>
          <p:nvPr/>
        </p:nvSpPr>
        <p:spPr>
          <a:xfrm>
            <a:off x="4297680" y="3017520"/>
            <a:ext cx="35661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4434840" y="3108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5</a:t>
            </a:r>
            <a:endParaRPr lang="en-US" sz="1100" dirty="0"/>
          </a:p>
        </p:txBody>
      </p:sp>
      <p:sp>
        <p:nvSpPr>
          <p:cNvPr id="31" name="IconCircle"/>
          <p:cNvSpPr/>
          <p:nvPr/>
        </p:nvSpPr>
        <p:spPr>
          <a:xfrm>
            <a:off x="4526280" y="33832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2" name="Icon FaCar" descr="FaCa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300" y="3543300"/>
            <a:ext cx="320040" cy="32004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5349240" y="3246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Customers &amp; vehicles</a:t>
            </a:r>
            <a:endParaRPr lang="en-US" sz="1600" dirty="0"/>
          </a:p>
        </p:txBody>
      </p:sp>
      <p:sp>
        <p:nvSpPr>
          <p:cNvPr id="34" name="Text 26"/>
          <p:cNvSpPr txBox="1"/>
          <p:nvPr/>
        </p:nvSpPr>
        <p:spPr>
          <a:xfrm>
            <a:off x="5349240" y="367588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added by staff or by customers</a:t>
            </a:r>
            <a:endParaRPr lang="en-US" sz="1200" dirty="0"/>
          </a:p>
        </p:txBody>
      </p:sp>
      <p:sp>
        <p:nvSpPr>
          <p:cNvPr id="35" name="Card"/>
          <p:cNvSpPr/>
          <p:nvPr/>
        </p:nvSpPr>
        <p:spPr>
          <a:xfrm>
            <a:off x="8046720" y="3017520"/>
            <a:ext cx="3566160" cy="1371600"/>
          </a:xfrm>
          <a:prstGeom prst="roundRect">
            <a:avLst>
              <a:gd name="adj" fmla="val 8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8183880" y="3108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6</a:t>
            </a:r>
            <a:endParaRPr lang="en-US" sz="1100" dirty="0"/>
          </a:p>
        </p:txBody>
      </p:sp>
      <p:sp>
        <p:nvSpPr>
          <p:cNvPr id="37" name="IconCircle"/>
          <p:cNvSpPr/>
          <p:nvPr/>
        </p:nvSpPr>
        <p:spPr>
          <a:xfrm>
            <a:off x="8275320" y="33832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8" name="Icon FaUsers" descr="FaUser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5340" y="3543300"/>
            <a:ext cx="320040" cy="320040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9098280" y="3246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Staff operations</a:t>
            </a:r>
            <a:endParaRPr lang="en-US" sz="1600" dirty="0"/>
          </a:p>
        </p:txBody>
      </p:sp>
      <p:sp>
        <p:nvSpPr>
          <p:cNvPr id="40" name="Text 31"/>
          <p:cNvSpPr txBox="1"/>
          <p:nvPr/>
        </p:nvSpPr>
        <p:spPr>
          <a:xfrm>
            <a:off x="9098280" y="367588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jobs, estimates, repairs, invoices</a:t>
            </a:r>
            <a:endParaRPr lang="en-US" sz="1200" dirty="0"/>
          </a:p>
        </p:txBody>
      </p:sp>
      <p:sp>
        <p:nvSpPr>
          <p:cNvPr id="41" name="Card"/>
          <p:cNvSpPr/>
          <p:nvPr/>
        </p:nvSpPr>
        <p:spPr>
          <a:xfrm>
            <a:off x="548640" y="4572000"/>
            <a:ext cx="35661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2" name="Text 33"/>
          <p:cNvSpPr txBox="1"/>
          <p:nvPr/>
        </p:nvSpPr>
        <p:spPr>
          <a:xfrm>
            <a:off x="685800" y="4663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7</a:t>
            </a:r>
            <a:endParaRPr lang="en-US" sz="1100" dirty="0"/>
          </a:p>
        </p:txBody>
      </p:sp>
      <p:sp>
        <p:nvSpPr>
          <p:cNvPr id="43" name="IconCircle"/>
          <p:cNvSpPr/>
          <p:nvPr/>
        </p:nvSpPr>
        <p:spPr>
          <a:xfrm>
            <a:off x="777240" y="4937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4" name="Icon FaMobileAlt" descr="FaMobileAl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260" y="5097780"/>
            <a:ext cx="320040" cy="320040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1600200" y="4800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Customer experience</a:t>
            </a:r>
            <a:endParaRPr lang="en-US" sz="1600" dirty="0"/>
          </a:p>
        </p:txBody>
      </p:sp>
      <p:sp>
        <p:nvSpPr>
          <p:cNvPr id="46" name="Text 36"/>
          <p:cNvSpPr txBox="1"/>
          <p:nvPr/>
        </p:nvSpPr>
        <p:spPr>
          <a:xfrm>
            <a:off x="1600200" y="523036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customers register in the app</a:t>
            </a:r>
            <a:endParaRPr lang="en-US" sz="1200" dirty="0"/>
          </a:p>
        </p:txBody>
      </p:sp>
      <p:sp>
        <p:nvSpPr>
          <p:cNvPr id="47" name="Card"/>
          <p:cNvSpPr/>
          <p:nvPr/>
        </p:nvSpPr>
        <p:spPr>
          <a:xfrm>
            <a:off x="4297680" y="4572000"/>
            <a:ext cx="3566160" cy="1371600"/>
          </a:xfrm>
          <a:prstGeom prst="roundRect">
            <a:avLst>
              <a:gd name="adj" fmla="val 8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8" name="Text 38"/>
          <p:cNvSpPr txBox="1"/>
          <p:nvPr/>
        </p:nvSpPr>
        <p:spPr>
          <a:xfrm>
            <a:off x="4434840" y="4663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8</a:t>
            </a:r>
            <a:endParaRPr lang="en-US" sz="1100" dirty="0"/>
          </a:p>
        </p:txBody>
      </p:sp>
      <p:sp>
        <p:nvSpPr>
          <p:cNvPr id="49" name="IconCircle"/>
          <p:cNvSpPr/>
          <p:nvPr/>
        </p:nvSpPr>
        <p:spPr>
          <a:xfrm>
            <a:off x="4526280" y="4937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0" name="Icon FaBell" descr="FaBell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86300" y="5097780"/>
            <a:ext cx="320040" cy="320040"/>
          </a:xfrm>
          <a:prstGeom prst="rect">
            <a:avLst/>
          </a:prstGeom>
        </p:spPr>
      </p:pic>
      <p:sp>
        <p:nvSpPr>
          <p:cNvPr id="51" name="Text 40"/>
          <p:cNvSpPr txBox="1"/>
          <p:nvPr/>
        </p:nvSpPr>
        <p:spPr>
          <a:xfrm>
            <a:off x="5349240" y="4800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Notifications</a:t>
            </a:r>
            <a:endParaRPr lang="en-US" sz="1600" dirty="0"/>
          </a:p>
        </p:txBody>
      </p:sp>
      <p:sp>
        <p:nvSpPr>
          <p:cNvPr id="52" name="Text 41"/>
          <p:cNvSpPr txBox="1"/>
          <p:nvPr/>
        </p:nvSpPr>
        <p:spPr>
          <a:xfrm>
            <a:off x="5349240" y="523036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enabled for the garage’s environment</a:t>
            </a:r>
            <a:endParaRPr lang="en-US" sz="1200" dirty="0"/>
          </a:p>
        </p:txBody>
      </p:sp>
      <p:sp>
        <p:nvSpPr>
          <p:cNvPr id="53" name="Card"/>
          <p:cNvSpPr/>
          <p:nvPr/>
        </p:nvSpPr>
        <p:spPr>
          <a:xfrm>
            <a:off x="8046720" y="4572000"/>
            <a:ext cx="35661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4" name="Text 43"/>
          <p:cNvSpPr txBox="1"/>
          <p:nvPr/>
        </p:nvSpPr>
        <p:spPr>
          <a:xfrm>
            <a:off x="8183880" y="4663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9</a:t>
            </a:r>
            <a:endParaRPr lang="en-US" sz="1100" dirty="0"/>
          </a:p>
        </p:txBody>
      </p:sp>
      <p:sp>
        <p:nvSpPr>
          <p:cNvPr id="55" name="IconCircle"/>
          <p:cNvSpPr/>
          <p:nvPr/>
        </p:nvSpPr>
        <p:spPr>
          <a:xfrm>
            <a:off x="8275320" y="4937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6" name="Icon FaRocket" descr="FaRocket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35340" y="5097780"/>
            <a:ext cx="320040" cy="320040"/>
          </a:xfrm>
          <a:prstGeom prst="rect">
            <a:avLst/>
          </a:prstGeom>
        </p:spPr>
      </p:pic>
      <p:sp>
        <p:nvSpPr>
          <p:cNvPr id="57" name="Text 45"/>
          <p:cNvSpPr txBox="1"/>
          <p:nvPr/>
        </p:nvSpPr>
        <p:spPr>
          <a:xfrm>
            <a:off x="9098280" y="4800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Go-live</a:t>
            </a:r>
            <a:endParaRPr lang="en-US" sz="1600" dirty="0"/>
          </a:p>
        </p:txBody>
      </p:sp>
      <p:sp>
        <p:nvSpPr>
          <p:cNvPr id="58" name="Text 46"/>
          <p:cNvSpPr txBox="1"/>
          <p:nvPr/>
        </p:nvSpPr>
        <p:spPr>
          <a:xfrm>
            <a:off x="9098280" y="523036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start running real jobs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Measuring success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POTENTIAL KPIS — NOT ACHIEVED RESULTS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554480"/>
            <a:ext cx="26517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IconCircle"/>
          <p:cNvSpPr/>
          <p:nvPr/>
        </p:nvSpPr>
        <p:spPr>
          <a:xfrm>
            <a:off x="777240" y="178308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7" name="Icon FaStopwatch" descr="FaStopwat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94310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77240" y="25603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tx1"/>
                </a:solidFill>
              </a:rPr>
              <a:t>Job turnaround time</a:t>
            </a:r>
            <a:endParaRPr lang="en-US" sz="1550" dirty="0"/>
          </a:p>
        </p:txBody>
      </p:sp>
      <p:sp>
        <p:nvSpPr>
          <p:cNvPr id="9" name="Card"/>
          <p:cNvSpPr/>
          <p:nvPr/>
        </p:nvSpPr>
        <p:spPr>
          <a:xfrm>
            <a:off x="3355848" y="1554480"/>
            <a:ext cx="26517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conCircle"/>
          <p:cNvSpPr/>
          <p:nvPr/>
        </p:nvSpPr>
        <p:spPr>
          <a:xfrm>
            <a:off x="3584448" y="178308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1" name="Icon FaThumbsUp" descr="FaThumbsU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4468" y="194310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584448" y="25603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tx1"/>
                </a:solidFill>
              </a:rPr>
              <a:t>Approval response time</a:t>
            </a:r>
            <a:endParaRPr lang="en-US" sz="1550" dirty="0"/>
          </a:p>
        </p:txBody>
      </p:sp>
      <p:sp>
        <p:nvSpPr>
          <p:cNvPr id="13" name="Card"/>
          <p:cNvSpPr/>
          <p:nvPr/>
        </p:nvSpPr>
        <p:spPr>
          <a:xfrm>
            <a:off x="6163056" y="1554480"/>
            <a:ext cx="26517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Circle"/>
          <p:cNvSpPr/>
          <p:nvPr/>
        </p:nvSpPr>
        <p:spPr>
          <a:xfrm>
            <a:off x="6391656" y="178308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5" name="Icon FaSearch" descr="FaSearc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76" y="1943100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391656" y="25603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tx1"/>
                </a:solidFill>
              </a:rPr>
              <a:t>Inspection completion</a:t>
            </a:r>
            <a:endParaRPr lang="en-US" sz="1550" dirty="0"/>
          </a:p>
        </p:txBody>
      </p:sp>
      <p:sp>
        <p:nvSpPr>
          <p:cNvPr id="17" name="Card"/>
          <p:cNvSpPr/>
          <p:nvPr/>
        </p:nvSpPr>
        <p:spPr>
          <a:xfrm>
            <a:off x="8970264" y="1554480"/>
            <a:ext cx="26517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IconCircle"/>
          <p:cNvSpPr/>
          <p:nvPr/>
        </p:nvSpPr>
        <p:spPr>
          <a:xfrm>
            <a:off x="9198864" y="178308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9" name="Icon FaTools" descr="FaTool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8884" y="1943100"/>
            <a:ext cx="320040" cy="32004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9198864" y="25603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tx1"/>
                </a:solidFill>
              </a:rPr>
              <a:t>Repair task completion</a:t>
            </a:r>
            <a:endParaRPr lang="en-US" sz="1550" dirty="0"/>
          </a:p>
        </p:txBody>
      </p:sp>
      <p:sp>
        <p:nvSpPr>
          <p:cNvPr id="21" name="Card"/>
          <p:cNvSpPr/>
          <p:nvPr/>
        </p:nvSpPr>
        <p:spPr>
          <a:xfrm>
            <a:off x="548640" y="3566160"/>
            <a:ext cx="26517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IconCircle"/>
          <p:cNvSpPr/>
          <p:nvPr/>
        </p:nvSpPr>
        <p:spPr>
          <a:xfrm>
            <a:off x="777240" y="379476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3" name="Icon FaTruck" descr="FaTru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" y="3954780"/>
            <a:ext cx="320040" cy="32004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777240" y="45720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tx1"/>
                </a:solidFill>
              </a:rPr>
              <a:t>Delivery turnaround</a:t>
            </a:r>
            <a:endParaRPr lang="en-US" sz="1550" dirty="0"/>
          </a:p>
        </p:txBody>
      </p:sp>
      <p:sp>
        <p:nvSpPr>
          <p:cNvPr id="25" name="Card"/>
          <p:cNvSpPr/>
          <p:nvPr/>
        </p:nvSpPr>
        <p:spPr>
          <a:xfrm>
            <a:off x="3355848" y="3566160"/>
            <a:ext cx="26517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IconCircle"/>
          <p:cNvSpPr/>
          <p:nvPr/>
        </p:nvSpPr>
        <p:spPr>
          <a:xfrm>
            <a:off x="3584448" y="379476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7" name="Icon FaBell" descr="FaBell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4468" y="3954780"/>
            <a:ext cx="320040" cy="32004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3584448" y="45720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tx1"/>
                </a:solidFill>
              </a:rPr>
              <a:t>Notification delivery &amp; read rate</a:t>
            </a:r>
            <a:endParaRPr lang="en-US" sz="1550" dirty="0"/>
          </a:p>
        </p:txBody>
      </p:sp>
      <p:sp>
        <p:nvSpPr>
          <p:cNvPr id="29" name="Card"/>
          <p:cNvSpPr/>
          <p:nvPr/>
        </p:nvSpPr>
        <p:spPr>
          <a:xfrm>
            <a:off x="6163056" y="3566160"/>
            <a:ext cx="26517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IconCircle"/>
          <p:cNvSpPr/>
          <p:nvPr/>
        </p:nvSpPr>
        <p:spPr>
          <a:xfrm>
            <a:off x="6391656" y="379476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1" name="Icon FaMobileAlt" descr="FaMobileAl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1676" y="3954780"/>
            <a:ext cx="320040" cy="320040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6391656" y="45720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tx1"/>
                </a:solidFill>
              </a:rPr>
              <a:t>Customer digital engagement</a:t>
            </a:r>
            <a:endParaRPr lang="en-US" sz="1550" dirty="0"/>
          </a:p>
        </p:txBody>
      </p:sp>
      <p:sp>
        <p:nvSpPr>
          <p:cNvPr id="33" name="Card"/>
          <p:cNvSpPr/>
          <p:nvPr/>
        </p:nvSpPr>
        <p:spPr>
          <a:xfrm>
            <a:off x="8970264" y="3566160"/>
            <a:ext cx="26517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IconCircle"/>
          <p:cNvSpPr/>
          <p:nvPr/>
        </p:nvSpPr>
        <p:spPr>
          <a:xfrm>
            <a:off x="9198864" y="379476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5" name="Icon FaEye" descr="FaEy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58884" y="3954780"/>
            <a:ext cx="320040" cy="320040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9198864" y="45720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tx1"/>
                </a:solidFill>
              </a:rPr>
              <a:t>Operational visibility</a:t>
            </a:r>
            <a:endParaRPr lang="en-US" sz="1550" dirty="0"/>
          </a:p>
        </p:txBody>
      </p:sp>
      <p:sp>
        <p:nvSpPr>
          <p:cNvPr id="37" name="Card"/>
          <p:cNvSpPr/>
          <p:nvPr/>
        </p:nvSpPr>
        <p:spPr>
          <a:xfrm>
            <a:off x="548640" y="562356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FDF1C7"/>
          </a:solidFill>
          <a:ln w="12700">
            <a:solidFill>
              <a:srgbClr val="FDF1C7"/>
            </a:solidFill>
            <a:prstDash val="solid"/>
          </a:ln>
        </p:spPr>
      </p:sp>
      <p:sp>
        <p:nvSpPr>
          <p:cNvPr id="38" name="Text 27"/>
          <p:cNvSpPr txBox="1"/>
          <p:nvPr/>
        </p:nvSpPr>
        <p:spPr>
          <a:xfrm>
            <a:off x="777240" y="56235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These are measures a garage could track with GarageST. They are suggestions, not results achieved by any customer.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D:/garagest_flutter/assets/branding/GarageST_Brand_Assets_v2/dark_mode/GarageST_Full_Logo_Dark_Mode_Saf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1005840"/>
            <a:ext cx="4480560" cy="151013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301752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From vehicle arrival to vehicle delivery —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37490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5"/>
                </a:solidFill>
              </a:rPr>
              <a:t>one connected digital journey.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56692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400" kern="0" dirty="0">
                <a:solidFill>
                  <a:schemeClr val="bg1"/>
                </a:solidFill>
              </a:rPr>
              <a:t>TVASTRI  ·  GarageST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rageST">
  <a:themeElements>
    <a:clrScheme name="GarageST">
      <a:dk1>
        <a:srgbClr val="051C32"/>
      </a:dk1>
      <a:lt1>
        <a:srgbClr val="FFFFFF"/>
      </a:lt1>
      <a:dk2>
        <a:srgbClr val="0B1220"/>
      </a:dk2>
      <a:lt2>
        <a:srgbClr val="F3F6F9"/>
      </a:lt2>
      <a:accent1>
        <a:srgbClr val="129465"/>
      </a:accent1>
      <a:accent2>
        <a:srgbClr val="1D4ED8"/>
      </a:accent2>
      <a:accent3>
        <a:srgbClr val="B45309"/>
      </a:accent3>
      <a:accent4>
        <a:srgbClr val="475569"/>
      </a:accent4>
      <a:accent5>
        <a:srgbClr val="7FE0B6"/>
      </a:accent5>
      <a:accent6>
        <a:srgbClr val="DBEAFE"/>
      </a:accent6>
      <a:hlink>
        <a:srgbClr val="1D4ED8"/>
      </a:hlink>
      <a:folHlink>
        <a:srgbClr val="475569"/>
      </a:folHlink>
    </a:clrScheme>
    <a:fontScheme name="GarageS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TVASTRI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GarageST — Smart Garage Management Platform</dc:title>
  <dc:subject>PptxGenJS Presentation</dc:subject>
  <dc:creator>TVASTRI</dc:creator>
  <cp:lastModifiedBy>TVASTRI</cp:lastModifiedBy>
  <cp:revision>1</cp:revision>
  <dcterms:created xsi:type="dcterms:W3CDTF">2026-10-02T07:57:34Z</dcterms:created>
  <dcterms:modified xsi:type="dcterms:W3CDTF">2026-10-02T07:57:34Z</dcterms:modified>
</cp:coreProperties>
</file>