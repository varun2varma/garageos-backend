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94" r:id="rId45"/>
    <p:sldId id="259" r:id="rId10"/>
    <p:sldId id="260" r:id="rId11"/>
    <p:sldId id="261" r:id="rId12"/>
    <p:sldId id="262" r:id="rId13"/>
    <p:sldId id="314" r:id="rId65"/>
    <p:sldId id="315" r:id="rId66"/>
    <p:sldId id="316" r:id="rId67"/>
    <p:sldId id="263" r:id="rId14"/>
    <p:sldId id="264" r:id="rId15"/>
    <p:sldId id="265" r:id="rId16"/>
    <p:sldId id="266" r:id="rId17"/>
    <p:sldId id="267" r:id="rId18"/>
    <p:sldId id="268" r:id="rId19"/>
    <p:sldId id="317" r:id="rId68"/>
    <p:sldId id="318" r:id="rId69"/>
    <p:sldId id="319" r:id="rId70"/>
    <p:sldId id="269" r:id="rId20"/>
    <p:sldId id="270" r:id="rId21"/>
    <p:sldId id="271" r:id="rId22"/>
    <p:sldId id="320" r:id="rId71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95" r:id="rId46"/>
    <p:sldId id="321" r:id="rId72"/>
    <p:sldId id="322" r:id="rId73"/>
    <p:sldId id="323" r:id="rId74"/>
    <p:sldId id="324" r:id="rId75"/>
    <p:sldId id="284" r:id="rId35"/>
    <p:sldId id="285" r:id="rId36"/>
    <p:sldId id="286" r:id="rId37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25" r:id="rId76"/>
    <p:sldId id="287" r:id="rId38"/>
    <p:sldId id="288" r:id="rId39"/>
    <p:sldId id="308" r:id="rId59"/>
    <p:sldId id="289" r:id="rId40"/>
    <p:sldId id="312" r:id="rId63"/>
    <p:sldId id="328" r:id="rId79"/>
    <p:sldId id="290" r:id="rId41"/>
    <p:sldId id="329" r:id="rId80"/>
    <p:sldId id="291" r:id="rId42"/>
    <p:sldId id="311" r:id="rId62"/>
    <p:sldId id="326" r:id="rId77"/>
    <p:sldId id="292" r:id="rId43"/>
    <p:sldId id="309" r:id="rId60"/>
    <p:sldId id="310" r:id="rId61"/>
    <p:sldId id="327" r:id="rId78"/>
    <p:sldId id="313" r:id="rId64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46.xml"/><Relationship Id="rId39" Type="http://schemas.openxmlformats.org/officeDocument/2006/relationships/slide" Target="slides/slide47.xml"/><Relationship Id="rId40" Type="http://schemas.openxmlformats.org/officeDocument/2006/relationships/slide" Target="slides/slide49.xml"/><Relationship Id="rId41" Type="http://schemas.openxmlformats.org/officeDocument/2006/relationships/slide" Target="slides/slide51.xml"/><Relationship Id="rId42" Type="http://schemas.openxmlformats.org/officeDocument/2006/relationships/slide" Target="slides/slide52.xml"/><Relationship Id="rId43" Type="http://schemas.openxmlformats.org/officeDocument/2006/relationships/slide" Target="slides/slide54.xml"/><Relationship Id="rId44" Type="http://schemas.openxmlformats.org/officeDocument/2006/relationships/slide" Target="slides/slide58.xml"/><Relationship Id="rId45" Type="http://schemas.openxmlformats.org/officeDocument/2006/relationships/slide" Target="slides/slide4.xml"/><Relationship Id="rId46" Type="http://schemas.openxmlformats.org/officeDocument/2006/relationships/slide" Target="slides/slide30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8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3.xml"/><Relationship Id="rId63" Type="http://schemas.openxmlformats.org/officeDocument/2006/relationships/slide" Target="slides/slide50.xml"/><Relationship Id="rId64" Type="http://schemas.openxmlformats.org/officeDocument/2006/relationships/slide" Target="slides/slide57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pic>
        <p:nvPicPr>
          <p:cNvPr id="3" name="Picture 2" descr="GarageST_Full_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4846320" cy="16332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1089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GarageST Developer Handbook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977639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2600" b="0">
                <a:solidFill>
                  <a:srgbClr val="C7D6E6"/>
                </a:solidFill>
                <a:latin typeface="Calibri"/>
              </a:rPr>
              <a:t>Engineering Architecture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5720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800" b="0">
                <a:solidFill>
                  <a:srgbClr val="7FE0B8"/>
                </a:solidFill>
                <a:latin typeface="Calibri"/>
              </a:rPr>
              <a:t>Flutter  +  Spring Boot  +  PostgreSQL  +  Cloudflare R2  +  Firebase FCM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1463040" cy="4572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Living engineering reference  ·  2026-10-05  ·  TVASTRI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7A8FA6"/>
                </a:solidFill>
                <a:latin typeface="Calibri"/>
              </a:rPr>
              <a:t>Source of truth: GARAGEST_DEVELOPER_HANDBOOK.md  ·  Contains variable names only, no secrets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WHAT GARAGEST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End-to-end vehicle service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Job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3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1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3848" y="160020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Quality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9896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8383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6871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14721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Close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8424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2735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21223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39711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199" y="203454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76688" y="203454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49940" y="2478024"/>
            <a:ext cx="0" cy="26517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239012" y="2743200"/>
            <a:ext cx="971092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9012" y="2743200"/>
            <a:ext cx="0" cy="265176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84248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2735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1223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39711" y="3451860"/>
            <a:ext cx="128016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58199" y="3451860"/>
            <a:ext cx="128017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" y="4005072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WHO USES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64792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Owner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26664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8536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Service Advisor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50408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Technician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74152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Accountant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6024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Cashier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97896" y="437083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Inventory Mgr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Booking, pickup and delivery run as trips: live map, OTP-verified handover and photo evidence.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 job card moves through a strict state machine owned by the backend; Flutter only presents that state.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Blue = trip-driven steps (pickup, delivery). Green = the explicit manager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System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29260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customer · staff ·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 4.0.7 (Java 17)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modules: workflow, jobcard, navigation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Flyway migrations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1874519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74720" y="146304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 /api/v1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474720" y="2286000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4720" y="233172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 /ws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2084831"/>
            <a:ext cx="10972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80960" y="1783080"/>
            <a:ext cx="1188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JPA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private bucket · media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40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Google Routes (if configured)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OSRM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8404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Render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Docker web service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(hosts the backend)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57400" y="2971800"/>
            <a:ext cx="17373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direct presigned</a:t>
            </a:r>
          </a:p>
          <a:p>
            <a:pPr algn="l"/>
            <a:r>
              <a:rPr sz="1100" b="0">
                <a:solidFill>
                  <a:srgbClr val="1D4ED8"/>
                </a:solidFill>
                <a:latin typeface="Calibri"/>
              </a:rPr>
              <a:t>HTTPS PUT / GET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606040"/>
            <a:ext cx="0" cy="11887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route requests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926080" y="2606040"/>
            <a:ext cx="1920240" cy="1188720"/>
          </a:xfrm>
          <a:prstGeom prst="line">
            <a:avLst/>
          </a:prstGeom>
          <a:ln w="22225">
            <a:solidFill>
              <a:srgbClr val="1D4E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06240" y="3200400"/>
            <a:ext cx="1783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1D4ED8"/>
                </a:solidFill>
                <a:latin typeface="Calibri"/>
              </a:rPr>
              <a:t>server-side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The backend owns business state, validation and authorization. Flutter renders that state and never invents it. Media bytes never pass through Spring (direct-to-R2).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83464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push to Android (outbox worker)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2331720"/>
            <a:ext cx="1234440" cy="73152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79" y="27889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push (FCM v1)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ARCHITECTURE — UPDATED 2026-10-02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GarageST architecture with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customer · staff ·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Spring Boot 4.0.7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REST /api/v1 ·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554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business data · outbox · history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1874519"/>
            <a:ext cx="77724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80360" y="2148840"/>
            <a:ext cx="77724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2011680"/>
            <a:ext cx="2651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0" y="169164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JPA · same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20040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Notification worker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own thread · polls outbox (5 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2468880"/>
            <a:ext cx="0" cy="73152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6517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29465"/>
                </a:solidFill>
                <a:latin typeface="Calibri"/>
              </a:rPr>
              <a:t>outbox row (atomic)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400800" y="2468880"/>
            <a:ext cx="2651760" cy="1097280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57200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HTTP v1 · Admin SDK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3977639"/>
            <a:ext cx="0" cy="594361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40" y="411480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send (outside DB tx)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Android device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tray · local notification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880360" y="4937760"/>
            <a:ext cx="77724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691640" y="2468880"/>
            <a:ext cx="0" cy="210312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83080" y="329184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tap → role-aware</a:t>
            </a:r>
          </a:p>
          <a:p>
            <a:pPr algn="l"/>
            <a:r>
              <a:rPr sz="900" b="0" i="0">
                <a:solidFill>
                  <a:srgbClr val="1D4ED8"/>
                </a:solidFill>
                <a:latin typeface="Calibri"/>
              </a:rPr>
              <a:t>deep 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2004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STOMP /ws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live trip location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5720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Cloudflare R2 · Google Routes / OSRM</a:t>
            </a:r>
          </a:p>
          <a:p>
            <a:pPr algn="ctr"/>
            <a:r>
              <a:rPr sz="1100" b="0">
                <a:solidFill>
                  <a:srgbClr val="051C32"/>
                </a:solidFill>
                <a:latin typeface="Calibri"/>
              </a:rPr>
              <a:t>unchanged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8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WebSocket/STOMP is not used for notifications. No Kafka: a PostgreSQL transactional outbox gives durability. FCM is delivery only; PostgreSQL is the source of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WHAT IS PRESENT IN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Java 17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backend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Spring Boot 4.0.7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web · security · JPA · WebSocket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35624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PostgreSQL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system of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1976" y="1554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Flyway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migrations V1 … V68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1664207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Flutter / Dart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provider · flutter_map · google_maps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9272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STOMP / WebSocket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live driver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Cloudflare R2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presigned direct upload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1976" y="3154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Google Routes / OSRM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routing +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264" y="32644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Media3 Transformer 1.4.1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on-device video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19272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Docker + Render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eclipse-temurin:17 · backend hosting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35624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Firebase Cloud Messaging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Admin SDK 9.9.0 · firebase_messaging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4864608"/>
            <a:ext cx="64008" cy="1152144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51976" y="4754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 Kafka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not used anywhere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0264" y="4864608"/>
            <a:ext cx="64008" cy="1152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WHERE THINGS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Repository and module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Flutter  ·  D:\garagest_flutter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lib/app — composition root (app.dart), routes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lib/core — ApiClient, EnvConfig, secure storage, location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lib/features/&lt;feature&gt;/{models, services, screens, state, widgets}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workflow · jobcard · estimate · repair · booking · navigation · handover · media · customer_portal · auth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android/…/kotlin — MainActivity, EvidenceVideoProcessor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test/ mirrors lib/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  ·  D:\garageos-backend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03120"/>
            <a:ext cx="5394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core — enums, exceptions, security, audit base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modules/&lt;module&gt;/{controller, service(+impl), repository, entity, dto, mapper, validator}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serviceworkflow · jobcard · estimate · repairtask · jobassignment · invoice · delivery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 · navigation · handover · media · customer · identity · audit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db/migration — Flyway V{n}__description.sql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Dockerfile — Render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32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Feature-first layout: services take ApiClient by constructor and are registered once in app.dart; screens never construct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WHO IS THE SOURCE OF TRUTH FOR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Responsibility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Business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state machines, validation, authorization, garage scoping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Flutter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Presentation +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renders backend state; derives the workflow step from completedSteps; role gating is cosmetic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Source of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persisted state, Flyway-managed schema, ddl-auto=validate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5448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Cloudflare 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28600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Media bytes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880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private bucket; presigned URLs only; trip media is NOT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6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Rule: Flutter never advances a workflow step locally past a mutation that refreshes backend status. After the backend answers, the step is re-derived from completedSteps.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ENFORCED SERVER-SIDE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JWT bearer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access ~1 h, refresh ~7 d; auth endpoints public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Role authorization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@PreAuthorize on controllers (MANAGER, SERVICE_ADVISOR, OWNER sets)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5087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Garage scoping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authorizeJobCardGarage, authorizeDeliveryAction, trip staff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600200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Manager gate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JobCardServiceImpl.authorizeProceedToRepair — MANAGER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Technician scope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only own non-cancelled assignment in own garage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834639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Driver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?driverId must equal the caller; active DRIVER of the garage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92607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Customer ownership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not-found instead of forbidden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OTP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hashed code, 10 min expiry, 5 attempts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416052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Private R2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short-lived presigned URLs; server-generated keys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4251959"/>
            <a:ext cx="64008" cy="1005840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Flutter UI gating (Permissions, step roles, allowedActions) hides buttons only. It is NOT a security boundary — the backend re-checks every rule that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SINGLE WRITER OF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Who owns the state?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39136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 (writer of record)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Authorized by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 (+ Estimate, RepairTask/JobAssignment, QC, Invoice, Delivery services) — all via JobCardStatusValidator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per operation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Estimate.status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EstimateServiceImpl, EstimateItemServiceImpl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owner (approve/reject)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RepairTask / JobAssignment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RepairTaskServiceImpl, JobAssignmentServiceImpl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assigned technician / assignment roles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Booking.status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BookingServiceImpl; JobCardServiceImpl sets COMPLETED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/ staff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NavigationRequest.status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 (REQUESTED); NavigationTripServiceImpl (ASSIGNED, IN_PROGRESS, COMPLETED)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garage staff /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NavigationTrip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the driver (requireCallerIsDriver)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VehicleHandover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 generates, driver verifies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Delivery.status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 (only DELIVERED is written)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staff or verified delivery 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Workflow completedSteps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ServiceWorkflowServiceImpl.getWorkflowStatus — pure projection of JobCardStatus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 currentStep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WorkflowController — derived from completedSteps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none (presentation)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ONE RULE SET: JOBCARDSTATUSVALIDATOR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OPEN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75304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4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INSPECTION_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02936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0568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WAITING_FOR_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85832" y="1988819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68712" y="160020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6871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08583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QUALITY_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CHECK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58200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13448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830568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85816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INVOICE_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GENERATED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202936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58184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575304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30552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DELIVERED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47672" y="345186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3063240"/>
            <a:ext cx="144475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91088" y="2395728"/>
            <a:ext cx="0" cy="64922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064240" y="2514600"/>
            <a:ext cx="960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all tasks done</a:t>
            </a:r>
          </a:p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(automatic)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13632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129465"/>
                </a:solidFill>
                <a:latin typeface="Calibri"/>
              </a:rPr>
              <a:t>Manager gate: REPAIR_PENDING → REPAIR_IN_PROGRESS is written ONLY by JobCardServiceImpl.startRepair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4340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LEGACY (do not write)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ESTIMATE_APPROVED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2344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WORK_COMPLETED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1768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INVOICED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51192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0616" y="4663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PAYMENT_COMPLETED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349240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CANCELLED is reachable from most pre-delivery states. Rework: REPAIR_COMPLETED / QUALITY_CHECK → REPAIR_PENDING (manager confirms again).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5349240"/>
            <a:ext cx="5513832" cy="868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Legacy source states are kept so old rows can still move forward through the validator (e.g. ESTIMATE_APPROVED → REPAIR_PENDING).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CRITICAL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approval ≠ manager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 approves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81912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PUT /estimates/{id}/approve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057400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295144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Estimate 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368296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RepairTasks created (PENDING)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2843784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081528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1D4ED8"/>
                </a:solidFill>
                <a:latin typeface="Calibri"/>
              </a:rPr>
              <a:t>JobCard REPAIR_PENDING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54680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step still 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630168"/>
            <a:ext cx="0" cy="237744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67912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MANAGER CONFIRMS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941064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POST /workflow/{n}/repair/start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4416552"/>
            <a:ext cx="0" cy="237744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654296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REPAIR_IN_PROGRESS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727448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onsolas"/>
              </a:rPr>
              <a:t>Approval done → Repair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508760"/>
            <a:ext cx="3044952" cy="3794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572768"/>
            <a:ext cx="2880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550" b="1">
                <a:solidFill>
                  <a:srgbClr val="B91C1C"/>
                </a:solidFill>
                <a:latin typeface="Calibri"/>
              </a:rPr>
              <a:t>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65960"/>
            <a:ext cx="297180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Technician cannot start a task while the job is REPAIR_PENDING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JobAssignmentServiceImpl.startJob and RepairTaskServiceImpl.startRepair both refuse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start_repair action is hidden from non-managers</a:t>
            </a:r>
          </a:p>
          <a:p>
            <a:pPr>
              <a:spcAft>
                <a:spcPts val="432"/>
              </a:spcAft>
            </a:pPr>
            <a:r>
              <a:rPr sz="780">
                <a:solidFill>
                  <a:srgbClr val="B91C1C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MANAGER role + estimate APPROVED required; idempotent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778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Confirmation is an explicit manager action. The pending state is REPAIR_PENDING as interpreted by the workflow projection (no new JobCard status).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The workflow bug and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Customer approval → job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resolveCompleted() added APPROVAL at REPAIR_PENDING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WorkflowController jumped to the Repair step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never saw "Proceed to Repair"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JobAssignmentServiceImpl.startJob could flip REPAIR_PENDING → REPAIR_IN_PROGRESS itself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RepairTask completion precondition was commented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48840"/>
            <a:ext cx="534924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 completes only at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Manager stays on Approval: "Customer Approved — Manager Confirmation Required"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ApprovalScreen refreshes with resumeWorkflow, re-derives the step (no local nextStep())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startJob refuses unless the job is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completeRepair requires REPAIR_IN_PROGRESS again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resolveStep aligned to shell numbering (Approval 8, Repair 9)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1755648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534924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Key files: ServiceWorkflowServiceImpl.resolveCompleted · WorkflowController._resolveCurrentStepFromCompletedSteps · JobCardServiceImpl.startRepair · JobAssignmentServiceImpl.startJob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DIFFERENT LIFECYCLES, NEVER SUBSTITUTED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vs RepairTask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JobCard = overall service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RepairTask = one unit of repair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7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REPAIR_IN_PROGRESS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2331720"/>
            <a:ext cx="1630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REPAIR_COMPLETED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2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47744" y="267462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5352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5814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276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6738" y="2331720"/>
            <a:ext cx="1209294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3790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74252" y="2674620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84713" y="2674620"/>
            <a:ext cx="18288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Moved to REPAIR_IN_PROGRESS only by the manager gate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Moves to REPAIR_COMPLETED automatically when EVERY task is COMPLETED (validated)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QC failure sends it back to REPAIR_PENDING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337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Created on customer approval (createRepairTasks)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Assigned through JobAssignment; technician accepts, starts, completes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Start/complete require the JobCard to be REPAIR_IN_PROGRESS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ON_HOLD / CANCELLED are declared-only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Task start DOES NOT change the JobCard. The only task → job coupling is the automatic all-tasks-complete aggregate.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LINKAGE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Booking → NavigationRequest → JobCard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NavigationRequest (PICKUP)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job_card_id (V61, nullable)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37360"/>
            <a:ext cx="2359152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bookingId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240280"/>
            <a:ext cx="13258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880360" y="1874519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confirm creates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514600"/>
            <a:ext cx="1920240" cy="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60920" y="260604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129465"/>
                </a:solidFill>
                <a:latin typeface="Calibri"/>
              </a:rPr>
              <a:t>request.jobCardId 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06456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691640" y="3291840"/>
            <a:ext cx="8814816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91640" y="2788920"/>
            <a:ext cx="0" cy="5029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43200" y="3346704"/>
            <a:ext cx="6400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JobCard.bookingId  ←  CreateJobCardRequest.bookingId (direct link, no vehicle heuristics)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BookingDetailScreen "Create Job Card" preloads customer + vehicle, sets WorkflowState.bookingId and opens the workflow on the Job Card step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JobCardServiceImpl.resolveBooking: same garage, CONFIRMED, same vehicle/customer, no other job uses it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Then: JobCard.bookingId set, Booking → COMPLETED, pickup request gets job_card_id — all in one transaction</a:t>
            </a:r>
          </a:p>
          <a:p>
            <a:pPr>
              <a:spcAft>
                <a:spcPts val="432"/>
              </a:spcAft>
            </a:pPr>
            <a:r>
              <a:rPr sz="900">
                <a:solidFill>
                  <a:srgbClr val="129465"/>
                </a:solidFill>
                <a:latin typeface="Calibri"/>
              </a:rPr>
              <a:t>■  </a:t>
            </a:r>
            <a:r>
              <a:rPr sz="1500">
                <a:solidFill>
                  <a:srgbClr val="0F172A"/>
                </a:solidFill>
                <a:latin typeface="Calibri"/>
              </a:rPr>
              <a:t>Walk-in jobs (no bookingId) are unchanged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TRIP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Booking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REQUESTED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IN_PROGRESS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(arrivedAt)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5 photos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BEFORE_PICKUP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generates 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Driver verifies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 return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(return leg)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 at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 trip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Request status: REQUESTED → ASSIGNED → IN_PROGRESS (start) → COMPLETED (complete)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Return leg: no evidence and no OTP again — the customer handover was verified before the return leg could start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garage-side OTP by design: there is no counter-party in the app at the garage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Afterwards staff create the job card from the booking (job linked, booking COMPLETED)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COMPLETION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Pickup return-leg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0876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Confirm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Handover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continueTrip</a:t>
            </a:r>
          </a:p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again 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078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1810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35424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4535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Return leg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Pickup Trip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POST /trips/{id}/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97312" y="23317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Trip + request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4321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053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77856" y="2743200"/>
            <a:ext cx="21031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 UI ever called completeTrip for 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Backend rejected the second continue ("already on the return leg")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B91C1C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 trips could not reach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520440"/>
            <a:ext cx="53949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NavigationTrip.nextDriverAction → completePickup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completeTrip needs: return leg, arrivedAt, required photos, VERIFIED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OTP code/verify are refused on the return leg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Backend detail: on the return leg destinationAddress may still be "GARAGE"; ActiveTripScreen resolves the real garage from /garages/{id}.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HANDOVER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Handover OTP (vehicle custody)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arrives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(arrivedAt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 generates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GET …/handover/code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Hash stored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code_hash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Driver verifies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…/verify {code}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554480"/>
            <a:ext cx="2017166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Handover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01168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80360"/>
          <a:ext cx="11183111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9956"/>
                <a:gridCol w="898315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6 digits, SecureRandom; only a PasswordEncoder hash is stored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Expiry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10 minutes; a new request expires the previous pending code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Attempts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5 failed attempts → code EXPIRED, customer generates a new 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trip type: PICKUP or DELIVERY — identical flow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Delivered to driver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shown in the customer app and read out — not sent by SMS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Gates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continueTrip (pickup) and completeTrip (delivery) require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Handover states: PENDING → VERIFIED | EXPIRED   (CANCELLED declared-only)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FROM PAYMENT TO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READY_FOR_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 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Delivery request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jobCardId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Assign driver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 ASSIGNED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Accept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1720" y="1508760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Arrive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5 delivery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268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OTP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/trips/{id}/complete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Delivery 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JobCard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1720" y="3063239"/>
            <a:ext cx="17343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Closes job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637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61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156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0541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8876" y="2386583"/>
            <a:ext cx="0" cy="33375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70076" y="2720339"/>
            <a:ext cx="944880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70076" y="2720339"/>
            <a:ext cx="0" cy="33375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4637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3613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2589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565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05416" y="3497579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The delivery TRIP is the business completion: OTP + evidence prove the handover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Manual POST /deliveries remains only for a customer collecting at the garage — rejected once a delivery request exists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 screen restores its state from the backend (GET /navigation/requests/job-card/{id}/delivery)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Not implemented: auto-assignment, driver rejection, reassignment, cancellation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CREATEDELIVERYREQUESTSHEET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location: map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CreateDelivery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LocationPickerScreen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(existing, reused)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5892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PickupLocation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lat + lng + address?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7379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POST /navigation/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8865" y="1645920"/>
            <a:ext cx="201716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NavigationRequest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(DELIVERY)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9230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20716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12203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3689" y="2148840"/>
            <a:ext cx="256032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08960"/>
          <a:ext cx="1118311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62645"/>
                <a:gridCol w="4082723"/>
                <a:gridCol w="443774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Stored in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required; falls back to "lat, lng" if no street address resolves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deliveryLatitude / deliveryLongitude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navigation_request.delivery_latitude / _longitude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both required (server-side validation)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jobCardId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required for DELIVERY; job must be READY_FOR_DELIVERY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One picker for pickup and delivery. The trip destination for DELIVERY trips comes from these coordinates → NavigationTrip.destinationLatitude/Longitude → ActiveTripScreen route. The "use current location" shortcut remains.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Delivery completion is one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27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POST /navigation/trips/{id}/complete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Pre-checks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validateRequiredMedia(DELIVERY)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requireVerifiedHandover(DELIVERY)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148840"/>
            <a:ext cx="0" cy="1645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566160"/>
            <a:ext cx="0" cy="274320"/>
          </a:xfrm>
          <a:prstGeom prst="line">
            <a:avLst/>
          </a:prstGeom>
          <a:ln w="22225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1508760"/>
            <a:ext cx="5925312" cy="448056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25400">
            <a:solidFill>
              <a:srgbClr val="12946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572768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29465"/>
                </a:solidFill>
                <a:latin typeface="Calibri"/>
              </a:rPr>
              <a:t>SAME @Transactional BOUNDARY — commit together or roll back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1031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Trip  → 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0175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NavigationRequest  → 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9319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row  →  DELIVERED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(deliveredBy = driver, receivedBy = "Customer (OTP verified)")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84632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JobCard  READY_FOR_DELIVERY → 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completeDeliveryFromTrip requires: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garage match, no existing Delivery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found via job card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invoice GENERATED and PAID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• validator allows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Legacy delivery requests (no job_card_id): the trip completes, no job effect.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GPS → STOMP → SUBSCRIBERS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Live navigation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 GPS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Geolocator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(10 m filter)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9444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DriverLocation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STOMP SEND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/app/location/update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Backend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LocationWebSocket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Broker topic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/topic/trips/{id}/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35540" y="1554480"/>
            <a:ext cx="16504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Manager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LiveTripState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62556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79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75603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82127" y="2148840"/>
            <a:ext cx="237745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8652" y="2148840"/>
            <a:ext cx="237744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29184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10972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50" b="1">
                <a:solidFill>
                  <a:srgbClr val="B45309"/>
                </a:solidFill>
                <a:latin typeface="Calibri"/>
              </a:rPr>
              <a:t>REST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B45309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LiveTripState polls GET /navigation/trips/{id} every 10 s and reads GET …/location when no recent socket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155680" cy="1691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Socket: endpoint /ws, prefix /app, broker /topic; reconnect every 5 s; topics re-subscribed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Tracking runs while ActiveTripScreen is open for the driver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Subscription authorized per trip (TripLocationTopicInterceptor → NavigationTripAccessGuard)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PROVIDER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Routing and recalculation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73736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 /navigation/routes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origin +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Google Routes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(when configured)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OSRM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(fallback)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1828800"/>
            <a:ext cx="685800" cy="2743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304288"/>
            <a:ext cx="0" cy="182880"/>
          </a:xfrm>
          <a:prstGeom prst="line">
            <a:avLst/>
          </a:prstGeom>
          <a:ln w="22225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309360" y="22860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B45309"/>
                </a:solidFill>
                <a:latin typeface="Calibri"/>
              </a:rPr>
              <a:t>if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737360"/>
            <a:ext cx="2907792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RouteResponse</a:t>
            </a:r>
          </a:p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distance · ETA ·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82880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2560320"/>
            <a:ext cx="822960" cy="36576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703320"/>
          <a:ext cx="11183111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3275"/>
                <a:gridCol w="82498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 (from code)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Driver location filter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distanceFilter 10 m (DriverLocationTracker)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Route recalculation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only after ≥ 150 m movement (_routeRecalculationDistanceMeters)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REST poll fallback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10 s (_statusPollInterval)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Arrival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backend gate = driver POST /arrive; 10 m GPS test is display only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Destination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pickup: pickup coords · delivery: delivery coords · return leg: garage from /garages/{id}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EXACT RELATIONSHIP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Trip ↔ Booking ↔ JobCard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30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54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NavigationTrip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554480"/>
            <a:ext cx="1627632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VehicleHandover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TripMedia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1920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31720" y="1965960"/>
            <a:ext cx="1371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navigationRequestId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1920240"/>
            <a:ext cx="118872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1965960"/>
            <a:ext cx="1280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: 1 (unique)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1920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840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8404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Estimate → RepairTask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Invoice → Delivery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4206240"/>
            <a:ext cx="1234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" y="2331720"/>
            <a:ext cx="0" cy="146304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87552" y="2788920"/>
            <a:ext cx="17373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JobCard.bookingId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0" y="2331720"/>
            <a:ext cx="0" cy="91440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20240" y="3246120"/>
            <a:ext cx="3017520" cy="0"/>
          </a:xfrm>
          <a:prstGeom prst="line">
            <a:avLst/>
          </a:prstGeom>
          <a:ln w="31750">
            <a:solidFill>
              <a:srgbClr val="12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46120"/>
            <a:ext cx="0" cy="548640"/>
          </a:xfrm>
          <a:prstGeom prst="line">
            <a:avLst/>
          </a:prstGeom>
          <a:ln w="31750">
            <a:solidFill>
              <a:srgbClr val="1294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103120" y="3310128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1">
                <a:solidFill>
                  <a:srgbClr val="129465"/>
                </a:solidFill>
                <a:latin typeface="Calibri"/>
              </a:rPr>
              <a:t>job_card_id (V61)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93776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Trips have NO direct FK to JobCard — they reach it through their request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PICKUP: job_card_id set when the job is created from the booking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DELIVERY: job_card_id = the job being delivered (required)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Vehicle heuristics remain only as a fallback in the customer journey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CUSTOMERVEHICLEJOURNEYSERVICEIMPL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 journey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2334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9978"/>
                <a:gridCol w="4583242"/>
                <a:gridCol w="549989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 (per vehicle)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Active trip (ASSIGNED / ACCEPTED / IN_PROGRESS)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DRIVER_ASSIGNED → DRIVER_EN_ROUTE → DRIVER_ARRIVED → EN_ROUTE_TO_GARAGE; HANDOVER (delivery)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Non-terminal job card (not CLOSED/CANCELLED)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ARRIVED_AT_GARAGE … VEHICLE_READY, COMPLETED (DELIVERED)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Pending request (REQUESTED)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Confirmed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1148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5875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Linked-pickup exception: if the active trip is a PICKUP whose request.job_card_id equals the vehicle's job card, the trip is ignored for stage selection — the vehicle is at the garage, the job card is the truth. A DELIVERY trip keeps priority.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780">
                <a:solidFill>
                  <a:srgbClr val="B45309"/>
                </a:solidFill>
                <a:latin typeface="Calibri"/>
              </a:rPr>
              <a:t>■  </a:t>
            </a:r>
            <a:r>
              <a:rPr sz="1300">
                <a:solidFill>
                  <a:srgbClr val="0F172A"/>
                </a:solidFill>
                <a:latin typeface="Calibri"/>
              </a:rPr>
              <a:t>Edge cases: an unlinked, uncompleted pickup trip still shows EN_ROUTE_TO_GARAGE; vehicle-based selection can mispair overlapping records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JOBCARD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Media architecture: direct to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intent · complete ·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private bucket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169164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17520" y="141732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1  upload-intent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17520" y="205740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17520" y="178308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2  presigned URL(s)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423160"/>
            <a:ext cx="1783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17520" y="214884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4  complete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017520"/>
            <a:ext cx="6080760" cy="0"/>
          </a:xfrm>
          <a:prstGeom prst="line">
            <a:avLst/>
          </a:prstGeom>
          <a:ln w="3810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31920" y="306324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1">
                <a:solidFill>
                  <a:srgbClr val="1D4ED8"/>
                </a:solidFill>
                <a:latin typeface="Calibri"/>
              </a:rPr>
              <a:t>3  direct HTTPS PUT (bytes never touch Spring)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 Spring multipart proxy. The old multipart limit was not raised. Private bucket: every read/write is a short-lived presigned URL.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111556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NEW media = evidence + thumbnail. There is no separate original asset.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Presigned TTL: upload 15 min (default), playback 10 min (default)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Legacy Drive / original-based media keeps working (evidence falls back to the stored original)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EVIDENCE + THUMBNAIL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image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(image_picker)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Metadata at pick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time + GPS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Persistent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5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upload-intent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row evidence_only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3768" y="150876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_source.jpg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to R2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UPLOADED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Scheduler renders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_evidence.jpg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5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storage_key =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8" y="3017520"/>
            <a:ext cx="2112264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Delete _source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COMPLETED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24328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59752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27463" y="194310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29900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59052" y="2697479"/>
            <a:ext cx="9070848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59052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24328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2040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9752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27463" y="3451860"/>
            <a:ext cx="137161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4160520"/>
            <a:ext cx="11155680" cy="2194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Footer: stage, captured time, captured-by, address, Lat/Lng, accuracy, GarageST — from persisted capture metadata (never current time/location)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Retry: failure keeps the row UPLOADED, retry_count++, FAILED after 5 (source kept); a lost save after rendering is not re-rendered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Save precedes source deletion: a crash can only orphan the temporary source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R2 key: GarageST/{garageCode}/{jobCardNumber}/{stage}/{jobCardNumber}_{stage}_{seq}_{source|evidence|thumbnail}.{ext}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ON-DEVICE MEDIA3, ORIENTATION-AWARE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New video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Capture /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select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Media3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Orientation-aware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50876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Evidence footer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burned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 from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final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PUT _evidence.mp4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+ _thumbnail.jpg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complete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thumbnailUploaded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017520"/>
            <a:ext cx="26791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Local temp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files cleaned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125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2589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19431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46436" y="2386583"/>
            <a:ext cx="0" cy="310896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842516" y="2697479"/>
            <a:ext cx="8503920" cy="0"/>
          </a:xfrm>
          <a:prstGeom prst="line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42516" y="2697479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9125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2589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0536" y="345186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114800"/>
          <a:ext cx="11183111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879982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Max dimensions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long edge ≤ 1920, short edge ≤ 1080 (in the video's own orientation; even sizes)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Bitrate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80 % of the source bitrate (qualityPercent 80), H.264 / AAC MP4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single re-encode (optimization + overlay together)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JPEG, longest edge ≤ 480 px, extracted from the FINAL file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Retry never re-renders once paths are persisted; cache key media-video-{mediaId} is stable. Video quality/size: MANUAL device validation.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INTENTIONALLY SEPARATE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JobCard media vs trip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35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1" cy="3553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6637"/>
                <a:gridCol w="4858237"/>
                <a:gridCol w="485823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JobCardMedia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NavigationTripMedia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 NavigationTrip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Cloudflare R2 (Drive for legacy)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server local disk (Config-dependent durability on Render)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presigned direct PUT + persistent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multipart through Spring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Processing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evidence footer + thumbnail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captured-by/at, lat/lng, accuracy, 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shot type, stage, lat/lng, capturedBy/At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inspection / repair 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pickup / delivery condition evidence (5 required shots gate trip steps)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Keep them separate. If a link is ever needed, connect by ids — never share code paths or duplicate media.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V61__ADD_NAVIGATION_REQUEST_JOB_CARD_REFERENCE.SQL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Database: V61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navigation_request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… existing columns …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job_card_id  BIGINT  NULL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(no default, no foreign key)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52160" y="1508760"/>
          <a:ext cx="5833870" cy="1694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81552"/>
                <a:gridCol w="25523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idx_navigation_request_job_card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on (job_card_id)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802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idx_navigation_request_one_delivery_per_job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UNIQUE on (job_card_id) WHERE request_type='DELIVERY' AND status&lt;&gt;'CANCELLED' AND job_card_id IS NOT NULL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8620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Why the partial unique index: database backstop for at most one live delivery request per job (concurrent submits)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Required by: new DELIVERY requests (service-level). PICKUP gets it later from the booking; legacy rows stay NULL and valid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Rollback: additive and nullable — an older backend runs fine; a new backend on the old schema fails ddl-auto=validate. Undo needs a V62; never edit V61</a:t>
            </a:r>
          </a:p>
          <a:p>
            <a:pPr>
              <a:spcAft>
                <a:spcPts val="432"/>
              </a:spcAft>
            </a:pPr>
            <a:r>
              <a:rPr sz="840">
                <a:solidFill>
                  <a:srgbClr val="129465"/>
                </a:solidFill>
                <a:latin typeface="Calibri"/>
              </a:rPr>
              <a:t>■  </a:t>
            </a:r>
            <a:r>
              <a:rPr sz="1400">
                <a:solidFill>
                  <a:srgbClr val="0F172A"/>
                </a:solidFill>
                <a:latin typeface="Calibri"/>
              </a:rPr>
              <a:t>Flyway applies it at startup before JPA validation. NOT executed against PostgreSQL in this environment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DATABASE · V62__CREATE_NOTIFICATION_SYSTEM.SQL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schema (additive)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37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device_token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user_id → users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token (UNIQUE)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platform · app_version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is_active · last_seen_at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user_id → users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type · category · priority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title · message · entity · job_card_id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event_key · is_read · read_at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UNIQUE (event_key, user_id)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notification_outbox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event_key (UNIQUE)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event_type · garage_id · entity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payload (TEXT, ids only)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status · attempt_count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next_attempt_at · locked_at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55448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notification_delivery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01168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notification_id → notification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device_token_id → device_token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status · attempt_count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next_attempt_at · sent_at</a:t>
            </a:r>
          </a:p>
          <a:p>
            <a:pPr algn="l"/>
            <a:r>
              <a:rPr sz="1100" b="0">
                <a:solidFill>
                  <a:srgbClr val="051C32"/>
                </a:solidFill>
                <a:latin typeface="Calibri"/>
              </a:rPr>
              <a:t>UNIQUE (notification, device)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77639"/>
          <a:ext cx="11183112" cy="151790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871423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Indexes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uk_notification_event_user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idempotency: one logical notification per (event, recipient)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idx_notification_user_created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history paging (user_id, created_at DESC, id DESC)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idx_notification_user_unread (partial)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fast unread count: WHERE is_read = FALSE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51C32"/>
                          </a:solidFill>
                          <a:latin typeface="Calibri"/>
                        </a:rPr>
                        <a:t>idx_notification_outbox_status_next / …_delivery_status_next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51C32"/>
                          </a:solidFill>
                          <a:latin typeface="Calibri"/>
                        </a:rPr>
                        <a:t>worker polling by (status, next_attempt_at)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76072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Rollback: tables are additive; remove only with a NEW migration. Operational rollback = NOTIFICATIONS_ENABLED=false. Verified by NotificationPipelineIT on the isolated garageos_test database.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REPRESENTATIVE BUSINESS-CRITICAL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Screen → endpoint → service →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42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4053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96381"/>
                <a:gridCol w="3195174"/>
                <a:gridCol w="2928910"/>
                <a:gridCol w="26626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Service method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 written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CustomerEstimateDetailScreen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/estimates/{id}/approve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EstimateServiceImpl.approveEstimateCanonical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Estimate APPROVED, tasks, job REPAIR_PENDING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ApprovalScreen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/workflow/{n}/repair/start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JobCardServiceImpl.startRepair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RepairScreen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PUT /job-assignments/{id}/start|complete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JobAssignmentServiceImpl.startJob / completeJob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task/assignment; job REPAIR_COMPLETED (auto)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BookingDetailScreen / JobStepScreen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/workflow/job (bookingId)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JobCardServiceImpl.createJobCard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OPEN; Booking COMPLETED; request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DriverDashboard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/navigation/trips/{id}/accept|start|arrive|continue|complete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NavigationTripServiceImpl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trip + request 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HandoverCode / VerifyScreen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 …/handover/code; POST …/verify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HandoverServiceImpl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VehicleHandover PENDING → VERIFIED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CreateDeliveryRequestSheet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NavigationRequestServiceImpl.createRequest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NavigationRequest DELIVERY REQUESTED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HandoverVerifyScreen (delivery)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/navigation/trips/{id}/complete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DeliveryServiceImpl.completeDeliveryFromTrip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450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Media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/job-cards/{id}/media/upload-intent; /media/{id}/complete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MediaServiceImpl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JobCardMedia rows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READ FROM THE @TRANSACTIONAL ANNOTATIONS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Transaction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43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Customer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6304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EstimateServiceImpl.approveEstimate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6304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estimate + RepairTasks + job REPAIR_PENDING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Manager 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JobCardServiceImpl.startRepair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REPAIR_IN_PROGRESS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Repair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20040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RepairTaskServiceImpl / JobAssignmentServiceImpl.completeJob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20040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task + assignment sync + job aggregate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Booking →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069079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JobCardServiceImpl.createJobCard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069079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job + Booking COMPLETED + request job_card_id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2834640" cy="7315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trip 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93776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NavigationTripServiceImpl.completeTrip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4937760"/>
            <a:ext cx="3776472" cy="731520"/>
          </a:xfrm>
          <a:prstGeom prst="roundRect">
            <a:avLst>
              <a:gd name="adj" fmla="val 8000"/>
            </a:avLst>
          </a:prstGeom>
          <a:solidFill>
            <a:srgbClr val="DCF5EA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trip + request + Delivery + job DELIVERED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521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Not one transaction: Flutter's job-create → inspection-start chain (two calls) and media processing (idempotent R2 writes, save before source delete).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KEPT FOR COMPATIBILITY — DO NOT EXTEND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Legacy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83220"/>
                <a:gridCol w="1466637"/>
                <a:gridCol w="403325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Behaviour / rule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Google Drive media + multipart 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still served via /content; new code uses the R2 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R2 rows with original + thumbnail/evidence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evidence falls back to the stored original; nothing migrated or deleted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JobCard states ESTIMATE_APPROVED, WORK_COMPLETED, INVOICED, PAYMENT_PENDING, PAYMENT_COMPLETED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written; old rows can still move forward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Delivery requests without job_card_id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completes, no job effect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/workflow/… vs /jobcards/… duplicate endpoints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Duplicate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delegate to the same rule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JobAssignmentType.DRIVER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writer/caller found; use trips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Declared-only statuses (Estimate SENT/EXPIRED, RepairStatus ON_HOLD/CANCELLED, NavigationRequest/Trip CANCELLED, DeliveryStatus PENDING/READY, …)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Declared-only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never written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flutter_compress dependency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Dart imports; Media3 declared directly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Business event → notification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mutation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same @Transactional method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39" y="228600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5603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NotificationEventPublisher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INSERT … ON CONFLICT DO NOTHING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39" y="3337560"/>
            <a:ext cx="0" cy="274319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611879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notification_outbox (PENDING)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commits or rolls back with the business 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438912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6634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NotificationOutboxWorker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FOR UPDATE SKIP LOCKED →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5087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Recipient resolver + templates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tenant-scoped · actor removed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228600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59" y="25603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notification + notification_delivery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1 row / recipient · 1 row / device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3337560"/>
            <a:ext cx="0" cy="274319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3611879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FcmSender → Firebase FCM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outside any DB transaction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4389120"/>
            <a:ext cx="0" cy="27432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59" y="46634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Android device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foreground local · background tray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623560" y="1892807"/>
            <a:ext cx="685800" cy="3154681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7150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51C32"/>
                </a:solidFill>
                <a:latin typeface="Calibri"/>
              </a:rPr>
              <a:t>Tap → NotificationNavigationService (queued until session restored) → NotificationDestinationResolver → GarageST 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053328"/>
            <a:ext cx="11183112" cy="3657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At-least-once delivery · PostgreSQL = source of truth · FCM = delivery only · no Kafka · no DB triggers · WebSocket stays live-trip only.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BUSINESS EVENT →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End-to-end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874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3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Outbox (PG)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325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5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9777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79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Resolver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72299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100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4682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141732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721340" y="1874519"/>
            <a:ext cx="0" cy="3977641"/>
          </a:xfrm>
          <a:prstGeom prst="line">
            <a:avLst/>
          </a:prstGeom>
          <a:ln w="12700">
            <a:solidFill>
              <a:srgbClr val="E2E8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8740" y="2148840"/>
            <a:ext cx="1874519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94460" y="185623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1 publish(event) — same tx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23259" y="260604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68979" y="231343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2 claim batch (SKIP LOCKED)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97779" y="3017520"/>
            <a:ext cx="1874520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43499" y="272491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3 resolve recipients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223259" y="342900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68979" y="313639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4 insert notification + deliveries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97779" y="3840480"/>
            <a:ext cx="3749041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43499" y="3547872"/>
            <a:ext cx="37490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5 send (outside tx)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46820" y="4251960"/>
            <a:ext cx="1874520" cy="0"/>
          </a:xfrm>
          <a:prstGeom prst="line">
            <a:avLst/>
          </a:prstGeom>
          <a:ln w="19050">
            <a:solidFill>
              <a:srgbClr val="1294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892540" y="3959352"/>
            <a:ext cx="1874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51C32"/>
                </a:solidFill>
                <a:latin typeface="Calibri"/>
              </a:rPr>
              <a:t>6 push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223259" y="4663440"/>
            <a:ext cx="187452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68979" y="4370831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7 record result / backoff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348740" y="5120640"/>
            <a:ext cx="9372600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94460" y="4828031"/>
            <a:ext cx="9372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051C32"/>
                </a:solidFill>
                <a:latin typeface="Calibri"/>
              </a:rPr>
              <a:t>8 tap → API (mark read)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Rollback of step 1 removes the event (no phantom notification). An FCM outage never rolls back a business operation — steps 5–7 retry independently.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EVENT MATRIX (1/2) — 32 EVENTS VERIFIED AGAINST NOTIFICATIONEVENTTYPE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events 1–16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28032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3840480"/>
                <a:gridCol w="2148840"/>
                <a:gridCol w="1463040"/>
                <a:gridCol w="85039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 (where the transition is finalised)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Recipients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 / 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BOOKING_REQUESTED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BookingServiceImpl.createBooking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Owner,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BOOKING_CREATED_BY_STAFF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BookingServiceImpl.createPhoneBooking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BOOKING_CONFIRMED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BookingServiceImpl.confirmBooking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BOOKING_REJECTED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BookingServiceImpl.rejectBooking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BOOKING_CANCELLED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BookingServiceImpl.cancelBooking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PICKUP_DRIVER_ASSIGNED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NavigationTripServiceImpl.assignDriver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Driver, 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TRIP_ACCEPTED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NavigationTripServiceImpl.acceptTrip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…startTrip / continueTrip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DRIVER_ARRIVED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…arriveAtDestination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HANDOVER_CODE_GENERATED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HandoverServiceImpl.getOrCreateActiveCode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HANDOVER_VERIFIED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HandoverServiceImpl.verify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TRIP_COMPLETED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NavigationTripServiceImpl.completeTrip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JOB_CARD_CREATED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JobCardServiceImpl.createJobCard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INSPECTION_STARTED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JobCardServiceImpl.startInspection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INSPECTION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INSPECTION_COMPLETED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JobCardServiceImpl.completeInspection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INSPECTION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ESTIMATE_READY_FOR_APPROVAL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EstimateServiceImpl.updateEstimate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Acting user is always excluded. Idempotency key = TYPE:ENTITY_TYPE:ENTITY_ID:discriminator (transition time for re-enterable states).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EVENT MATRIX (2/2) — 32 EVENTS VERIFIED AGAINST NOTIFICATIONEVENTTYPE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events 17–32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4828032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3840480"/>
                <a:gridCol w="2148840"/>
                <a:gridCol w="1463040"/>
                <a:gridCol w="85039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 (where the transition is finalised)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Recipients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 / 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ESTIMATE_APPROVED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EstimateServiceImpl.approveEstimateCanonical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ESTIMATE_REJECTED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EstimateServiceImpl.rejectEstimate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REPAIR_TASK_ASSIGNED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JobAssignmentServiceImpl.assignJob/reassignJob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Technician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ASSIGNMENT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RepairTask…startRepair / JobAssignment…startJob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REPAIR_TASK_COMPLETED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RepairTask…completeRepair / JobAssignment…completeJob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REPAIR_TASK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JOB_REPAIR_STARTED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JobCardServiceImpl.startRepair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JOB_REPAIR_COMPLETED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all-tasks-complete transition (3 sites)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REPAIR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QUALITY_CHECK_STARTED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ServiceWorkflowServiceImpl.performQualityCheck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QUALITY_CHECK_PASSED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QualityCheckServiceImpl.passQualityCheck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QUALITY_CHECK_FAILED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QualityCheckServiceImpl.failQualityCheck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Technician, 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QUALITY_CHECK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INVOICE_GENERATED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InvoiceServiceImpl.createInvoice/generateInvoice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 / 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INVOICE_ACCEPTED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InvoiceServiceImpl.acceptInvoice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 / 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PAYMENT_RECEIVED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InvoiceServiceImpl.receivePayment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PAYMENT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VEHICLE_READY_FOR_DELIVERY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JobCardServiceImpl.readyForDelivery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 / HIGH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VEHICLE_DELIVERED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DeliveryServiceImpl (both paths)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Customer, Manager/SA, 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DELIVERY / NORMAL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51C32"/>
                          </a:solidFill>
                          <a:latin typeface="Calibri"/>
                        </a:rPr>
                        <a:t>JOB_CLOSED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JobCardServiceImpl.closeJobCard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 / LOW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51C32"/>
                          </a:solidFill>
                          <a:latin typeface="Calibri"/>
                        </a:rPr>
                        <a:t>JOB_CARD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Acting user is always excluded. Idempotency key = TYPE:ENTITY_TYPE:ENTITY_ID:discriminator (transition time for re-enterable states).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RECIPIENT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Persona-based notification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49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own bookings, trips, estimate, repair, invoice, payment, delivery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customer → mobile number → user (role CUSTOMER). No app account = no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business events: booking, job card, estimate, repair, QC fail, invoice, payment, vehicle ready/delivered, closed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garage.owner_user_id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4630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Manager · Service Advisor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92024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operational updates: bookings, trip, inspection, estimate, repair tasks, QC, invoice, payment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users.garage_id = event garage, role MANAGER / SERVICE_ADVISOR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Technician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REPAIR_TASK_ASSIGNED · QUALITY_CHECK_FAILED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assignee ids captured in the event (before QC reset)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PICKUP_DRIVER_ASSIGNED · HANDOVER_CODE_GENERATED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trip.driverId, same garage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370332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No automatic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416052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Accountant · Cashier · Inventory manager</a:t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Resolved from: not part of the notification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051C32"/>
                </a:solidFill>
                <a:latin typeface="Calibri"/>
              </a:rPr>
              <a:t>Actor self-notification is suppressed (a manager approving an estimate is not told about it). Recipients are de-duplicated; the first persona wins.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TENANT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Multi-garage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 (garageId = A)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outbox row carries garage_id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NotificationRecipientResolver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user.garage_id == A  (every staff persona)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Recipients of garage A only</a:t>
            </a:r>
          </a:p>
          <a:p>
            <a:pPr algn="ctr"/>
            <a:r>
              <a:rPr sz="1300" b="0">
                <a:solidFill>
                  <a:srgbClr val="051C32"/>
                </a:solidFill>
                <a:latin typeface="Calibri"/>
              </a:rPr>
              <a:t>devices → FCM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94760" y="1965960"/>
            <a:ext cx="64008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1965960"/>
            <a:ext cx="640081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74320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Staff recipients (owner, manager, service advisor, technician, driver) must belong to the event's garage — same tenant source as the security principal (users.garage_id).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A technician or driver id from another garage supplied through event facts is rejected (tests: technician_isResolvedFromFacts_onlyWithinGarage, crossGarage_staffOfGarageB_neverReceiveGarageAEvents).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Customers are cross-garage records: they receive events only for their OWN customer id (they may legitimately hear from several garages).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The unscoped getTechnicians() / getRepairEmployees() queries are never reused. FCM topics are not used; recipients are chosen server-side.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Transactional outbox and retry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PENDING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51C32"/>
                </a:solidFill>
                <a:latin typeface="Calibri"/>
              </a:rPr>
              <a:t>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1755648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630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84831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FAILED after 6 attempts · stale PROCESSING (&gt; 5 min) → PENDING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514600"/>
          <a:ext cx="11183112" cy="250545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81655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Setting (application.properties)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Current value / behaviour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notifications.enabled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false by default (NOTIFICATIONS_ENABLED). Off = publisher no-op, worker never starts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worker.delay-ms · batch-size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5 000 ms · 50 rows per batch; FOR UPDATE SKIP LOCKED claim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worker.max-attempts · base-backoff-seconds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6 attempts · 30 s doubling (30 s, 60 s, 2 m, 4 m …) capped at 1 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worker.stale-lock-minutes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 — crashed PROCESSING rows are recovered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delivery lease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2 minutes — a claimed delivery is invisible to other claims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FCM timeouts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connect 10 s · read 15 s; FCM is never called inside a DB transaction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25780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Idempotency: outbox event_key UNIQUE · notification (event_key, user_id) UNIQUE · delivery (notification, device) UNIQUE. Evidence: NotificationPipelineIT (rollback leaves no row; replay creates no duplicate).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4360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Business rollback → no outbox row. FCM down → business operation still succeeds; delivery retries independently.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FIREBASE CLOUD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FCM architecture and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Server (Spring Boot)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Firebase Admin SDK 9.9.0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HTTP v1 · FcmConfig picks the sender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FcmSender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FirebaseFcmSender · NoopFcmSender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never throws — classifies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Android client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firebase_messaging · local notifications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google-services.json (per environment)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011680"/>
            <a:ext cx="36576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2011680"/>
            <a:ext cx="365761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834640"/>
          <a:ext cx="11183112" cy="14630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840480"/>
                <a:gridCol w="49651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Android channel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garagest_urgent (high importance, FCM priority HIGH)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estimate ready/approved/rejected, task assigned, QC failed, invoice, vehicle ready, driver arrived/assigned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garagest_default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most progress events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inspection started, repair task start/done, QC started, job closed, staff 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470916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Configuration — names only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NOTIFICATIONS_ENABLED (default false)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FIREBASE_CREDENTIALS_BASE64 (Render secret)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0916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Payload (identifiers only)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notificationId · type · entityType · entityId · jobCardId · garageId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 names, phones, amounts or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1">
                <a:solidFill>
                  <a:srgbClr val="051C32"/>
                </a:solidFill>
                <a:latin typeface="Calibri"/>
              </a:rPr>
              <a:t>No credentials → NoopFcmSender: app starts, history still works, no pushes. Invalid token (UNREGISTERED) → deactivated. Auth/permission errors pause the tick, never touch business data.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DEVICE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Device token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Login / session restore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AuthState observed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Permission once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 13+ 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FCM token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getToken()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POST /notifications/devices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upsert · reassign by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72600" y="1938528"/>
            <a:ext cx="27432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50876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Delivery fan-out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1 row per active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Logout (required order — AuthState.onBeforeLogout)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1 Unregister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POST …/devices/unregister (token in body) while the access token is valid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3721608"/>
            <a:ext cx="155448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0248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2 deleteToken()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FirebaseMessaging.deleteToken()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3721608"/>
            <a:ext cx="155447" cy="0"/>
          </a:xfrm>
          <a:prstGeom prst="line">
            <a:avLst/>
          </a:prstGeom>
          <a:ln w="19050">
            <a:solidFill>
              <a:srgbClr val="1D4E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37576" y="32918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3 clearSession()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existing logout; always completes (timeouts, errors ignored)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Token = app installation, attached to the authenticated user who last registered it. Re-registration by another user reassigns it (account switching).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56048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FCM token refresh → register again (signed in only). Multi-device: one row per installation; per-device delivery status.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22976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UNREGISTERED → delivery INVALID_TOKEN and token deactivated. No refresh interceptor and no last_seen_at pruning exist (limitation).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FLUTTER PUSH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Foreground · background · terminated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FirebaseMessaging.onMessage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de-duplicate by notification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FlutterLocalNotifier.show (channel by priority)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badge + list refresh (NotificationState)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system tray shows the FCM notification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Dart background handler = no-op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tap → onMessageOpenedApp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NotificationNavigationService.handleTap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46304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Terminated / cold 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205740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getInitialMessage() or local launch payload captured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2770632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queued — NOT dispatched yet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3483864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dispatch after: session restored · signed in · past splash/login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6" y="4197096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then role-aware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Tap safety: mark-read doubles as the ownership check (404 = not this user's → nothing opens). Duplicate taps within 5 s ignored; queued taps expire after 30 min; destinations re-check access through the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52160"/>
            <a:ext cx="11183112" cy="411480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1">
                <a:solidFill>
                  <a:srgbClr val="051C32"/>
                </a:solidFill>
                <a:latin typeface="Calibri"/>
              </a:rPr>
              <a:t>Permission denied is respected: no tray notification, but history and badge still work.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TAP →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history and deep linking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090672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468880"/>
                <a:gridCol w="661111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Persona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Destination (existing route unless marked new)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Routes.bookingDetail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DRIVER_ARRIVED → handoverCode · HANDOVER_VERIFIED → handoverStatus · else activeTrip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ESTIMATE / 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customerEstimateDetail / customerInvoiceDetail (new routes)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JOB_CARD / REPAIR_TASK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customerJobCard (new) → resolves job number → CustomerRepairTrackingScreen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Owner · Manager/SA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BOOKING · TRIP · other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garageBookingQueue · managerFleetMap · jobCardDetail (job-card 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Technician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technicianHome (no repair-task screen exists)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HANDOVER_CODE_GENERATED → handoverVerify · PICKUP_DRIVER_ASSIGNED → driverHome · else activeTrip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ids missing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Routes.notifications (history)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6634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History screen (/notifications)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title · message · relative time · unread dot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paged (20) · pull to refresh · mark read · mark all read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bell + unread badge in the 5 home shells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The payload is routing, not authorization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every destination loads data through the authenticated API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authorization is unchanged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server-side checks still decide access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ANDROID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Android notification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56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255264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816559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Gradle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com.google.gms.google-services 4.4.4 applied only if android/app/google-services.json exists · core-library desugaring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Dependencies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firebase_core ^4.15.0 · firebase_messaging ^16.7.0 · flutter_local_notifications ^22.3.1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Manifest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POST_NOTIFICATIONS · FCM default channel garagest_default · default icon @mipmap/ic_launcher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garagest_urgent (high) · garagest_default · garagest_low — created at startup; geolocator foreground service unaffected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Android 13+ runtime prompt once per app run after login; denial respected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Sound / vibration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default notification sound; vibration follows device mode and per-channel settings (OS/user control)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Platform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Android tested · iOS NOT IMPLEMENTED (behind PushGateway, ready to add)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9377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PHYSICALLY VALIDATED — ANDROID (product owner, real device, real Firebase)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 appears with sound · vibrate/silent follows device mode · appears in the system tray · history visible in GarageST · unread badge works · tap opens GarageST with working deep link · Vehicle Ready for Delivery and Payment Received observed with job-card context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 claimed: every one of the 32 events individually tested; iOS.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RECORDED RESULTS — NOTHING UNVERIFIED MARKED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Testing status (2026-10-02 history)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58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6304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226 run • 3 known failures (InvoiceServiceImplTest.receivePayment_*, pre-existing, unrelated)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2140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12140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368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9776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779776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 errors · 2 warnings (pre-existing) · 94 info lints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38144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APK (debug) / backend 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438144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(jar with -DskipTests · debug APK)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96512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Release AAB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096512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79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V61 on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754879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ENVIRONMENT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13248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 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413248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MANUAL — notification flows PHYSICALLY VALIDATED on Android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Not covered by automated tests: start_repair projection filter; DeliveryScreen restoration (widget test).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DEVICE TESTING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Manual test matrix (key scenarios)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755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8302"/>
                <a:gridCol w="4583242"/>
                <a:gridCol w="504156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Customer approves; manager opens app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Approval screen says Customer Approved — Manager Confirmation Required; repair 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WF-005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Manager confirms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JobCard REPAIR_IN_PROGRESS; Repair step opens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return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route to the garage; no OTP/evidence asked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PK-005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Pickup completion + job from booking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trip/request COMPLETED; booking COMPLETED; job linked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DL-001 … DL-006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Delivery: request → map → assign → navigate → OTP → 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Delivery DELIVERED; job DELIVERED → Close Job; reopening the step restores state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NAV-001 / 002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STOMP updates / REST fallback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marker moves; fallback ≈ every 10 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MED-001 … 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Image, video, customer playback, legacy media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evidence + thumbnail only in R2; legacy plays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Full 25-row matrix (WF, PK, DL, NAV, MED) is in handbook section 38.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testing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60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261518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2011680"/>
                <a:gridCol w="670255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54864" marR="54864" marT="18288" marB="18288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Publisher / idempotency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7 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stable event key · replay = same key · disabled = no-op · actor captured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Recipient resolver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13 unit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customer with/without account · all personas · actor suppression · cross-garage rejection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Templates · device tokens · history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4 + 7 + 5 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no PII · token reassignment/ownership · user-scoped history, mark-read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Outbox · retry · FCM results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15 + 4 unit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claim · stale recovery · backoff · invalid token deactivation · config-error pause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Real database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6 IT (PostgreSQL)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rollback leaves no outbox row · replay de-duplicated · full chain · user isolation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51C32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50 tests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51C32"/>
                          </a:solidFill>
                          <a:latin typeface="Calibri"/>
                        </a:rPr>
                        <a:t>routing · cold-start queue · token lifecycle · logout ordering (real AuthState) · API contract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29768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AUTOMATED VALIDATION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226 run on 2026-10-02 (3 InvoiceServiceImplTest failures since resolved; 385/0 on 2026-10-05)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NotificationPipelineIT 6/6 · Flutter 368 pass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jar + debug APK built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uses a stub FCM sender — no Firebase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9768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50" b="1">
                <a:solidFill>
                  <a:srgbClr val="051C32"/>
                </a:solidFill>
                <a:latin typeface="Calibri"/>
              </a:rPr>
              <a:t>PHYSICAL DEVICE VALIDATION — ANDROID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real FCM · sound · tray · history · badge · tap + deep link</a:t>
            </a:r>
          </a:p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pending manual: cold start per persona, permission denied, multi-device, account switch, all 32 events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TWELVE CORE INVARIANTS  ·  NOTIFICATION RULES 13–17 ON THE NEXT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Architectural rules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61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JobCard ≠ RepairTask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Customer approval ≠ manager confirmation; only startRepair opens repair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554480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463040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Backend state is authoritative; no local step advance past a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554480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Every JobCard.status writer uses JobCardStatusValidator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A delivery completes through its delivery trip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761488"/>
            <a:ext cx="64008" cy="8961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8" y="2670048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Trip / delivery state never lives only in Flutter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761488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Direct-to-R2 media; no Spring proxy; no larger multipart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61104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New media = evidence + thumbnail; legacy stays compatible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9288" y="3877056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No secrets in source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3968496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Never modify an applied Flyway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61104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11   Keep JobCardMedia and NavigationTripMedia separate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9288" y="5084064"/>
            <a:ext cx="361188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12   No garage-side OTP; no second continueTrip on the return leg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9288" y="5175504"/>
            <a:ext cx="64008" cy="89611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NOTIFICATION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Invariants 13–17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62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822960" cy="80467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463040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Publish events inside the business transaction through NotificationEventPublisher, only from meaningful transitions. Never call FCM from a business transaction; no DB triggers; no “watch every UPDATE”.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822960" cy="804672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395728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Every staff recipient must belong to the event's garage. Recipient rules live only in NotificationRecipientResolver. Never use FCM topics as authorization.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6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328416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FCM payload carries identifiers only; notification text carries no customer/vehicle/financial data; never log FCM tokens or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261104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Logout must unregister and delete the device token BEFORE the session is cleared (AuthState.onBeforeLogout); cleanup must never block logout.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93792"/>
            <a:ext cx="822960" cy="804672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193792"/>
            <a:ext cx="10360152" cy="8046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51C32"/>
                </a:solidFill>
                <a:latin typeface="Calibri"/>
              </a:rPr>
              <a:t>Changing a notification event requires updating the matrix (handbook §28A.4), the resolver, the template factory and the tests.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ALL ACCEPTED /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Architecture decisions (ADR-001 … 008)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41330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286"/>
                <a:gridCol w="5499891"/>
                <a:gridCol w="329993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73152" marR="73152" marT="36576" marB="36576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001 Direct 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presigned PUT to a private bucket + persistent client queue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client owns retry; R2 config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002 Evidence canonical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only evidence + thumbnail; images server-rendered, videos on-device (Media3)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two renderers kept in sync by test literals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003 JobCard vs RepairTask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separate machines; task actions need REPAIR_IN_PROGRESS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technicians blocked until confirmation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004 Approval vs confirmation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REPAIR_PENDING = approved, awaiting manager; APPROVAL completes at REPAIR_IN_PROGRESS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 new status; resolveCompleted encodes it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005 Trip ↔ JobCard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one nullable navigation_request.job_card_id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legacy rows NULL; no FK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006 Delivery trip = delivery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trip completion creates Delivery and marks the job DELIVERED (one transaction)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requests need jobCardId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007 Map delivery location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reuse LocationPickerScreen; address + lat + lng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old apps cannot create delivery requests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008 FCM + outbox notifications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PostgreSQL transactional outbox → worker → Firebase FCM; history in PostgreSQL; no Kafka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at-least-once delivery; client de-duplicates; Firebase secret to manage; iOS later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ONLY LIMITATIONS DOCUMENTED IN THE HANDBOOK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Limitations and risks (2026-10-02)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66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V61 not verified on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41732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ENVIRONMENT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2082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Release AAB not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02082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NOT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91C1C"/>
                </a:solidFill>
                <a:latin typeface="Calibri"/>
              </a:rPr>
              <a:t>JWT default secret + test DB password in source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62432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rotate / move to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27832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Trip media on server local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3227832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durability is config-dependent on Render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31336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No cancellation, rejection or reassignment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831336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 stuck trip never auto-expires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Customer journey vehicle-based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4434840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can mispair overlapping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38344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475569"/>
                </a:solidFill>
                <a:latin typeface="Calibri"/>
              </a:rPr>
              <a:t>Flutter never auto-refreshes an expired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5038344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known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41848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Return-leg backend destination stays "GARAGE"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564184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Flutter resolves the real garage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67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iOS push NOT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APNs / Firebase iOS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02536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Customer ↔ user match by mobile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02536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FK; no account = no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87752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91C1C"/>
                </a:solidFill>
                <a:latin typeface="Calibri"/>
              </a:rPr>
              <a:t>Legacy backend logout never revokes the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87752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device-token cleanup is a separate explicit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No refresh interceptor / no last_seen pruning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72968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expired-session tokens cleaned on re-register or UNREGISTERED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58184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Launcher icon reused as notification 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58184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may render white on some Android versions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Automated tests use a stub FCM sender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43400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real delivery covered by the physical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28616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createInvoice has no @Transactional (pre-existing)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28616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its outbox row is not atomic on that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13832"/>
            <a:ext cx="5852160" cy="493776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51C32"/>
                </a:solidFill>
                <a:latin typeface="Calibri"/>
              </a:rPr>
              <a:t>No retention job · no preferences · appVersion not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13832"/>
            <a:ext cx="521208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tables grow; every relevant event pushed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HOW EVERYTHING CONNECTS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Final system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69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Garage staff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051C32"/>
                </a:solidFill>
                <a:latin typeface="Calibri"/>
              </a:rPr>
              <a:t>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shell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ActiveTripScreen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media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Spring Boot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workflow · jobcard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estimate · repair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delivery · navigation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handover · media · 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50876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1460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Google Routes / OSRM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931920"/>
            <a:ext cx="2267712" cy="7772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Cloudflare R2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(media bytes)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1783080"/>
            <a:ext cx="521208" cy="457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24912" y="260604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24912" y="3429000"/>
            <a:ext cx="521208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1488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623560" y="306324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77840" y="1874519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10896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  <a:r>
              <a:rPr sz="950" b="0">
                <a:solidFill>
                  <a:srgbClr val="475569"/>
                </a:solidFill>
                <a:latin typeface="Calibri"/>
              </a:rPr>
              <a:t>STOMP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1783080"/>
            <a:ext cx="64008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32520" y="2880360"/>
            <a:ext cx="640080" cy="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840" y="3749039"/>
            <a:ext cx="0" cy="566929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4840" y="4315968"/>
            <a:ext cx="4937760" cy="0"/>
          </a:xfrm>
          <a:prstGeom prst="line">
            <a:avLst/>
          </a:prstGeom>
          <a:ln w="317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26280" y="4370832"/>
            <a:ext cx="4754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1D4ED8"/>
                </a:solidFill>
                <a:latin typeface="Calibri"/>
              </a:rPr>
              <a:t>media bytes: presigned direct PUT / GET (no Spring proxy)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Lifecycle: Booking → Pickup trip → Job Card → Inspection → Estimate → Customer approval → MANAGER confirmation → Repair → QC → Invoice → Payment → Delivery request → Delivery trip (OTP + evidence) → Delivery / job DELIVERED → Closed. Push notifications (FCM) inform the right user at each stage.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8620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Firebase FCM</a:t>
            </a:r>
          </a:p>
          <a:p>
            <a:pPr algn="ctr"/>
            <a:r>
              <a:rPr sz="1200" b="0">
                <a:solidFill>
                  <a:srgbClr val="051C32"/>
                </a:solidFill>
                <a:latin typeface="Calibri"/>
              </a:rPr>
              <a:t>push → Android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97480" y="4206240"/>
            <a:ext cx="1691640" cy="0"/>
          </a:xfrm>
          <a:prstGeom prst="line">
            <a:avLst/>
          </a:prstGeom>
          <a:ln w="19050">
            <a:solidFill>
              <a:srgbClr val="1D4ED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PRODUCTION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Enabling and rolling back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70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1 Firebase project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 app com.garagest.app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2 google-services.json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android/app (git-ignored)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51C32"/>
                </a:solidFill>
                <a:latin typeface="Calibri"/>
              </a:rPr>
              <a:t>3 Render secrets</a:t>
            </a:r>
          </a:p>
          <a:p>
            <a:pPr algn="ctr"/>
            <a:r>
              <a:rPr sz="900" b="0">
                <a:solidFill>
                  <a:srgbClr val="051C32"/>
                </a:solidFill>
                <a:latin typeface="Calibri"/>
              </a:rPr>
              <a:t>NOTIFICATIONS_ENABLED=true</a:t>
            </a:r>
          </a:p>
          <a:p>
            <a:pPr algn="ctr"/>
            <a:r>
              <a:rPr sz="900" b="0">
                <a:solidFill>
                  <a:srgbClr val="051C32"/>
                </a:solidFill>
                <a:latin typeface="Calibri"/>
              </a:rPr>
              <a:t>FIREBASE_CREDENTIALS_BASE64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4 Deploy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Flyway applies V62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0" y="202996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50876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5 Verify logs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Firebase sender initialised</a:t>
            </a:r>
          </a:p>
          <a:p>
            <a:pPr algn="ctr"/>
            <a:r>
              <a:rPr sz="1150" b="0">
                <a:solidFill>
                  <a:srgbClr val="051C32"/>
                </a:solidFill>
                <a:latin typeface="Calibri"/>
              </a:rPr>
              <a:t>Worker started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Variable names only — never commit or document values (service-account JSON, keys, tokens).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DCF5E9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Disabled by default: NOTIFICATIONS_ENABLED=false → publisher no-op, worker never starts, no FCM calls.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Enabled without credentials: app still starts; in-app history only; no pushes.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4632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DF1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Rollback: set NOTIFICATIONS_ENABLED=false and restart. V62 tables stay; any removal needs a new migration.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>
                <a:solidFill>
                  <a:srgbClr val="051C32"/>
                </a:solidFill>
                <a:latin typeface="Calibri"/>
              </a:rPr>
              <a:t>Optional tuning keys: notifications.worker.delay-ms · batch-size · max-attempts · stale-lock-minutes · base-backoff-seconds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Notification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71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463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JWT principal only; no user id accepted from the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463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1463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WHERE user_id = caller; mark-read looks up (id, user_id) → 404 otherwise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606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unregister only own token; register reassigns by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606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606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staff recipients must share the event's garage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749039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events only for the customer's own 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49039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Payload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3749039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identifiers only; text carries only the job-card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92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892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service account only via FIREBASE_CREDENTIALS_BASE64; never in Flutter or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8920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489204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no raw FCM tokens; ids only ([NOTIF_OUTBOX] [NOTIF_RESOLVE] [NOTIF_FCM] [NOTIF_DEVICE])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29465"/>
                </a:solidFill>
                <a:latin typeface="Calibri"/>
              </a:rPr>
              <a:t>CHANGE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051C32"/>
                </a:solidFill>
                <a:latin typeface="Calibri"/>
              </a:rPr>
              <a:t>2026-10-02 — Push Notification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475569"/>
                </a:solidFill>
                <a:latin typeface="Calibri"/>
              </a:rPr>
              <a:t>73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Backend module notification: 32 events, recipient resolver (garage isolation, actor suppression), persona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V62: device_token · notification · notification_outbox · notification_delivery (idempotency constraints)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24328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Transactional outbox + retry worker (own executor, SKIP LOCKED, backoff, stale-lock recovery) · Firebase Admin SDK 9.9.0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27832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APIs: device register/unregister · history · unread count · mark read · mark all read · rejectEstimate now @Transactional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31336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Flutter: firebase_messaging + local notifications · cold-start queue · role-aware deep links · history screen · unread badge · ordered logout cleanup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Android: Google Services plugin (conditional) · channels urgent/default/low · runtime 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38344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Validation: backend 226 (223 pass) · IT 6/6 · Flutter 368 · PHYSICALLY VALIDATED on Android (partial scope)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641848"/>
            <a:ext cx="11183112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51C32"/>
                </a:solidFill>
                <a:latin typeface="Calibri"/>
              </a:rPr>
              <a:t>Limitations: iOS not implemented · mobile-number customer match · legacy logout bug · stub FCM in automated tests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THE HANDBOOK IS THE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Maintaining the handbook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74</a:t>
            </a:r>
          </a:p>
        </p:txBody>
      </p:sp>
      <p:pic>
        <p:nvPicPr>
          <p:cNvPr id="7" name="Picture 6" descr="GarageST_Mark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   Read the relevant section before changing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2   Inspect the actual code first; if they disagree, the code wins and the handbook is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3   Update the handbook in the same task as any architectural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95728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  Add or amend an ADR for every significant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5   Update state-machine tables when a transition, writer or guard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28416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   Update the API reference when a business endpoint, role or validation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7   Add recurring problems to the debugging runbook and error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61104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8   Never document secrets — variable names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9   Never document unimplemented behaviour as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193792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10   Keep legacy behaviour labelled with removal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Regenerate the PDF and this deck after every handbook change.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PERSONA ARCHITECTURE · 2026-10-05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Nine roles, eight shells — persona is presentation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4114800"/>
                <a:gridCol w="45994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Persona / role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Shell (Flutter)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business + multi-garage oversight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Pulse · Garages · Revenue · Pipeline · Settings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Manager · Service Advisor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workshop operations / service workflow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Dashboard · Jobs · Customers · Vehicles + Workflow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Technician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repair execution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My Work · Job Cards · Profile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pickup, delivery, live navigation, handover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Today's Trips · History · Profile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Inventory Manager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physical stock / parts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Dashboard · Stock · Movements · Low Stock · Settings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Cashier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payment collection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Dashboard · Pending · History · Settings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Accountant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financial review, control, reporting (read-only)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Dashboard · Transactions · Invoices · Reports · Settings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service consumer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Home · Services · Estimates · Invoices · Profile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9204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Active persona = which shell is on screen. It is never sent to the backend and never grants a permission: roles are re-read from the database on every request and every sensitive call is authorized server-side.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59552"/>
            <a:ext cx="11183112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129465"/>
                </a:solidFill>
                <a:latin typeface="Calibri"/>
              </a:rPr>
              <a:t>■  </a:t>
            </a:r>
            <a:r>
              <a:rPr sz="1100" b="1">
                <a:solidFill>
                  <a:srgbClr val="0F172A"/>
                </a:solidFill>
                <a:latin typeface="Calibri"/>
              </a:rPr>
              <a:t>Resolution</a:t>
            </a:r>
            <a:r>
              <a:rPr sz="1100" b="0">
                <a:solidFill>
                  <a:srgbClr val="0F172A"/>
                </a:solidFill>
                <a:latin typeface="Calibri"/>
              </a:rPr>
              <a:t> — default Owner → Customer → Manager → Accountant → Cashier → Inventory → Technician → Driver; the switcher lists exactly the assigned personas, independent of role order (Owner/Customer never switch)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129465"/>
                </a:solidFill>
                <a:latin typeface="Calibri"/>
              </a:rPr>
              <a:t>■  </a:t>
            </a:r>
            <a:r>
              <a:rPr sz="1100" b="1">
                <a:solidFill>
                  <a:srgbClr val="0F172A"/>
                </a:solidFill>
                <a:latin typeface="Calibri"/>
              </a:rPr>
              <a:t>ActivePersonaState</a:t>
            </a:r>
            <a:r>
              <a:rPr sz="1100" b="0">
                <a:solidFill>
                  <a:srgbClr val="0F172A"/>
                </a:solidFill>
                <a:latin typeface="Calibri"/>
              </a:rPr>
              <a:t> — stored per user, validated against assigned roles, cleared on logout, never inherited by another account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AUTHORIZATION · DATA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GarageScope — which garages may this caller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86227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Caller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Allowed garages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SUPER_ADMIN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unrestricted (system behaviour)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principal garage + every ACTIVE garage membership (multi-garage owner)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Any other employee role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only the single garage on the principal — employees stay single-garage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Customer (no staff role)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none — scoped by their own mobile-matched customer record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474720"/>
          <a:ext cx="1118311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83484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Isolation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only customers associated with an accessible garage (customer_garage); a customer sees only themself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Users · technicians · repair employees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users of the caller's accessible garage(s) + self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Estimates · deliveries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scoped by the job card's garage; the owning customer reads own estimates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Garage directory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ACTIVE garages only, summary DTO (no PAN/GSTIN); refused for pure customers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Payments · inventory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garage-scoped in the service; other garage → "not found"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0">
                <a:solidFill>
                  <a:srgbClr val="0F172A"/>
                </a:solidFill>
                <a:latin typeface="Calibri"/>
              </a:rPr>
              <a:t>Nothing comes from the request — only the authenticated principal and the membership table. Unauthorized resources answer "not found", so ids never reveal other tenants' data.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AUTHORIZATION · VEHICLES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Vehicle security model — access through the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Vehicle id 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registration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965960"/>
            <a:ext cx="59436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55448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Vehicle → its customer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(access check)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72200" y="1965960"/>
            <a:ext cx="59436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15544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customer_garage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(associated garages)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1965960"/>
            <a:ext cx="59436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75520" y="1554480"/>
            <a:ext cx="1810512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Allowed /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"not found"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WHO MAY ACCESS A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54864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The customer themselves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Staff of a garage the customer is associated with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An owner with access to such a garage (multi-garage)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SUPER_ADMIN (system)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OPERATIONS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539496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GET list · GET by id · registration search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POST create and PUT update (target customer must be accessible too)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29465"/>
                </a:solidFill>
                <a:latin typeface="Calibri"/>
              </a:rPr>
              <a:t>■  </a:t>
            </a:r>
            <a:r>
              <a:rPr sz="1400" b="0">
                <a:solidFill>
                  <a:srgbClr val="0F172A"/>
                </a:solidFill>
                <a:latin typeface="Calibri"/>
              </a:rPr>
              <a:t>DELETE and RC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FEF6D8"/>
          </a:solidFill>
          <a:ln w="12700">
            <a:solidFill>
              <a:srgbClr val="D9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Knowing a vehicle id, a registration number or a customer id is NOT sufficient. A garage that has not onboarded the customer cannot find the vehicle by plate; it onboards the customer by mobile number (which reuses the global customer) and the vehicle becomes reachable.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111831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Verified by PersonaDomainsIT: own vehicle ✔ · other garage by id ✘ · by registration ✘ · other customer ✘ · create/delete/RC by other garage ✘ · owner multi-garage 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CUSTOMER ↔ GARAGE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customer_garage — a customer can have many garages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51C32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Customer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(one global record,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unique mobile)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 A  ★ default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43200" y="1600200"/>
            <a:ext cx="1965960" cy="45720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938528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 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057400"/>
            <a:ext cx="1965960" cy="109728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2505456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Garage 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057400"/>
            <a:ext cx="1965960" cy="676656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651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Calibri"/>
              </a:rPr>
              <a:t>customer_garage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371600"/>
            <a:ext cx="402336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Relationship metadata only.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Job cards and bookings stay the source of truth. UNIQUE(customer, garage); at most one default per customer; source = STAFF_REGISTERED / JOB_CARD / BOOKING_CONFIRMED.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ASSOCIATION EVENTS (the only ones)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54864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1">
                <a:solidFill>
                  <a:srgbClr val="0F172A"/>
                </a:solidFill>
                <a:latin typeface="Calibri"/>
              </a:rPr>
              <a:t>Staff registers the customer</a:t>
            </a:r>
            <a:r>
              <a:rPr sz="1300" b="0">
                <a:solidFill>
                  <a:srgbClr val="0F172A"/>
                </a:solidFill>
                <a:latin typeface="Calibri"/>
              </a:rPr>
              <a:t> — new customer created and associated; existing mobile reused and associated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A job card is created at the garage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The garage confirms a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NOT ASSOCIATION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539496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Discovering or browsing garages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Selecting a garage or requesting a booking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Customer self-activation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1">
                <a:solidFill>
                  <a:srgbClr val="0F172A"/>
                </a:solidFill>
                <a:latin typeface="Calibri"/>
              </a:rPr>
              <a:t>Registration at another garage</a:t>
            </a:r>
            <a:r>
              <a:rPr sz="1300" b="0">
                <a:solidFill>
                  <a:srgbClr val="0F172A"/>
                </a:solidFill>
                <a:latin typeface="Calibri"/>
              </a:rPr>
              <a:t> — never touches other garages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77840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First association becomes the default; later garages never replace it (PUT /customer/garages/{id}/default changes it, among My Garages only). V66 backfilled job-card and confirmed-booking relationships without a default.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GARAGE DISCOVERY · SERVER-SIDE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Nearby garages — GET /garages/nearby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lat / lng 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radiusKm?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SQL bounding box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ACTIVE + coordinates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Haversine filter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+ nearest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1423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≤ 50 results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distanceKm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697480"/>
          <a:ext cx="11183112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743200"/>
                <a:gridCol w="53309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Property / environment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Radius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40 km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garage.discovery.default-radius-km · GARAGE_DISCOVERY_DEFAULT_RADIUS_KM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Maximum radius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100 km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garage.discovery.max-radius-km · GARAGE_DISCOVERY_MAX_RADIUS_KM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Maximum results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garage.discovery.max-results · GARAGE_DISCOVERY_MAX_RESULTS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389120"/>
            <a:ext cx="548640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Inactive garages and garages without coordinates never appear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Response excludes PAN, GSTIN and owner data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Invalid coordinates / radius → 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39496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Flutter handles: location off, denied, permanently denied, unavailable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No garages in range → empty state; API failure → message + retry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29465"/>
                </a:solidFill>
                <a:latin typeface="Calibri"/>
              </a:rPr>
              <a:t>■  </a:t>
            </a:r>
            <a:r>
              <a:rPr sz="1300" b="0">
                <a:solidFill>
                  <a:srgbClr val="0F172A"/>
                </a:solidFill>
                <a:latin typeface="Calibri"/>
              </a:rPr>
              <a:t>"Use my location" retry and "Choose location" (existing map picker) as manual fallback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BOOKING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Booking rules and "Find another garage"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Customer opens</a:t>
            </a:r>
          </a:p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booking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1965960"/>
            <a:ext cx="50292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155448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Has garages?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166360" y="1463040"/>
            <a:ext cx="50292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2148840"/>
            <a:ext cx="502920" cy="36576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1280160"/>
            <a:ext cx="2926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YES → My Garages (★ default)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286000"/>
            <a:ext cx="2926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1C32"/>
                </a:solidFill>
                <a:latin typeface="Calibri"/>
              </a:rPr>
              <a:t>NO → nearby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280160"/>
            <a:ext cx="2724912" cy="64008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explicit "Find another</a:t>
            </a:r>
          </a:p>
          <a:p>
            <a:pPr algn="ctr"/>
            <a:r>
              <a:rPr sz="1150" b="1">
                <a:solidFill>
                  <a:srgbClr val="051C32"/>
                </a:solidFill>
                <a:latin typeface="Calibri"/>
              </a:rPr>
              <a:t>garage" → nearby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1600200"/>
            <a:ext cx="22860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246120"/>
          <a:ext cx="11183112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6169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Server check (POST /bookings)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Garage does not exist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Garage not ACTIVE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rejected — "not available for bookings"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 has garages, garage not among them, no findAnotherGarage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rejected — choose a garage or Find another garage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 has garages + findAnotherGarage=true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allowed (never trapped in the first garage)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 has no garages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any ACTIVE garage (discovery path)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715000"/>
            <a:ext cx="11183112" cy="59436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 booking request never creates an association. The garage becomes part of My Garages only at the real business event: a job card, or a garage-confirmed booking.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VERIFICATION OTP · V64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SMS verification OTP (registration)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24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register /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create garage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OtpService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hash · expire · limit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OtpProvider</a:t>
            </a:r>
          </a:p>
          <a:p>
            <a:pPr algn="ctr"/>
            <a:r>
              <a:rPr sz="1300" b="1">
                <a:solidFill>
                  <a:srgbClr val="051C32"/>
                </a:solidFill>
                <a:latin typeface="Calibri"/>
              </a:rPr>
              <a:t>SMS (India DLT flow)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14232" y="1938528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50876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verified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consumed once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651760"/>
          <a:ext cx="11183112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8056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OTP_ENABLED (default false); enabled without secret/provider → fails closed (503)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6 digits (SecureRandom) · HMAC-SHA256 with OTP_HASH_SECRET over purpose|destination|otp · constant-time compare · one-time use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Limits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expiry 5 min · 5 attempts · resend cooldown 60 s · 5 sends/hour · one live challenge per destination+purpose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 /auth/register and POST /garages take optional otp; garage OTP bound to the user's own mobile; POST /otp/send public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Configuration (names only)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OTP_PROVIDER · OTP_SMS_BASE_URL (MSG91 Flow default) · OTP_SMS_API_KEY · OTP_SMS_SENDER_ID · OTP_SMS_TEMPLATE_ID · OTP_EXPIRY_MINUTES · OTP_MAX_ATTEMPTS · OTP_RESEND_COOLDOWN_SECONDS · OTP_MAX_SENDS_PER_HOUR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EF6D8"/>
          </a:solidFill>
          <a:ln w="12700">
            <a:solidFill>
              <a:srgbClr val="D9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Provider / DLT operational configuration pending — code implemented and tested; entity, header and template registration is an external step. Distinct from the handover OTP (vehicle custody).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PAYMENT LEDGER · V67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Payments — partial, full, idempotent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POST /payments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lock invoice row</a:t>
            </a:r>
          </a:p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(FOR UPDATE)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idempotency key</a:t>
            </a:r>
          </a:p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+ balance check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1423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ledger row →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PARTIALLY_PAID / PAID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560320"/>
          <a:ext cx="11183112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463040"/>
                <a:gridCol w="1828800"/>
                <a:gridCol w="386791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Cashier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Accountant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Manager · Svc Advisor · Owner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Collect payment (POST /payments)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History · summary · invoices · receipt data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Customer: staff payment APIs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 (own invoice payments only)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251960"/>
            <a:ext cx="557784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Methods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CASH · UPI · CARD · BANK_TRANSFER (UNSPECIFIED only legacy)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Overpayment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rejected above the outstanding balance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Full payment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job → READY_FOR_DELIVERY, PAYMENT_RECEIVED event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Receipt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record = receipt data (RCP-nnnnnn); no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51960"/>
            <a:ext cx="539496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V67 backfill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every PAID invoice = one UNSPECIFIED payment of grand_total (no invented method/time)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0">
                <a:solidFill>
                  <a:srgbClr val="0F172A"/>
                </a:solidFill>
                <a:latin typeface="Calibri"/>
              </a:rPr>
              <a:t>Legacy /workflow/{n}/payment unchanged; also writes a ledger row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Deferred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gateway, refunds, voids, receipt PDF, reconciliation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INVENTORY MVP · V68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Inventory — stock only changes through movements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39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43991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inventory_item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 · name · part number (unique per garage) · unit · quantity ≥ 0 · reorder level · active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inventory_stock_movement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item · STOCK_IN / STOCK_OUT / ADJUSTMENT · signed delta · balance after · reason · optional job card · performer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adjustment needs a reason · never negative ("Insufficient stock") · item row locked per movement · inactive parts not movable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Low / out of stock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out = quantity ≤ 0 · low = quantity &gt; 0 and ≤ reorder level (counted in /inventory/summary)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Job-card issue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STOCK_OUT may carry a jobCardNumber (same garage) → consumption listed per job card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069080"/>
          <a:ext cx="11183112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4963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Inventory Mgr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Owner · Manager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Technician · Svc Advisor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Create / edit parts, stock in/out/adjust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Movements, summary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Part lookup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2356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FEF6D8"/>
          </a:solidFill>
          <a:ln w="12700">
            <a:solidFill>
              <a:srgbClr val="D9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Cashier, Accountant, Driver and Customer have no inventory access. Not implemented: suppliers, purchase orders, transfers, forecasting — and estimate PART lines are deliberately not linked (billing/GST untouched).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FINAL REPORTS · INVOICE PDF · V63/V65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Final Job Card reports, invoice PDF and garage branding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closeJobCard</a:t>
            </a:r>
          </a:p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commit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JobCardClosedEvent</a:t>
            </a:r>
          </a:p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after commit, async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owner + customer</a:t>
            </a:r>
          </a:p>
          <a:p>
            <a:pPr algn="ctr"/>
            <a:r>
              <a:rPr sz="1250" b="1">
                <a:solidFill>
                  <a:srgbClr val="051C32"/>
                </a:solidFill>
                <a:latin typeface="Calibri"/>
              </a:rPr>
              <a:t>PDF (versioned)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14232" y="1874519"/>
            <a:ext cx="265176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6304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e-mail each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audience its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5577840" cy="3291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Gate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job CLOSED, Delivery exists, invoice PAID; failures never block closure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Customer report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no inspector notes, remarks, staff names or INTERNAL photos (server-side)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Owner PDF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OWNER/MANAGER only; customer PDF — OWNER/MANAGER/SERVICE_ADVISOR + owning customer; technician 403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Storage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job_card_final_report (bytea, unique job_card+audience+version); regeneration issues a new version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E-mail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off by default (EMAIL_ENABLED); retry with backoff for recent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5394960" cy="3291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Invoice PDF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shared GarageStPdf toolkit: garage-first header, logo when uploaded, "Powered by GARAGEST", section banners, footer with page X of Y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GST and totals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unchanged InvoiceTaxCalculator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Garage branding (V63)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per-garage logo; upload OWNER-only; served via authorized GET /garages/{id}/logo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29465"/>
                </a:solidFill>
                <a:latin typeface="Calibri"/>
              </a:rPr>
              <a:t>■  </a:t>
            </a:r>
            <a:r>
              <a:rPr sz="1250" b="1">
                <a:solidFill>
                  <a:srgbClr val="0F172A"/>
                </a:solidFill>
                <a:latin typeface="Calibri"/>
              </a:rPr>
              <a:t>Status</a:t>
            </a:r>
            <a:r>
              <a:rPr sz="1250" b="0">
                <a:solidFill>
                  <a:srgbClr val="0F172A"/>
                </a:solidFill>
                <a:latin typeface="Calibri"/>
              </a:rPr>
              <a:t> — implemented; see GARAGEST_OTP_AND_REPORTS.md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DATABASE · V63 – V68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Migrations added after V62 (all additive)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41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926080"/>
                <a:gridCol w="688543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Migration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Table(s)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Key constraints / notes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V63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garage.logo_*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nullable columns; existing garages unchanged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V64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otp_challenge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unique partial index: one live challenge per destination+purpose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V65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job_card_final_report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bytea; UNIQUE(job_card_id, audience, version)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V66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customer_garage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UNIQUE(customer, garage); partial unique default per customer; backfill from job cards + confirmed/completed bookings; no default set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V67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CHECK amount &gt; 0; unique partial idempotency_key; backfills each PAID invoice as one UNSPECIFIED payment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V68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inventory_item, inventory_stock_movement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CHECK quantity ≥ 0; unique partial (garage, part_number); CHECK delta ≠ 0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98348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Verified — Flyway applied V1–V68 to the isolated garageos_test database and Hibernate ddl-auto=validate passed in every integration test. Never edit an applied migration (checksum); undo = a new migration.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FINAL STABILIZATION · 2026-10-05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Verified results — testing and 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57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926080"/>
                <a:gridCol w="514807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Backend ./mvnw clean test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385 tests · 0 failures · 0 errors · 0 skipped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Integration tests (PostgreSQL)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PersonaDomainsIT 26/26 · FinalReportAndOtpIT 4/4 · NotificationPipelineIT 6/6 · ServiceWorkflow…RollbackIT 2/2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flutter analyze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0 errors (105 pre-existing info/warning lints)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flutter test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537 tests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Debug APK · Release APK · Release AAB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release APK 67.3 MB · AAB 53.8 MB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Physical-device QA of this release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manual matrix PQ-001…010 (handbook §38)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3484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EF6D8"/>
          </a:solidFill>
          <a:ln w="12700">
            <a:solidFill>
              <a:srgbClr val="D9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ServiceWorkflowServiceImplCompleteInspectionRollbackIT — PRE-EXISTING / ENVIRONMENTAL, not a production navigation bug.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Root cause: unresolved placeholder GOOGLE_MAPS_ROUTES_API_KEY (that IT declared no Google property source; the variable was not set). Navigation and config code had no diff; the test passed 2/2 when the properties were supplied. Fixed with a test-only property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51C32"/>
                </a:solidFill>
                <a:latin typeface="Calibri"/>
              </a:rPr>
              <a:t>Verdict: READY FOR PHYSICAL QA — not a production-ready claim: device behaviour (location, maps, push, PDFs, media) and a migration dry-run on production data remain.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LIMITATIONS · DEFERRED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Known limitations and deferred features (2026-10-05)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V66-backfilled customers have no default garage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Customers registered by a garage before V66 with no job card/booking have no association until re-registered by mobile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Vehicle search by plate respects garage/customer authorization (onboard the customer first)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SMS OTP provider/DLT operational configuration pending; OTP off by default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Roles are user-global; employees are single-garage; no route guards in Flutter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Accountant, Cashier, Inventory Manager receive no automatic notifications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Narrow race: same new customer registered at two garages at once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iOS push not implemented; legacy logout does not revoke the server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DEFERRED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39496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Online payment gateway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Refunds, voids, credit notes, receipt PDF, reconciliation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Suppliers, purchase orders, procurement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Inter-garage transfers, inventory forecasting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Estimate-line ↔ part linkage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WhatsApp / e-mail OTP channels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iOS push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29465"/>
                </a:solidFill>
                <a:latin typeface="Calibri"/>
              </a:rPr>
              <a:t>■  </a:t>
            </a:r>
            <a:r>
              <a:rPr sz="1450" b="0">
                <a:solidFill>
                  <a:srgbClr val="0F172A"/>
                </a:solidFill>
                <a:latin typeface="Calibri"/>
              </a:rPr>
              <a:t>Customer–garage relationship expiry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CHANGE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2026-10-05 — Persona, garage, finance &amp; inventory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72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17320"/>
            <a:ext cx="11183112" cy="4937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Persona expansion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Accountant, Cashier, Inventory Manager become first-class personas; active persona stays presentation-only; Owner experience unchanged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Data isolation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GarageScope; customers, users, estimates, deliveries, garages and (stabilization) vehicles are garage/customer-authorized; owner multi-garage preserved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Customer–garage model + discovery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customer_garage (V66), registration association, default garage, My Garages, Find another garage, nearby discovery (40/100/50), booking validation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Payment ledger (V67)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partial/full payments, idempotency, row locking, history/summary; Cashier collects, Accountant reviews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Inventory MVP (V68)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parts, stock in/out/adjustment, history, low stock, job-card issue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Now documented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SMS verification OTP (V64), final Job Card reports + branded invoice PDF (V65), garage logo (V63); notification system unchanged (§28A)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129465"/>
                </a:solidFill>
                <a:latin typeface="Calibri"/>
              </a:rPr>
              <a:t>■  </a:t>
            </a:r>
            <a:r>
              <a:rPr sz="1550" b="1">
                <a:solidFill>
                  <a:srgbClr val="0F172A"/>
                </a:solidFill>
                <a:latin typeface="Calibri"/>
              </a:rPr>
              <a:t>Stabilization</a:t>
            </a:r>
            <a:r>
              <a:rPr sz="1550" b="0">
                <a:solidFill>
                  <a:srgbClr val="0F172A"/>
                </a:solidFill>
                <a:latin typeface="Calibri"/>
              </a:rPr>
              <a:t> — backend 385 tests; ITs 38/38; Flutter 537 tests, 0 analyzer errors; debug/release APK and AAB build; IT failure classified environmental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RULES ADDED 2026-10-05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Invariants 18–24 — do not break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417320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41732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Active persona is presentation only — never sent to the backend, never used to authorize; roles + backend decide.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12264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112264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Garage scoping goes through GarageScope — no global findAll() for garage data; owners by ACTIVE memberships; unauthorized = "not found".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07208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807208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A vehicle is reachable only through its customer (customer, associated garage staff, owner, SUPER_ADMIN); ids are never enough.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02152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502152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Discovery ≠ association — associate only on staff registration, job card or confirmed booking; one row per (customer, garage); one default.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97096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197096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Payments are a ledger — POST /payments only; role + garage checked, row locked, idempotent, never above the balance; Accountant never collects.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9204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Stock changes only through movements, by the Inventory Manager, never negative; estimate PART lines are not linked to inventory.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86984"/>
            <a:ext cx="548640" cy="566928"/>
          </a:xfrm>
          <a:prstGeom prst="roundRect">
            <a:avLst>
              <a:gd name="adj" fmla="val 8000"/>
            </a:avLst>
          </a:prstGeom>
          <a:solidFill>
            <a:srgbClr val="129465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586984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0">
                <a:solidFill>
                  <a:srgbClr val="0F172A"/>
                </a:solidFill>
                <a:latin typeface="Calibri"/>
              </a:rPr>
              <a:t>Never edit an applied migration (V63–V68 included); never document or log secrets — variable names only.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129465"/>
                </a:solidFill>
                <a:latin typeface="Calibri"/>
              </a:rPr>
              <a:t>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98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51C32"/>
                </a:solidFill>
                <a:latin typeface="Calibri"/>
              </a:rPr>
              <a:t>ADR-009 … 011 (2026-10-05)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1294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GarageST Developer Handbook   ·   TVASTRI   ·   2026-10-05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50" b="0">
                <a:solidFill>
                  <a:srgbClr val="475569"/>
                </a:solidFill>
                <a:latin typeface="Calibri"/>
              </a:rPr>
              <a:t>65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2" y="329184"/>
            <a:ext cx="50292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2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/ consequence</a:t>
                      </a:r>
                    </a:p>
                  </a:txBody>
                  <a:tcPr marL="73152" marR="73152" marT="30000" marB="30000" anchor="ctr">
                    <a:solidFill>
                      <a:srgbClr val="051C3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ADR-009  GarageScope + customer_garage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one component answers "which garages?"; customer_garage (V66) records associations and the default garage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customers use several garages, so no garage_id on Customer/Vehicle; unauthorized = "not found"; backfilled customers have no default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ADR-010  Payment ledger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payment table (V67); invoice status derived from it; separate role-restricted collect endpoint with row lock + idempotency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history, partial payments and a collector; Cashier collects, Accountant reviews; gateway/refunds/receipt PDF deferred</a:t>
                      </a:r>
                    </a:p>
                  </a:txBody>
                  <a:tcPr marL="73152" marR="73152" marT="30000" marB="30000" anchor="ctr"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ADR-011  Inventory movements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inventory_item + immutable stock movements (V68); quantity changes only via movements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audit trail and no negative stock; estimate PART lines deliberately not linked; procurement deferred</a:t>
                      </a:r>
                    </a:p>
                  </a:txBody>
                  <a:tcPr marL="73152" marR="73152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 w="12700">
            <a:solidFill>
              <a:srgbClr val="129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Status of all three: Accepted / implemented 2026-10-05; automated validation in PersonaDomainsIT (26/26). Full text in the handbook, section 41.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